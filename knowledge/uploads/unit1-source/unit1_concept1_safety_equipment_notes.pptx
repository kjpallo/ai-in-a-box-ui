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xcco6pGwa2e+EXZdE05E660pr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 like to have the equipment set up on my front demo table so I can show it to them and they can touch and see it for themselves!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like to have students guess the guideline based on the picture, to spice the lecture up a bit!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like to have students guess the guideline based on the picture, to spice the lecture up a bit!</a:t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like to have students guess the guideline based on the picture, to spice the lecture up a bit!</a:t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like to have students guess the guideline based on the picture, to spice the lecture up a bit!</a:t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like to have students guess the guideline based on the picture, to spice the lecture up a bit!</a:t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sure to demonstrate how to waft!</a:t>
            </a:r>
            <a:endParaRPr/>
          </a:p>
        </p:txBody>
      </p:sp>
      <p:sp>
        <p:nvSpPr>
          <p:cNvPr id="147" name="Google Shape;1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Have students locate various safety equipment around your classroom (or wherever the nearest are) such as: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Fire blanket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Fire extinguisher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Fire alarm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Safety eye wash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Safety shower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Safety goggles and lab aprons (wherever they are stored)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Broken glass disposal</a:t>
            </a:r>
            <a:endParaRPr/>
          </a:p>
        </p:txBody>
      </p:sp>
      <p:sp>
        <p:nvSpPr>
          <p:cNvPr id="162" name="Google Shape;1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 like to have the equipment set up on my front demo table so I can show it to them and they can touch and see it for themselves!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Hide this slide if you don’t use this equipment.  Or replace with a slide of your own extras!</a:t>
            </a:r>
            <a:endParaRPr/>
          </a:p>
        </p:txBody>
      </p:sp>
      <p:sp>
        <p:nvSpPr>
          <p:cNvPr id="167" name="Google Shape;1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 like to have the equipment set up on my front demo table so I can show it to them and they can touch and see it for themselves!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like to have the equipment set up on my front demo table so I can show it to them and they can touch and see it for themselves!</a:t>
            </a:r>
            <a:endParaRPr/>
          </a:p>
        </p:txBody>
      </p:sp>
      <p:sp>
        <p:nvSpPr>
          <p:cNvPr id="189" name="Google Shape;18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like to have the equipment set up on my front demo table so I can show it to them and they can touch and see it for themselves!</a:t>
            </a:r>
            <a:endParaRPr/>
          </a:p>
        </p:txBody>
      </p:sp>
      <p:sp>
        <p:nvSpPr>
          <p:cNvPr id="202" name="Google Shape;2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0" y="42863"/>
            <a:ext cx="9144000" cy="131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Safety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229317" y="1111353"/>
            <a:ext cx="8696391" cy="875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We will be spending a lot of time doing labs together, so it is important you know how to act appropriately. 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229318" y="1980597"/>
            <a:ext cx="8696390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000FF"/>
              </a:buClr>
              <a:buSzPts val="3200"/>
              <a:buFont typeface="Arial"/>
              <a:buChar char="•"/>
            </a:pPr>
            <a:r>
              <a:rPr b="1" i="0" lang="en-US" sz="3200" u="sng" cap="none" strike="noStrike">
                <a:solidFill>
                  <a:srgbClr val="8000FF"/>
                </a:solidFill>
                <a:latin typeface="Arial"/>
                <a:ea typeface="Arial"/>
                <a:cs typeface="Arial"/>
                <a:sym typeface="Arial"/>
              </a:rPr>
              <a:t>General Guidelines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lab through ALL THE WAY before doing anything else.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0" y="42863"/>
            <a:ext cx="9144000" cy="131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Safety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46757" y="1054908"/>
            <a:ext cx="8771466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000FF"/>
              </a:buClr>
              <a:buSzPts val="3200"/>
              <a:buFont typeface="Arial"/>
              <a:buChar char="•"/>
            </a:pPr>
            <a:r>
              <a:rPr b="1" i="0" lang="en-US" sz="3200" u="sng" cap="none" strike="noStrike">
                <a:solidFill>
                  <a:srgbClr val="8000FF"/>
                </a:solidFill>
                <a:latin typeface="Arial"/>
                <a:ea typeface="Arial"/>
                <a:cs typeface="Arial"/>
                <a:sym typeface="Arial"/>
              </a:rPr>
              <a:t>General Guidelines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lab table or desk neat and organized to avoid spilling or breaking anything while working.</a:t>
            </a:r>
            <a:endParaRPr/>
          </a:p>
          <a:p>
            <a:pPr indent="-1333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0" y="42863"/>
            <a:ext cx="9144000" cy="131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Safety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225778" y="1054908"/>
            <a:ext cx="8726311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000FF"/>
              </a:buClr>
              <a:buSzPts val="3200"/>
              <a:buFont typeface="Arial"/>
              <a:buChar char="•"/>
            </a:pPr>
            <a:r>
              <a:rPr b="1" i="0" lang="en-US" sz="3200" u="sng" cap="none" strike="noStrike">
                <a:solidFill>
                  <a:srgbClr val="8000FF"/>
                </a:solidFill>
                <a:latin typeface="Arial"/>
                <a:ea typeface="Arial"/>
                <a:cs typeface="Arial"/>
                <a:sym typeface="Arial"/>
              </a:rPr>
              <a:t>General Guidelines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case of emergency, always tell the teacher before doing anything else!</a:t>
            </a:r>
            <a:endParaRPr/>
          </a:p>
          <a:p>
            <a: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matter how minor, I want to know!!</a:t>
            </a:r>
            <a:endParaRPr/>
          </a:p>
          <a:p>
            <a:pPr indent="-1333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0" y="42863"/>
            <a:ext cx="9144000" cy="131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Safety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225778" y="1054908"/>
            <a:ext cx="8726311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000FF"/>
              </a:buClr>
              <a:buSzPts val="3200"/>
              <a:buFont typeface="Arial"/>
              <a:buChar char="•"/>
            </a:pPr>
            <a:r>
              <a:rPr b="1" i="0" lang="en-US" sz="3200" u="sng" cap="none" strike="noStrike">
                <a:solidFill>
                  <a:srgbClr val="8000FF"/>
                </a:solidFill>
                <a:latin typeface="Arial"/>
                <a:ea typeface="Arial"/>
                <a:cs typeface="Arial"/>
                <a:sym typeface="Arial"/>
              </a:rPr>
              <a:t>General Guidelines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 lab seriously!  Never goof around.</a:t>
            </a:r>
            <a:endParaRPr/>
          </a:p>
          <a:p>
            <a:pPr indent="-1333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2269066" y="2101107"/>
            <a:ext cx="4639734" cy="4370856"/>
          </a:xfrm>
          <a:prstGeom prst="noSmoking">
            <a:avLst>
              <a:gd fmla="val 10092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0" y="42863"/>
            <a:ext cx="9144000" cy="131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Safety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225778" y="1054908"/>
            <a:ext cx="8726311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000FF"/>
              </a:buClr>
              <a:buSzPts val="3200"/>
              <a:buFont typeface="Arial"/>
              <a:buChar char="•"/>
            </a:pPr>
            <a:r>
              <a:rPr b="1" i="0" lang="en-US" sz="3200" u="sng" cap="none" strike="noStrike">
                <a:solidFill>
                  <a:srgbClr val="8000FF"/>
                </a:solidFill>
                <a:latin typeface="Arial"/>
                <a:ea typeface="Arial"/>
                <a:cs typeface="Arial"/>
                <a:sym typeface="Arial"/>
              </a:rPr>
              <a:t>General Guidelines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in doubt, ask the teacher!</a:t>
            </a:r>
            <a:endParaRPr/>
          </a:p>
          <a:p>
            <a:pPr indent="-1333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0" y="91740"/>
            <a:ext cx="9144000" cy="913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Safety - Equipment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141943" y="1005520"/>
            <a:ext cx="4506257" cy="5470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Safety Goggles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always wear when using chemicals or fire to protect your eyes.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stay on, even through clean up!</a:t>
            </a:r>
            <a:endParaRPr/>
          </a:p>
          <a:p>
            <a:pPr indent="0" lvl="0" marL="5715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Lab Apron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Wear to protect clothing.</a:t>
            </a:r>
            <a:endParaRPr/>
          </a:p>
          <a:p>
            <a:pPr indent="0" lvl="0" marL="5715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Heat-resistant gloves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Wear when using hot objects to avoid burning yourself!</a:t>
            </a:r>
            <a:endParaRPr/>
          </a:p>
          <a:p>
            <a:pPr indent="-1333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7"/>
          <p:cNvCxnSpPr/>
          <p:nvPr/>
        </p:nvCxnSpPr>
        <p:spPr>
          <a:xfrm>
            <a:off x="3302000" y="1663700"/>
            <a:ext cx="2850445" cy="66696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" name="Google Shape;134;p7"/>
          <p:cNvCxnSpPr/>
          <p:nvPr/>
        </p:nvCxnSpPr>
        <p:spPr>
          <a:xfrm flipH="1" rot="10800000">
            <a:off x="3186345" y="4482254"/>
            <a:ext cx="839555" cy="5715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" name="Google Shape;135;p7"/>
          <p:cNvCxnSpPr/>
          <p:nvPr/>
        </p:nvCxnSpPr>
        <p:spPr>
          <a:xfrm>
            <a:off x="4191000" y="5499100"/>
            <a:ext cx="2864556" cy="425238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-1" y="19713"/>
            <a:ext cx="7508797" cy="131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Safety - Fire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141944" y="1145220"/>
            <a:ext cx="8742412" cy="2639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prevent fires: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Never walk away from an open flame or a plugged in hot plate. 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hair tied back when working in lab. 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not wear loose clothing or jewelry in lab.</a:t>
            </a:r>
            <a:endParaRPr/>
          </a:p>
          <a:p>
            <a:pPr indent="0" lvl="0" marL="5715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5715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141944" y="3784600"/>
            <a:ext cx="7706656" cy="282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32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fire extinguisher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to put out fires.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ull,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im,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queeze,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weep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1" lang="en-US" sz="28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fire blanket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best to use when a person is on fire</a:t>
            </a:r>
            <a:endParaRPr/>
          </a:p>
          <a:p>
            <a:pPr indent="0" lvl="0" marL="5715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34725" y="87678"/>
            <a:ext cx="7720314" cy="131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Safety - Chemicals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219523" y="1233414"/>
            <a:ext cx="5868761" cy="2706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eating and drinking in lab!! 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ever taste a chemical. 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smelling, make sure to </a:t>
            </a:r>
            <a:r>
              <a:rPr b="1" i="0" lang="en-US" sz="2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waft.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 gloves when handling toxic chemicals.</a:t>
            </a:r>
            <a:endParaRPr/>
          </a:p>
          <a:p>
            <a:pPr indent="-1079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1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219523" y="3476179"/>
            <a:ext cx="7026229" cy="2740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dispose of chemicals correctly. 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 before pouring down the sink!!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Tell the teacher if you spill!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get a chemical on yourself…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-US" sz="2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eye wash</a:t>
            </a:r>
            <a:r>
              <a:rPr b="0" i="0" lang="en-US" sz="2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i="0" lang="en-US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safety shower</a:t>
            </a:r>
            <a:endParaRPr b="1" i="0" sz="2400" u="none" cap="none" strike="noStrik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1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333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1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571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>
            <p:ph type="title"/>
          </p:nvPr>
        </p:nvSpPr>
        <p:spPr>
          <a:xfrm>
            <a:off x="141944" y="31323"/>
            <a:ext cx="8874734" cy="131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Safety - Glassware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141944" y="1202753"/>
            <a:ext cx="5518076" cy="5313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Hot 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glass looks just like </a:t>
            </a:r>
            <a:r>
              <a:rPr b="1" i="0" lang="en-US" sz="30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cold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glass. </a:t>
            </a:r>
            <a:endParaRPr/>
          </a:p>
          <a:p>
            <a:pPr indent="-285750" lvl="1" marL="74295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careful, and always use safety equipment to handle!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B05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Broken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glass goes in special disposal, not the trash can.</a:t>
            </a:r>
            <a:endParaRPr/>
          </a:p>
          <a:p>
            <a:pPr indent="-285750" lvl="1" marL="74295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Notify me if your glassware is cracked before using!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8000FF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8000FF"/>
                </a:solidFill>
                <a:latin typeface="Arial"/>
                <a:ea typeface="Arial"/>
                <a:cs typeface="Arial"/>
                <a:sym typeface="Arial"/>
              </a:rPr>
              <a:t>Closed toed shoes 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0" lang="en-US" sz="3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long pants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the safest attire for working in lab.</a:t>
            </a:r>
            <a:endParaRPr b="1" i="0" sz="3000" u="none" cap="none" strike="noStrik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type="title"/>
          </p:nvPr>
        </p:nvSpPr>
        <p:spPr>
          <a:xfrm>
            <a:off x="0" y="42863"/>
            <a:ext cx="9144000" cy="106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Equipment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229317" y="1111353"/>
            <a:ext cx="8696391" cy="124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Each piece of lab equipment is designed for a </a:t>
            </a:r>
            <a:r>
              <a:rPr b="1"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specific job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 sz="2800">
                <a:latin typeface="Arial"/>
                <a:ea typeface="Arial"/>
                <a:cs typeface="Arial"/>
                <a:sym typeface="Arial"/>
              </a:rPr>
              <a:t>There is tons of equipment, so we will just focus on what we will use in this class.</a:t>
            </a:r>
            <a:endParaRPr/>
          </a:p>
        </p:txBody>
      </p:sp>
      <p:sp>
        <p:nvSpPr>
          <p:cNvPr id="171" name="Google Shape;171;p12"/>
          <p:cNvSpPr txBox="1"/>
          <p:nvPr/>
        </p:nvSpPr>
        <p:spPr>
          <a:xfrm>
            <a:off x="307597" y="4812090"/>
            <a:ext cx="3383876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Mortar and Pestle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For grinding solids into a powder.</a:t>
            </a:r>
            <a:endParaRPr/>
          </a:p>
        </p:txBody>
      </p:sp>
      <p:sp>
        <p:nvSpPr>
          <p:cNvPr id="172" name="Google Shape;172;p12"/>
          <p:cNvSpPr txBox="1"/>
          <p:nvPr/>
        </p:nvSpPr>
        <p:spPr>
          <a:xfrm>
            <a:off x="4572000" y="4812089"/>
            <a:ext cx="4181801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Watch glass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Can be used as a lid on a beaker to prevent splattering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/>
          <p:nvPr>
            <p:ph type="title"/>
          </p:nvPr>
        </p:nvSpPr>
        <p:spPr>
          <a:xfrm>
            <a:off x="0" y="42863"/>
            <a:ext cx="9144000" cy="106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Equipment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 txBox="1"/>
          <p:nvPr>
            <p:ph idx="1" type="body"/>
          </p:nvPr>
        </p:nvSpPr>
        <p:spPr>
          <a:xfrm>
            <a:off x="229318" y="925822"/>
            <a:ext cx="8696391" cy="757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00FF"/>
              </a:buClr>
              <a:buSzPts val="4000"/>
              <a:buNone/>
            </a:pPr>
            <a:r>
              <a:rPr b="1" lang="en-US" sz="4000" u="sng">
                <a:solidFill>
                  <a:srgbClr val="8000FF"/>
                </a:solidFill>
                <a:latin typeface="Arial"/>
                <a:ea typeface="Arial"/>
                <a:cs typeface="Arial"/>
                <a:sym typeface="Arial"/>
              </a:rPr>
              <a:t>Glassware</a:t>
            </a:r>
            <a:endParaRPr b="1" i="1" sz="4000" u="sng">
              <a:solidFill>
                <a:srgbClr val="8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229315" y="4201084"/>
            <a:ext cx="3401781" cy="2517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Beaker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Holding, mixing, heating, and measuring liquids (and some solids)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3"/>
          <p:cNvSpPr txBox="1"/>
          <p:nvPr/>
        </p:nvSpPr>
        <p:spPr>
          <a:xfrm>
            <a:off x="229317" y="1635133"/>
            <a:ext cx="7443691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Graduated cylinder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Makes </a:t>
            </a:r>
            <a:r>
              <a:rPr b="1" i="0" lang="en-US" sz="3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precise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volume </a:t>
            </a:r>
            <a:r>
              <a:rPr b="1" i="0" lang="en-US" sz="3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measurements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liquids</a:t>
            </a:r>
            <a:endParaRPr/>
          </a:p>
        </p:txBody>
      </p:sp>
      <p:sp>
        <p:nvSpPr>
          <p:cNvPr id="182" name="Google Shape;182;p13"/>
          <p:cNvSpPr txBox="1"/>
          <p:nvPr/>
        </p:nvSpPr>
        <p:spPr>
          <a:xfrm>
            <a:off x="229316" y="2749859"/>
            <a:ext cx="6426407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Erlenmeyer flask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n-US" sz="3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Heating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liquids, but can also measure and hold them.</a:t>
            </a:r>
            <a:endParaRPr/>
          </a:p>
        </p:txBody>
      </p:sp>
      <p:cxnSp>
        <p:nvCxnSpPr>
          <p:cNvPr id="183" name="Google Shape;183;p13"/>
          <p:cNvCxnSpPr/>
          <p:nvPr/>
        </p:nvCxnSpPr>
        <p:spPr>
          <a:xfrm flipH="1" rot="10800000">
            <a:off x="6378177" y="1855531"/>
            <a:ext cx="1506866" cy="505214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4" name="Google Shape;184;p13"/>
          <p:cNvCxnSpPr/>
          <p:nvPr/>
        </p:nvCxnSpPr>
        <p:spPr>
          <a:xfrm>
            <a:off x="5398215" y="3050359"/>
            <a:ext cx="1257508" cy="208504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13"/>
          <p:cNvCxnSpPr/>
          <p:nvPr/>
        </p:nvCxnSpPr>
        <p:spPr>
          <a:xfrm flipH="1" rot="10800000">
            <a:off x="2877664" y="5961508"/>
            <a:ext cx="952214" cy="467188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>
            <p:ph type="title"/>
          </p:nvPr>
        </p:nvSpPr>
        <p:spPr>
          <a:xfrm>
            <a:off x="0" y="42863"/>
            <a:ext cx="9144000" cy="106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Equipment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4"/>
          <p:cNvSpPr txBox="1"/>
          <p:nvPr>
            <p:ph idx="1" type="body"/>
          </p:nvPr>
        </p:nvSpPr>
        <p:spPr>
          <a:xfrm>
            <a:off x="229318" y="925822"/>
            <a:ext cx="8696391" cy="757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00FF"/>
              </a:buClr>
              <a:buSzPts val="4000"/>
              <a:buNone/>
            </a:pPr>
            <a:r>
              <a:rPr b="1" lang="en-US" sz="4000" u="sng">
                <a:solidFill>
                  <a:srgbClr val="8000FF"/>
                </a:solidFill>
                <a:latin typeface="Arial"/>
                <a:ea typeface="Arial"/>
                <a:cs typeface="Arial"/>
                <a:sym typeface="Arial"/>
              </a:rPr>
              <a:t>Glassware</a:t>
            </a:r>
            <a:endParaRPr b="1" i="1" sz="4000" u="sng">
              <a:solidFill>
                <a:srgbClr val="8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229314" y="3769549"/>
            <a:ext cx="4862166" cy="2517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Test tube holder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To hold test tube when heating. </a:t>
            </a:r>
            <a:endParaRPr/>
          </a:p>
          <a:p>
            <a:pPr indent="-285750" lvl="1" marL="74295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angle the open end of test tube away from you and others while heating.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229317" y="1635133"/>
            <a:ext cx="7443691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Test tubes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Used for performing small </a:t>
            </a:r>
            <a:r>
              <a:rPr b="1" i="0" lang="en-US" sz="3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chemical reactions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229316" y="2696851"/>
            <a:ext cx="6426407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Test tube rack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n-US" sz="3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Holds up 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</a:t>
            </a:r>
            <a:r>
              <a:rPr b="1" i="0" lang="en-US" sz="3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tubes at one time.</a:t>
            </a:r>
            <a:endParaRPr/>
          </a:p>
        </p:txBody>
      </p:sp>
      <p:cxnSp>
        <p:nvCxnSpPr>
          <p:cNvPr id="196" name="Google Shape;196;p14"/>
          <p:cNvCxnSpPr/>
          <p:nvPr/>
        </p:nvCxnSpPr>
        <p:spPr>
          <a:xfrm flipH="1" rot="10800000">
            <a:off x="6575964" y="1129721"/>
            <a:ext cx="1506866" cy="505214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14"/>
          <p:cNvCxnSpPr/>
          <p:nvPr/>
        </p:nvCxnSpPr>
        <p:spPr>
          <a:xfrm>
            <a:off x="4412974" y="3475471"/>
            <a:ext cx="622852" cy="15394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" name="Google Shape;198;p14"/>
          <p:cNvCxnSpPr/>
          <p:nvPr/>
        </p:nvCxnSpPr>
        <p:spPr>
          <a:xfrm>
            <a:off x="4010704" y="4492487"/>
            <a:ext cx="1904939" cy="134710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/>
          <p:nvPr/>
        </p:nvSpPr>
        <p:spPr>
          <a:xfrm>
            <a:off x="3299791" y="3954194"/>
            <a:ext cx="2615852" cy="2517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Ring stand</a:t>
            </a:r>
            <a:endParaRPr/>
          </a:p>
          <a:p>
            <a:pPr indent="0" lvl="1" marL="400050" marR="0" rtl="0" algn="l"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None/>
            </a:pPr>
            <a:r>
              <a:rPr b="1" i="0" lang="en-US" sz="30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Iron ring</a:t>
            </a:r>
            <a:endParaRPr/>
          </a:p>
          <a:p>
            <a:pPr indent="0" lvl="1" marL="400050" marR="0" rtl="0" algn="l"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None/>
            </a:pPr>
            <a:r>
              <a:rPr b="1" i="0" lang="en-US" sz="30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Wire gauze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5"/>
          <p:cNvSpPr txBox="1"/>
          <p:nvPr>
            <p:ph type="title"/>
          </p:nvPr>
        </p:nvSpPr>
        <p:spPr>
          <a:xfrm>
            <a:off x="0" y="42863"/>
            <a:ext cx="9144000" cy="106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Equipment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 txBox="1"/>
          <p:nvPr>
            <p:ph idx="1" type="body"/>
          </p:nvPr>
        </p:nvSpPr>
        <p:spPr>
          <a:xfrm>
            <a:off x="229318" y="925822"/>
            <a:ext cx="8696391" cy="757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00FF"/>
              </a:buClr>
              <a:buSzPts val="4000"/>
              <a:buNone/>
            </a:pPr>
            <a:r>
              <a:rPr b="1" lang="en-US" sz="4000" u="sng">
                <a:solidFill>
                  <a:srgbClr val="8000FF"/>
                </a:solidFill>
                <a:latin typeface="Arial"/>
                <a:ea typeface="Arial"/>
                <a:cs typeface="Arial"/>
                <a:sym typeface="Arial"/>
              </a:rPr>
              <a:t>Heating</a:t>
            </a:r>
            <a:endParaRPr b="1" i="1" sz="4000" u="sng">
              <a:solidFill>
                <a:srgbClr val="8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229318" y="1635133"/>
            <a:ext cx="6426406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Hot plate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Electricity powered plate for heating chemicals.</a:t>
            </a:r>
            <a:endParaRPr/>
          </a:p>
        </p:txBody>
      </p:sp>
      <p:sp>
        <p:nvSpPr>
          <p:cNvPr id="208" name="Google Shape;208;p15"/>
          <p:cNvSpPr txBox="1"/>
          <p:nvPr/>
        </p:nvSpPr>
        <p:spPr>
          <a:xfrm>
            <a:off x="3299791" y="2917801"/>
            <a:ext cx="5844209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Bunsen Burner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Gas powered flame for heating chemicals.</a:t>
            </a:r>
            <a:endParaRPr/>
          </a:p>
        </p:txBody>
      </p:sp>
      <p:cxnSp>
        <p:nvCxnSpPr>
          <p:cNvPr id="209" name="Google Shape;209;p15"/>
          <p:cNvCxnSpPr/>
          <p:nvPr/>
        </p:nvCxnSpPr>
        <p:spPr>
          <a:xfrm flipH="1" rot="10800000">
            <a:off x="5377237" y="1983687"/>
            <a:ext cx="1032772" cy="44596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" name="Google Shape;210;p15"/>
          <p:cNvCxnSpPr/>
          <p:nvPr/>
        </p:nvCxnSpPr>
        <p:spPr>
          <a:xfrm flipH="1">
            <a:off x="1669775" y="3404841"/>
            <a:ext cx="1772746" cy="2017014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1" name="Google Shape;211;p15"/>
          <p:cNvCxnSpPr/>
          <p:nvPr/>
        </p:nvCxnSpPr>
        <p:spPr>
          <a:xfrm flipH="1">
            <a:off x="2043874" y="4456042"/>
            <a:ext cx="1385599" cy="1595448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" name="Google Shape;212;p15"/>
          <p:cNvSpPr/>
          <p:nvPr/>
        </p:nvSpPr>
        <p:spPr>
          <a:xfrm>
            <a:off x="5770316" y="3976747"/>
            <a:ext cx="145327" cy="1734558"/>
          </a:xfrm>
          <a:prstGeom prst="rightBracket">
            <a:avLst>
              <a:gd fmla="val 833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5"/>
          <p:cNvCxnSpPr/>
          <p:nvPr/>
        </p:nvCxnSpPr>
        <p:spPr>
          <a:xfrm flipH="1" rot="10800000">
            <a:off x="5915643" y="4817183"/>
            <a:ext cx="494366" cy="494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15"/>
          <p:cNvSpPr txBox="1"/>
          <p:nvPr/>
        </p:nvSpPr>
        <p:spPr>
          <a:xfrm>
            <a:off x="6410008" y="4012749"/>
            <a:ext cx="273399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support heated objects above the flame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 txBox="1"/>
          <p:nvPr>
            <p:ph type="title"/>
          </p:nvPr>
        </p:nvSpPr>
        <p:spPr>
          <a:xfrm>
            <a:off x="0" y="42863"/>
            <a:ext cx="9144000" cy="106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Equipment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6"/>
          <p:cNvSpPr txBox="1"/>
          <p:nvPr>
            <p:ph idx="1" type="body"/>
          </p:nvPr>
        </p:nvSpPr>
        <p:spPr>
          <a:xfrm>
            <a:off x="229318" y="925822"/>
            <a:ext cx="8696391" cy="757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00FF"/>
              </a:buClr>
              <a:buSzPts val="4000"/>
              <a:buNone/>
            </a:pPr>
            <a:r>
              <a:rPr b="1" lang="en-US" sz="4000" u="sng">
                <a:solidFill>
                  <a:srgbClr val="8000FF"/>
                </a:solidFill>
                <a:latin typeface="Arial"/>
                <a:ea typeface="Arial"/>
                <a:cs typeface="Arial"/>
                <a:sym typeface="Arial"/>
              </a:rPr>
              <a:t>Measuring</a:t>
            </a:r>
            <a:endParaRPr b="1" i="1" sz="4000" u="sng">
              <a:solidFill>
                <a:srgbClr val="8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229318" y="1635133"/>
            <a:ext cx="6426406" cy="14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lang="en-US" sz="3000" u="sng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Digital scale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Measures mass (usually in grams)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229318" y="3245224"/>
            <a:ext cx="5289643" cy="1099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lang="en-US" sz="3000" u="sng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Meter stick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Measures length in mm, cm, or m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303778" y="5084381"/>
            <a:ext cx="5289643" cy="1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lang="en-US" sz="3000" u="sng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Thermometer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Measures temperature in degrees Fahrenheit or Celsius</a:t>
            </a:r>
            <a:endParaRPr/>
          </a:p>
        </p:txBody>
      </p:sp>
      <p:cxnSp>
        <p:nvCxnSpPr>
          <p:cNvPr id="225" name="Google Shape;225;p16"/>
          <p:cNvCxnSpPr/>
          <p:nvPr/>
        </p:nvCxnSpPr>
        <p:spPr>
          <a:xfrm flipH="1" rot="10800000">
            <a:off x="3826733" y="2360745"/>
            <a:ext cx="1911458" cy="40527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" name="Google Shape;226;p16"/>
          <p:cNvCxnSpPr/>
          <p:nvPr/>
        </p:nvCxnSpPr>
        <p:spPr>
          <a:xfrm>
            <a:off x="4639530" y="3543282"/>
            <a:ext cx="1098661" cy="69086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7" name="Google Shape;227;p16"/>
          <p:cNvCxnSpPr/>
          <p:nvPr/>
        </p:nvCxnSpPr>
        <p:spPr>
          <a:xfrm flipH="1" rot="10800000">
            <a:off x="5132622" y="5391831"/>
            <a:ext cx="1459974" cy="945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"/>
          <p:cNvSpPr txBox="1"/>
          <p:nvPr>
            <p:ph type="title"/>
          </p:nvPr>
        </p:nvSpPr>
        <p:spPr>
          <a:xfrm>
            <a:off x="0" y="42863"/>
            <a:ext cx="9144000" cy="106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Lab Equipment</a:t>
            </a:r>
            <a:endParaRPr b="1" sz="5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7"/>
          <p:cNvSpPr txBox="1"/>
          <p:nvPr>
            <p:ph idx="1" type="body"/>
          </p:nvPr>
        </p:nvSpPr>
        <p:spPr>
          <a:xfrm>
            <a:off x="229318" y="925822"/>
            <a:ext cx="8696391" cy="757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000FF"/>
              </a:buClr>
              <a:buSzPts val="4000"/>
              <a:buNone/>
            </a:pPr>
            <a:r>
              <a:rPr b="1" lang="en-US" sz="4000" u="sng">
                <a:solidFill>
                  <a:srgbClr val="8000FF"/>
                </a:solidFill>
                <a:latin typeface="Arial"/>
                <a:ea typeface="Arial"/>
                <a:cs typeface="Arial"/>
                <a:sym typeface="Arial"/>
              </a:rPr>
              <a:t>Transferring</a:t>
            </a:r>
            <a:endParaRPr b="1" i="1" sz="4000" u="sng">
              <a:solidFill>
                <a:srgbClr val="8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180856" y="2766354"/>
            <a:ext cx="7152220" cy="992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lang="en-US" sz="3000" u="sng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Funnel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Transferring liquids from larger containers to smaller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180856" y="1629439"/>
            <a:ext cx="5694404" cy="1080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lang="en-US" sz="3000" u="sng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Beaker tongs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Moving and holding a hot beaker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180856" y="3830314"/>
            <a:ext cx="7152220" cy="992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lang="en-US" sz="3000" u="sng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Spatula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Transferring solid chemicals from larger containers to smaller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180856" y="4894274"/>
            <a:ext cx="3675527" cy="992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lang="en-US" sz="3000" u="sng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Pipette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Transferring liquids in small precise amounts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4025624" y="4894274"/>
            <a:ext cx="3802048" cy="992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000"/>
              <a:buFont typeface="Arial"/>
              <a:buChar char="•"/>
            </a:pPr>
            <a:r>
              <a:rPr b="1" lang="en-US" sz="3000" u="sng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Dropper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Transferring liquids drop by drop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17"/>
          <p:cNvCxnSpPr/>
          <p:nvPr/>
        </p:nvCxnSpPr>
        <p:spPr>
          <a:xfrm flipH="1" rot="10800000">
            <a:off x="4301100" y="2259782"/>
            <a:ext cx="1397335" cy="151652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" name="Google Shape;241;p17"/>
          <p:cNvCxnSpPr/>
          <p:nvPr/>
        </p:nvCxnSpPr>
        <p:spPr>
          <a:xfrm flipH="1" rot="10800000">
            <a:off x="4187669" y="3371766"/>
            <a:ext cx="3640003" cy="1634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" name="Google Shape;242;p17"/>
          <p:cNvCxnSpPr/>
          <p:nvPr/>
        </p:nvCxnSpPr>
        <p:spPr>
          <a:xfrm>
            <a:off x="6083972" y="4333793"/>
            <a:ext cx="568619" cy="183054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" name="Google Shape;243;p17"/>
          <p:cNvCxnSpPr/>
          <p:nvPr/>
        </p:nvCxnSpPr>
        <p:spPr>
          <a:xfrm flipH="1" rot="10800000">
            <a:off x="2069393" y="5208104"/>
            <a:ext cx="712278" cy="1970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" name="Google Shape;244;p17"/>
          <p:cNvCxnSpPr/>
          <p:nvPr/>
        </p:nvCxnSpPr>
        <p:spPr>
          <a:xfrm flipH="1" rot="10800000">
            <a:off x="6136205" y="5227809"/>
            <a:ext cx="1806694" cy="19731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2017-04-10T13:29:41Z</dcterms:created>
  <dc:creator>Rebecca Joyner</dc:creator>
</cp:coreProperties>
</file>