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iB7+V+j5OkDrquqElGnV/h3jhQ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u="sng"/>
              <a:t>Teaching Tip</a:t>
            </a:r>
            <a:r>
              <a:rPr lang="en-US"/>
              <a:t>: Have students make observations and inferences about your classroom. 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u="sng"/>
              <a:t>Teaching Tip</a:t>
            </a:r>
            <a:r>
              <a:rPr lang="en-US"/>
              <a:t>: Have students make observations and inferences about the picture above.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Transition</a:t>
            </a:r>
            <a:r>
              <a:rPr lang="en-US"/>
              <a:t>: I always explain how scientific observations, inferences and investigations lead to the develop of theories and laws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Emphasize that it doesn’t HAVE to follow this sequence!!  Science isn’t limited to a “scientific method”.  However, it is helpful to walk through how we think through scientific investigations and design experiments in an organized way.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Try it</a:t>
            </a:r>
            <a:r>
              <a:rPr lang="en-US"/>
              <a:t>: Have students make observations about their daily life.  Work as a class to come up with questions that we could investigate in an experiment.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I put the parts of a lab report in bold and purple and point that out to students as we 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Answer</a:t>
            </a:r>
            <a:r>
              <a:rPr lang="en-US"/>
              <a:t>: Textbooks, scientific journals, scholarly articles, interviews with experts in the field we are investigating, etc.  Not trustworthy = social media, forum posts, personal blogs,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Ex. I’ve noticed my legs always get itchy when I run after not exercising for a while.  🡪 Question: Why do legs itch sometimes when we exercise?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Ex. I’ve noticed people at our school get sick a lot.  🡪 Question: What areas of our school carry the most bacteria?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This format isn’t required, I just like it because it forces students to write solid predictions.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IV</a:t>
            </a:r>
            <a:r>
              <a:rPr lang="en-US"/>
              <a:t> = the runner’s drink, Gatorade or water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DV</a:t>
            </a:r>
            <a:r>
              <a:rPr lang="en-US"/>
              <a:t> = the runner’s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Hypothesis could be</a:t>
            </a:r>
            <a:r>
              <a:rPr lang="en-US"/>
              <a:t>: If the runners drink Gatorade, then they will run faster because the electrolytes will give them more energy.  (You don’t have to make students do the “because”, just up to you.)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Control group</a:t>
            </a:r>
            <a:r>
              <a:rPr lang="en-US"/>
              <a:t>: runners who drink water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Experimental group</a:t>
            </a:r>
            <a:r>
              <a:rPr lang="en-US"/>
              <a:t>: runners who drink Gatorade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Constants</a:t>
            </a:r>
            <a:r>
              <a:rPr lang="en-US"/>
              <a:t>: same age, same gender, same training, same shoes/equipment, same track/environment, same length of race, same amount of drink,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b5fdbd859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7b5fdbd85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Control group</a:t>
            </a:r>
            <a:r>
              <a:rPr lang="en-US"/>
              <a:t>: runners who drink water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Experimental group</a:t>
            </a:r>
            <a:r>
              <a:rPr lang="en-US"/>
              <a:t>: runners who drink Gatorade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Constants</a:t>
            </a:r>
            <a:r>
              <a:rPr lang="en-US"/>
              <a:t>: same age, same gender, same training, same shoes/equipment, same track/environment, same length of race, same amount of drink, etc.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3" name="Google Shape;163;g37b5fdbd85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sng"/>
              <a:t>Teaching Tip</a:t>
            </a:r>
            <a:r>
              <a:rPr lang="en-US"/>
              <a:t>: Have students make quantitative observations, qualitative observations, and inferences about the picture above.</a:t>
            </a:r>
            <a:endParaRPr b="1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always emphasize the importance of starting numerical scales at 0, skipping the same amount each time, and going up by the same amount each time.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do NOT let my students omit values on the Y-axis because it makes the data appear skewed, but that’s just my preference!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185738" y="1026884"/>
            <a:ext cx="8801099" cy="5678715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Science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a method for studying the natural world by gaining knowledge through observations and investigations.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Scientists gather information through observations and design investigations based on inferences.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0CF00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objective; based on the 5 senses, not opinion.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The ground is wet. 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rgbClr val="0432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subjective; a guess about an observation.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It rained.  Someone spilled something.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Observation vs. Inference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1066800"/>
            <a:ext cx="8115300" cy="5408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Laws vs. Theories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04800" y="1181100"/>
            <a:ext cx="43053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Law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description of </a:t>
            </a:r>
            <a:r>
              <a:rPr b="1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b="0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things happen in nature. 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Newton’s Laws of Motion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4610100" y="1181100"/>
            <a:ext cx="4419600" cy="2895600"/>
          </a:xfrm>
          <a:prstGeom prst="rect">
            <a:avLst/>
          </a:prstGeom>
          <a:noFill/>
          <a:ln>
            <a:noFill/>
          </a:ln>
          <a:effectLst>
            <a:outerShdw blurRad="63500" rotWithShape="0" algn="ctr" dir="2700000" dist="38099">
              <a:schemeClr val="lt1">
                <a:alpha val="74901"/>
              </a:scheme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an explanation, based on evidence, of </a:t>
            </a:r>
            <a:r>
              <a:rPr b="1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r>
              <a:rPr b="1" i="0" lang="en-US" sz="32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things happen.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Evolutionary Theory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304800" y="4191000"/>
            <a:ext cx="8458200" cy="2062163"/>
          </a:xfrm>
          <a:prstGeom prst="rect">
            <a:avLst/>
          </a:prstGeom>
          <a:noFill/>
          <a:ln cap="flat" cmpd="sng" w="38100">
            <a:solidFill>
              <a:srgbClr val="CB7BF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Laws cannot become theories, and vice versa.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theories start as hypotheses until substantiated by evidence.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Scientific Method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319111" y="1026886"/>
            <a:ext cx="849745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7BF1"/>
              </a:buClr>
              <a:buSzPts val="3200"/>
              <a:buFont typeface="Arial"/>
              <a:buChar char="•"/>
            </a:pPr>
            <a:r>
              <a:rPr b="1" i="0" lang="en-US" sz="3200" u="sng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Scientific Method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technique for investigating phenomenon.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Summarized (usually) into 6 steps.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rgbClr val="00CF00"/>
              </a:buClr>
              <a:buSzPts val="3200"/>
              <a:buFont typeface="Calibri"/>
              <a:buAutoNum type="arabicPeriod"/>
            </a:pPr>
            <a:r>
              <a:rPr b="1" i="0" lang="en-US" sz="32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question.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rgbClr val="0432FF"/>
              </a:buClr>
              <a:buSzPts val="3200"/>
              <a:buFont typeface="Calibri"/>
              <a:buAutoNum type="arabicPeriod"/>
            </a:pPr>
            <a:r>
              <a:rPr b="1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gather background information. 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 a </a:t>
            </a:r>
            <a:r>
              <a:rPr b="1" i="0" lang="en-US" sz="32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rgbClr val="00CF00"/>
              </a:buClr>
              <a:buSzPts val="3200"/>
              <a:buFont typeface="Calibri"/>
              <a:buAutoNum type="arabicPeriod"/>
            </a:pPr>
            <a:r>
              <a:rPr b="1" i="0" lang="en-US" sz="32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b="1" i="0" lang="en-US" sz="32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hypothesis. 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rgbClr val="0432FF"/>
              </a:buClr>
              <a:buSzPts val="3200"/>
              <a:buFont typeface="Calibri"/>
              <a:buAutoNum type="arabicPeriod"/>
            </a:pPr>
            <a:r>
              <a:rPr b="1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data. </a:t>
            </a:r>
            <a:endParaRPr/>
          </a:p>
          <a:p>
            <a:pPr indent="-514350" lvl="0" marL="5143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 </a:t>
            </a:r>
            <a:r>
              <a:rPr b="1" i="0" lang="en-US" sz="32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1. Ask a question.</a:t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185738" y="1026885"/>
            <a:ext cx="8801099" cy="3145066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Observations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make should lead us to ask </a:t>
            </a:r>
            <a:r>
              <a:rPr b="1" i="0" lang="en-US" sz="32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clearly stated </a:t>
            </a:r>
            <a:r>
              <a:rPr b="1" i="0" lang="en-US" sz="32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define our </a:t>
            </a:r>
            <a:r>
              <a:rPr b="1" i="0" lang="en-US" sz="32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conducting an investigation.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it!</a:t>
            </a:r>
            <a:endParaRPr/>
          </a:p>
        </p:txBody>
      </p:sp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581400"/>
            <a:ext cx="4995863" cy="3021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/>
        </p:nvSpPr>
        <p:spPr>
          <a:xfrm>
            <a:off x="319112" y="179421"/>
            <a:ext cx="8497455" cy="1520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2. Research and gather background information.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52400" y="1852614"/>
            <a:ext cx="5943600" cy="5005386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 lnSpcReduction="10000"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Gather information to see what others have studied about this question, summarizing in an </a:t>
            </a:r>
            <a:r>
              <a:rPr b="1" i="0" lang="en-US" sz="32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would be </a:t>
            </a:r>
            <a:r>
              <a:rPr b="1" i="1" lang="en-US" sz="28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trustworthy</a:t>
            </a:r>
            <a:r>
              <a:rPr b="0" i="1" lang="en-US" sz="28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 we could look to for useful background information?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would be </a:t>
            </a:r>
            <a:r>
              <a:rPr b="1" i="1" lang="en-US" sz="2800" u="none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not trustworthy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 to find useful background information?</a:t>
            </a:r>
            <a:endParaRPr/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2221" l="19167" r="19167" t="7777"/>
          <a:stretch/>
        </p:blipFill>
        <p:spPr>
          <a:xfrm>
            <a:off x="6096000" y="2425700"/>
            <a:ext cx="2895600" cy="40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3. Form a hypothesis.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279400" y="1249363"/>
            <a:ext cx="8636000" cy="332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7BF1"/>
              </a:buClr>
              <a:buSzPts val="3600"/>
              <a:buFont typeface="Arial"/>
              <a:buChar char="•"/>
            </a:pPr>
            <a:r>
              <a:rPr b="1" i="0" lang="en-US" sz="3600" u="sng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Hypothesis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testable prediction that attempts to answer a question.</a:t>
            </a:r>
            <a:endParaRPr/>
          </a:p>
          <a:p>
            <a:pPr indent="-285750" lvl="1" marL="7429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-"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Usually predicts a cause and effect relationship between variables.</a:t>
            </a:r>
            <a:endParaRPr/>
          </a:p>
          <a:p>
            <a:pPr indent="0" lvl="0" marL="5715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7150" marR="0" rtl="0" algn="l">
              <a:spcBef>
                <a:spcPts val="720"/>
              </a:spcBef>
              <a:spcAft>
                <a:spcPts val="0"/>
              </a:spcAft>
              <a:buClr>
                <a:srgbClr val="FF40FF"/>
              </a:buClr>
              <a:buSzPts val="3600"/>
              <a:buFont typeface="Noto Sans Symbols"/>
              <a:buNone/>
            </a:pPr>
            <a:r>
              <a:rPr b="1" i="0" lang="en-US" sz="36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If…(</a:t>
            </a:r>
            <a:r>
              <a:rPr b="1" i="0" lang="en-US" sz="36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IV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then…(</a:t>
            </a:r>
            <a:r>
              <a:rPr b="1" i="0" lang="en-US" sz="36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DV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because…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8"/>
          <p:cNvCxnSpPr/>
          <p:nvPr/>
        </p:nvCxnSpPr>
        <p:spPr>
          <a:xfrm>
            <a:off x="3276600" y="4419600"/>
            <a:ext cx="0" cy="609600"/>
          </a:xfrm>
          <a:prstGeom prst="straightConnector1">
            <a:avLst/>
          </a:prstGeom>
          <a:noFill/>
          <a:ln cap="sq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8"/>
          <p:cNvCxnSpPr/>
          <p:nvPr/>
        </p:nvCxnSpPr>
        <p:spPr>
          <a:xfrm>
            <a:off x="5791200" y="4419600"/>
            <a:ext cx="0" cy="609600"/>
          </a:xfrm>
          <a:prstGeom prst="straightConnector1">
            <a:avLst/>
          </a:prstGeom>
          <a:noFill/>
          <a:ln cap="sq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8"/>
          <p:cNvSpPr txBox="1"/>
          <p:nvPr/>
        </p:nvSpPr>
        <p:spPr>
          <a:xfrm>
            <a:off x="2228850" y="5029200"/>
            <a:ext cx="2095500" cy="1446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Independent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US" sz="2400" u="none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4860925" y="5029200"/>
            <a:ext cx="1860550" cy="1446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Dependent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variable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en-US" sz="2400" u="none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3. Form a hypothesis.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185738" y="1026884"/>
            <a:ext cx="8801099" cy="5678715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CF0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Independent variable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what is being purposefully changed; what is being tested; the “cause”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432FF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Dependent variable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what is being measured; the data collected as a response; the “effect”</a:t>
            </a:r>
            <a:endParaRPr/>
          </a:p>
          <a:p>
            <a:pPr indent="-254000" lvl="0" marL="3429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FF40FF"/>
              </a:buClr>
              <a:buSzPts val="2800"/>
              <a:buFont typeface="Arial"/>
              <a:buChar char="•"/>
            </a:pPr>
            <a:r>
              <a:rPr b="1" i="0" lang="en-US" sz="28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Example #1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 always notice that many runners drink Gatorade.  I want to know if Gatorade makes them run faster. 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would the independent variable be?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would the dependent variable be?</a:t>
            </a:r>
            <a:endParaRPr/>
          </a:p>
          <a:p>
            <a:pPr indent="-285750" lvl="1" marL="74295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 hypothesis.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4. Test the hypothesis.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185738" y="1026884"/>
            <a:ext cx="8801099" cy="5678715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an experiment.  List all </a:t>
            </a:r>
            <a:r>
              <a:rPr b="1" i="0" lang="en-US" sz="3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materials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you will need and write out each step in your experiment in a</a:t>
            </a:r>
            <a:r>
              <a:rPr b="1" i="0" lang="en-US" sz="3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1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experiment should always have: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FF40FF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Control Group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normal group used for comparison.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00CF00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Experimental Group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26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the group that is being tested and purposefully changed.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0432FF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Constants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factors that do not change in the experiment; conditions kept the same for all groups.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each for the Gatorade experiment?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b5fdbd859_1_0"/>
          <p:cNvSpPr txBox="1"/>
          <p:nvPr/>
        </p:nvSpPr>
        <p:spPr>
          <a:xfrm>
            <a:off x="319112" y="179421"/>
            <a:ext cx="84975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4. Test the hypothesis.</a:t>
            </a:r>
            <a:endParaRPr/>
          </a:p>
        </p:txBody>
      </p:sp>
      <p:sp>
        <p:nvSpPr>
          <p:cNvPr id="166" name="Google Shape;166;g37b5fdbd859_1_0"/>
          <p:cNvSpPr txBox="1"/>
          <p:nvPr/>
        </p:nvSpPr>
        <p:spPr>
          <a:xfrm>
            <a:off x="185738" y="1026884"/>
            <a:ext cx="8801100" cy="56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an experiment.  List all </a:t>
            </a:r>
            <a:r>
              <a:rPr b="1" i="0" lang="en-US" sz="3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materials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you will need and write out each step in your experiment in a</a:t>
            </a:r>
            <a:r>
              <a:rPr b="1" i="0" lang="en-US" sz="3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1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experiment should always have: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FF40FF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Control Group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normal group used for comparison. 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00CF00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Experimental Group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26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 the group that is being tested and purposefully changed.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0432FF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Constants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factors that do not change in the experiment; conditions kept the same for all groups.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each for the Gatorade experiment?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5. Analyze the data.</a:t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185738" y="1026885"/>
            <a:ext cx="8801099" cy="1716316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Organize </a:t>
            </a:r>
            <a:r>
              <a:rPr b="1" i="0" lang="en-US" sz="3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r>
              <a:rPr b="1" i="0" lang="en-US" sz="3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tables and graphs.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FF40FF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Quantitative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numerical data</a:t>
            </a:r>
            <a:endParaRPr/>
          </a:p>
          <a:p>
            <a:pPr indent="-285750" lvl="1" marL="742950" marR="0" rtl="0" algn="l">
              <a:spcBef>
                <a:spcPts val="520"/>
              </a:spcBef>
              <a:spcAft>
                <a:spcPts val="0"/>
              </a:spcAft>
              <a:buClr>
                <a:srgbClr val="00CF00"/>
              </a:buClr>
              <a:buSzPts val="2600"/>
              <a:buFont typeface="Arial"/>
              <a:buChar char="-"/>
            </a:pPr>
            <a:r>
              <a:rPr b="1" i="0" lang="en-US" sz="26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Qualitative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descriptive data</a:t>
            </a:r>
            <a:endParaRPr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900" y="2798763"/>
            <a:ext cx="5715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5. Analyze the data.</a:t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185738" y="1026884"/>
            <a:ext cx="5661025" cy="5659665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Main Types of Graphs: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F40FF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Line Graph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quantitative data vs. quantitative data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Plant growth over time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CF00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Bar Graph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qualitative data vs. quantitative data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# of students and favorite classes</a:t>
            </a:r>
            <a:endParaRPr/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432FF"/>
              </a:buClr>
              <a:buSzPts val="3000"/>
              <a:buFont typeface="Arial"/>
              <a:buChar char="•"/>
            </a:pPr>
            <a:r>
              <a:rPr b="1" i="0" lang="en-US" sz="3000" u="sng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Circle (Pie) Graph</a:t>
            </a: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percentages</a:t>
            </a:r>
            <a:endParaRPr/>
          </a:p>
          <a:p>
            <a:pPr indent="-285750" lvl="1" marL="7429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 % of students who got A’s, B’s, C’s, D’s, and F’s on a test</a:t>
            </a:r>
            <a:endParaRPr/>
          </a:p>
        </p:txBody>
      </p:sp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54443" l="0" r="55925" t="0"/>
          <a:stretch/>
        </p:blipFill>
        <p:spPr>
          <a:xfrm>
            <a:off x="6697663" y="4848225"/>
            <a:ext cx="1741487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2"/>
          <p:cNvPicPr preferRelativeResize="0"/>
          <p:nvPr/>
        </p:nvPicPr>
        <p:blipFill rotWithShape="1">
          <a:blip r:embed="rId3">
            <a:alphaModFix/>
          </a:blip>
          <a:srcRect b="53333" l="52961" r="0" t="0"/>
          <a:stretch/>
        </p:blipFill>
        <p:spPr>
          <a:xfrm>
            <a:off x="6654800" y="3105150"/>
            <a:ext cx="1747838" cy="154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55925" t="54443"/>
          <a:stretch/>
        </p:blipFill>
        <p:spPr>
          <a:xfrm>
            <a:off x="6697663" y="1306513"/>
            <a:ext cx="1741487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 txBox="1"/>
          <p:nvPr/>
        </p:nvSpPr>
        <p:spPr>
          <a:xfrm>
            <a:off x="7254875" y="2717800"/>
            <a:ext cx="625475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(days)</a:t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 rot="-5400000">
            <a:off x="6434137" y="2036763"/>
            <a:ext cx="625475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(cm)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6708775" y="1295400"/>
            <a:ext cx="17494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change in plant height over time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6705600" y="3144838"/>
            <a:ext cx="1697038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Subject Preferences</a:t>
            </a:r>
            <a:endParaRPr/>
          </a:p>
        </p:txBody>
      </p:sp>
      <p:sp>
        <p:nvSpPr>
          <p:cNvPr id="189" name="Google Shape;189;p12"/>
          <p:cNvSpPr txBox="1"/>
          <p:nvPr/>
        </p:nvSpPr>
        <p:spPr>
          <a:xfrm>
            <a:off x="6654800" y="4495800"/>
            <a:ext cx="16970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 rot="-5400000">
            <a:off x="6415881" y="3861594"/>
            <a:ext cx="604838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Students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6684963" y="4876800"/>
            <a:ext cx="169703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 Breakdown for Test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7483475" y="5738813"/>
            <a:ext cx="5334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45% B’s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7527925" y="5257800"/>
            <a:ext cx="5334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15% C’s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7046913" y="5397500"/>
            <a:ext cx="533400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40% A’s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5. Analyze the data.</a:t>
            </a:r>
            <a:endParaRPr/>
          </a:p>
        </p:txBody>
      </p:sp>
      <p:pic>
        <p:nvPicPr>
          <p:cNvPr id="201" name="Google Shape;201;p13"/>
          <p:cNvPicPr preferRelativeResize="0"/>
          <p:nvPr/>
        </p:nvPicPr>
        <p:blipFill rotWithShape="1">
          <a:blip r:embed="rId3">
            <a:alphaModFix/>
          </a:blip>
          <a:srcRect b="0" l="9167" r="0" t="0"/>
          <a:stretch/>
        </p:blipFill>
        <p:spPr>
          <a:xfrm>
            <a:off x="3586163" y="1981200"/>
            <a:ext cx="535305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/>
          <p:nvPr/>
        </p:nvSpPr>
        <p:spPr>
          <a:xfrm>
            <a:off x="5105400" y="2011363"/>
            <a:ext cx="1524000" cy="427037"/>
          </a:xfrm>
          <a:prstGeom prst="frame">
            <a:avLst>
              <a:gd fmla="val 12500" name="adj1"/>
            </a:avLst>
          </a:prstGeom>
          <a:solidFill>
            <a:srgbClr val="00FF00"/>
          </a:solidFill>
          <a:ln cap="sq" cmpd="sng" w="127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105400" y="5973763"/>
            <a:ext cx="1524000" cy="427037"/>
          </a:xfrm>
          <a:prstGeom prst="frame">
            <a:avLst>
              <a:gd fmla="val 12500" name="adj1"/>
            </a:avLst>
          </a:prstGeom>
          <a:solidFill>
            <a:srgbClr val="00FFFF"/>
          </a:solidFill>
          <a:ln cap="sq" cmpd="sng" w="12700">
            <a:solidFill>
              <a:srgbClr val="043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 rot="-5400000">
            <a:off x="2817018" y="3926681"/>
            <a:ext cx="1981200" cy="528637"/>
          </a:xfrm>
          <a:prstGeom prst="frame">
            <a:avLst>
              <a:gd fmla="val 9797" name="adj1"/>
            </a:avLst>
          </a:prstGeom>
          <a:solidFill>
            <a:srgbClr val="CC66FF"/>
          </a:solidFill>
          <a:ln cap="sq" cmpd="sng" w="12700">
            <a:solidFill>
              <a:srgbClr val="8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8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7431088" y="2797175"/>
            <a:ext cx="1560512" cy="2003425"/>
          </a:xfrm>
          <a:prstGeom prst="frame">
            <a:avLst>
              <a:gd fmla="val 4079" name="adj1"/>
            </a:avLst>
          </a:prstGeom>
          <a:solidFill>
            <a:srgbClr val="FF9300"/>
          </a:solidFill>
          <a:ln cap="sq" cmpd="sng" w="12700">
            <a:solidFill>
              <a:srgbClr val="FF9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279400" y="1249363"/>
            <a:ext cx="4673600" cy="7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40FF"/>
              </a:buClr>
              <a:buSzPts val="3600"/>
              <a:buFont typeface="Arial"/>
              <a:buChar char="•"/>
            </a:pPr>
            <a:r>
              <a:rPr b="1" i="0" lang="en-US" sz="3600" u="sng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Graphs Must Have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sp>
        <p:nvSpPr>
          <p:cNvPr id="207" name="Google Shape;207;p13"/>
          <p:cNvSpPr txBox="1"/>
          <p:nvPr/>
        </p:nvSpPr>
        <p:spPr>
          <a:xfrm>
            <a:off x="152400" y="1858963"/>
            <a:ext cx="3454400" cy="4541837"/>
          </a:xfrm>
          <a:prstGeom prst="rect">
            <a:avLst/>
          </a:prstGeom>
          <a:noFill/>
          <a:ln>
            <a:noFill/>
          </a:ln>
          <a:effectLst>
            <a:outerShdw blurRad="63500" rotWithShape="0" algn="ctr" dir="2700000" dist="38099">
              <a:schemeClr val="lt1">
                <a:alpha val="74901"/>
              </a:scheme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i="0" lang="en-US" sz="32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i="0" lang="en-US" sz="32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X-Axis</a:t>
            </a:r>
            <a:r>
              <a:rPr b="1" i="0" lang="en-US" sz="3200" u="none" cap="none" strike="noStrike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3200" u="none" cap="none" strike="noStrike">
                <a:solidFill>
                  <a:srgbClr val="8000FF"/>
                </a:solidFill>
                <a:latin typeface="Arial"/>
                <a:ea typeface="Arial"/>
                <a:cs typeface="Arial"/>
                <a:sym typeface="Arial"/>
              </a:rPr>
              <a:t>Y-Axis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labels</a:t>
            </a:r>
            <a:endParaRPr/>
          </a:p>
          <a:p>
            <a:pPr indent="-228600" lvl="2" marL="1143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units, if needed</a:t>
            </a:r>
            <a:endParaRPr/>
          </a:p>
          <a:p>
            <a:pPr indent="-285750" lvl="1" marL="7429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scale</a:t>
            </a:r>
            <a:endParaRPr/>
          </a:p>
          <a:p>
            <a:pPr indent="-285750" lvl="1" marL="74295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1" i="0" lang="en-US" sz="3200" u="none" cap="none" strike="noStrike">
                <a:solidFill>
                  <a:srgbClr val="FF93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if needed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5. Analyze the data.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185738" y="1026885"/>
            <a:ext cx="8801099" cy="56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written</a:t>
            </a:r>
            <a:r>
              <a:rPr b="1" i="0" lang="en-US" sz="3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6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analysis </a:t>
            </a: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brief </a:t>
            </a:r>
            <a:r>
              <a:rPr b="1" i="0" lang="en-US" sz="2800" u="none" cap="none" strike="noStrike">
                <a:solidFill>
                  <a:srgbClr val="FF9300"/>
                </a:solidFill>
                <a:latin typeface="Arial"/>
                <a:ea typeface="Arial"/>
                <a:cs typeface="Arial"/>
                <a:sym typeface="Arial"/>
              </a:rPr>
              <a:t>overview of the variables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 variable, dependent variable, control group, experimental group, and constants.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 </a:t>
            </a:r>
            <a:r>
              <a:rPr b="1" i="0" lang="en-US" sz="2800" u="none" cap="none" strike="noStrike">
                <a:solidFill>
                  <a:srgbClr val="00CF00"/>
                </a:solidFill>
                <a:latin typeface="Arial"/>
                <a:ea typeface="Arial"/>
                <a:cs typeface="Arial"/>
                <a:sym typeface="Arial"/>
              </a:rPr>
              <a:t>explanation of what the data shows 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 to graphs!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0432FF"/>
              </a:buClr>
              <a:buSzPts val="2800"/>
              <a:buFont typeface="Arial"/>
              <a:buChar char="-"/>
            </a:pPr>
            <a:r>
              <a:rPr b="1" i="0" lang="en-US" sz="2800" u="none" cap="none" strike="noStrike">
                <a:solidFill>
                  <a:srgbClr val="0432FF"/>
                </a:solidFill>
                <a:latin typeface="Arial"/>
                <a:ea typeface="Arial"/>
                <a:cs typeface="Arial"/>
                <a:sym typeface="Arial"/>
              </a:rPr>
              <a:t>Infer why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got the results you did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rgbClr val="FF40FF"/>
              </a:buClr>
              <a:buSzPts val="2800"/>
              <a:buFont typeface="Arial"/>
              <a:buChar char="-"/>
            </a:pPr>
            <a:r>
              <a:rPr b="1" i="0" lang="en-US" sz="2800" u="none" cap="none" strike="noStrike">
                <a:solidFill>
                  <a:srgbClr val="FF40FF"/>
                </a:solidFill>
                <a:latin typeface="Arial"/>
                <a:ea typeface="Arial"/>
                <a:cs typeface="Arial"/>
                <a:sym typeface="Arial"/>
              </a:rPr>
              <a:t>Error analysis</a:t>
            </a:r>
            <a:endParaRPr/>
          </a:p>
          <a:p>
            <a: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 at least 3 factors not held constant that could have messed with results and how to prevent in future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/>
        </p:nvSpPr>
        <p:spPr>
          <a:xfrm>
            <a:off x="319112" y="179421"/>
            <a:ext cx="8497455" cy="847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25" lIns="87075" spcFirstLastPara="1" rIns="87075" wrap="square" tIns="43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143"/>
              <a:buFont typeface="Arial"/>
              <a:buNone/>
            </a:pPr>
            <a:r>
              <a:rPr b="1" i="0" lang="en-US" sz="5143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6. Draw Conclusions.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185738" y="1142999"/>
            <a:ext cx="8801099" cy="557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3525" lIns="87075" spcFirstLastPara="1" rIns="87075" wrap="square" tIns="43525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B7BF1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CB7BF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b="1" i="0" lang="en-US" sz="4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include:</a:t>
            </a:r>
            <a:endParaRPr/>
          </a:p>
          <a:p>
            <a:pPr indent="-285750" lvl="1" marL="74295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-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clear statement of if the data supports the hypothesis or not.</a:t>
            </a:r>
            <a:endParaRPr/>
          </a:p>
          <a:p>
            <a:pPr indent="-228600" lvl="2" marL="1143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Never say “proven,” “disproven,” ”correct,” or “incorrect”!!</a:t>
            </a:r>
            <a:endParaRPr/>
          </a:p>
          <a:p>
            <a:pPr indent="-285750" lvl="1" marL="74295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-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was learned</a:t>
            </a:r>
            <a:endParaRPr/>
          </a:p>
          <a:p>
            <a:pPr indent="-285750" lvl="1" marL="742950" marR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-"/>
            </a:pPr>
            <a:r>
              <a:rPr b="0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world application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2017-04-10T13:29:41Z</dcterms:created>
  <dc:creator>Rebecca Joyner</dc:creator>
</cp:coreProperties>
</file>