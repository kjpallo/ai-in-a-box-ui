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24" roundtripDataSignature="AMtx7mju15sdDC+iwcpuLZo06VfdR3C4P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schemas.openxmlformats.org/officeDocument/2006/relationships/slide" Target="slides/slide17.xml"/><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24" Type="http://customschemas.google.com/relationships/presentationmetadata" Target="metadata"/><Relationship Id="rId12" Type="http://schemas.openxmlformats.org/officeDocument/2006/relationships/slide" Target="slides/slide7.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0" name="Google Shape;90;p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97" name="Google Shape;97;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Practice: Label the different bulls-eyes.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Discuss how the accurate/correct place to throw the dart is in the center of the bullseye. </a:t>
            </a:r>
            <a:endParaRPr/>
          </a:p>
          <a:p>
            <a:pPr indent="0" lvl="0" marL="0" rtl="0" algn="l">
              <a:spcBef>
                <a:spcPts val="0"/>
              </a:spcBef>
              <a:spcAft>
                <a:spcPts val="0"/>
              </a:spcAft>
              <a:buNone/>
            </a:pPr>
            <a:r>
              <a:rPr lang="en-US"/>
              <a:t>A precise/consistent dart thrower will always hit the same place.</a:t>
            </a:r>
            <a:endParaRPr/>
          </a:p>
        </p:txBody>
      </p:sp>
      <p:sp>
        <p:nvSpPr>
          <p:cNvPr id="98" name="Google Shape;98;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 name="Google Shape;106;p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3" name="Google Shape;113;p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0" name="Google Shape;130;p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8" name="Google Shape;138;p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5" name="Google Shape;145;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Note:  Volume is a derived unit, thus it isn’t officially an SI unit</a:t>
            </a:r>
            <a:endParaRPr/>
          </a:p>
          <a:p>
            <a:pPr indent="0" lvl="0" marL="0" rtl="0" algn="l">
              <a:spcBef>
                <a:spcPts val="0"/>
              </a:spcBef>
              <a:spcAft>
                <a:spcPts val="0"/>
              </a:spcAft>
              <a:buNone/>
            </a:pPr>
            <a:r>
              <a:t/>
            </a:r>
            <a:endParaRPr/>
          </a:p>
        </p:txBody>
      </p:sp>
      <p:sp>
        <p:nvSpPr>
          <p:cNvPr id="146" name="Google Shape;146;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4" name="Google Shape;154;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Later on in the year I give them the appropriate definition of heat (the average kinetic energy of particles in an object) but for now I want to focus on units and measuring, so I don’t get into energy.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Also to convert to Kelvin it is technically K = C + 273.15 but I just do 273 for simplicity’s sake, but feel free to change if you prefer more precision.</a:t>
            </a:r>
            <a:endParaRPr/>
          </a:p>
        </p:txBody>
      </p:sp>
      <p:sp>
        <p:nvSpPr>
          <p:cNvPr id="155" name="Google Shape;155;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1" name="Google Shape;161;p1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2" name="Google Shape;172;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u="sng"/>
              <a:t>Teaching Tip</a:t>
            </a:r>
            <a:r>
              <a:rPr lang="en-US"/>
              <a:t>: Student should be able to do #1 on their own, since it is the same conversion as the example on the previous slide.  If they are struggling with 2 and 3, I have them at least set up the problem.  It also may help to warn them that #3 is a two-step problem.  After a few minutes I go over the problems (work them out in their entirety) on the whiteboard, and if time permitting, I let students work them out first on the board, and then I correct as needed. </a:t>
            </a:r>
            <a:endParaRPr/>
          </a:p>
        </p:txBody>
      </p:sp>
      <p:sp>
        <p:nvSpPr>
          <p:cNvPr id="173" name="Google Shape;173;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2" name="Google Shape;182;p1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6" name="Google Shape;186;p1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6" name="Google Shape;196;p1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6" name="Google Shape;206;p1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6" name="Google Shape;226;p1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1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2" name="Google Shape;252;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3" name="Google Shape;253;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2" name="Google Shape;262;p1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0"/>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0"/>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2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 name="Shape 27"/>
        <p:cNvGrpSpPr/>
        <p:nvPr/>
      </p:nvGrpSpPr>
      <p:grpSpPr>
        <a:xfrm>
          <a:off x="0" y="0"/>
          <a:ext cx="0" cy="0"/>
          <a:chOff x="0" y="0"/>
          <a:chExt cx="0" cy="0"/>
        </a:xfrm>
      </p:grpSpPr>
      <p:sp>
        <p:nvSpPr>
          <p:cNvPr id="28" name="Google Shape;28;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23"/>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23"/>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4" name="Google Shape;34;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24"/>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0" name="Google Shape;40;p24"/>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1" name="Google Shape;41;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2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25"/>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7" name="Google Shape;47;p25"/>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8" name="Google Shape;48;p25"/>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9" name="Google Shape;49;p25"/>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0" name="Google Shape;50;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7"/>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27"/>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1" name="Google Shape;61;p27"/>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2" name="Google Shape;62;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8"/>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28"/>
          <p:cNvSpPr/>
          <p:nvPr>
            <p:ph idx="2" type="pic"/>
          </p:nvPr>
        </p:nvSpPr>
        <p:spPr>
          <a:xfrm>
            <a:off x="1792288" y="612775"/>
            <a:ext cx="5486400" cy="4114800"/>
          </a:xfrm>
          <a:prstGeom prst="rect">
            <a:avLst/>
          </a:prstGeom>
          <a:noFill/>
          <a:ln>
            <a:noFill/>
          </a:ln>
        </p:spPr>
      </p:sp>
      <p:sp>
        <p:nvSpPr>
          <p:cNvPr id="68" name="Google Shape;68;p28"/>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9" name="Google Shape;69;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29"/>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 name="Google Shape;75;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30"/>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30"/>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
        <p:nvSpPr>
          <p:cNvPr id="10" name="Google Shape;10;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7" name="Shape 87"/>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2"/>
          <p:cNvSpPr txBox="1"/>
          <p:nvPr>
            <p:ph type="title"/>
          </p:nvPr>
        </p:nvSpPr>
        <p:spPr>
          <a:xfrm>
            <a:off x="0" y="42863"/>
            <a:ext cx="9144000" cy="106849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00B0F0"/>
              </a:buClr>
              <a:buSzPts val="5400"/>
              <a:buFont typeface="Arial"/>
              <a:buNone/>
            </a:pPr>
            <a:r>
              <a:rPr b="1" lang="en-US" sz="5400">
                <a:solidFill>
                  <a:srgbClr val="00B0F0"/>
                </a:solidFill>
                <a:latin typeface="Arial"/>
                <a:ea typeface="Arial"/>
                <a:cs typeface="Arial"/>
                <a:sym typeface="Arial"/>
              </a:rPr>
              <a:t>Measurement</a:t>
            </a:r>
            <a:endParaRPr b="1" sz="5400">
              <a:solidFill>
                <a:srgbClr val="00B0F0"/>
              </a:solidFill>
              <a:latin typeface="Arial"/>
              <a:ea typeface="Arial"/>
              <a:cs typeface="Arial"/>
              <a:sym typeface="Arial"/>
            </a:endParaRPr>
          </a:p>
        </p:txBody>
      </p:sp>
      <p:sp>
        <p:nvSpPr>
          <p:cNvPr id="93" name="Google Shape;93;p2"/>
          <p:cNvSpPr txBox="1"/>
          <p:nvPr>
            <p:ph idx="1" type="body"/>
          </p:nvPr>
        </p:nvSpPr>
        <p:spPr>
          <a:xfrm>
            <a:off x="159189" y="1458097"/>
            <a:ext cx="8696391" cy="50292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0070C0"/>
              </a:buClr>
              <a:buSzPts val="3200"/>
              <a:buFont typeface="Arial"/>
              <a:buChar char="•"/>
            </a:pPr>
            <a:r>
              <a:rPr b="1" lang="en-US" u="sng">
                <a:solidFill>
                  <a:srgbClr val="0070C0"/>
                </a:solidFill>
                <a:latin typeface="Arial"/>
                <a:ea typeface="Arial"/>
                <a:cs typeface="Arial"/>
                <a:sym typeface="Arial"/>
              </a:rPr>
              <a:t>Accuracy</a:t>
            </a:r>
            <a:r>
              <a:rPr lang="en-US">
                <a:latin typeface="Arial"/>
                <a:ea typeface="Arial"/>
                <a:cs typeface="Arial"/>
                <a:sym typeface="Arial"/>
              </a:rPr>
              <a:t>: the degree to which the experimental result agrees with the accepted value. </a:t>
            </a:r>
            <a:endParaRPr/>
          </a:p>
          <a:p>
            <a:pPr indent="-285750" lvl="1" marL="742950" rtl="0" algn="l">
              <a:spcBef>
                <a:spcPts val="560"/>
              </a:spcBef>
              <a:spcAft>
                <a:spcPts val="0"/>
              </a:spcAft>
              <a:buClr>
                <a:schemeClr val="dk1"/>
              </a:buClr>
              <a:buSzPts val="2800"/>
              <a:buFont typeface="Arial"/>
              <a:buChar char="-"/>
            </a:pPr>
            <a:r>
              <a:rPr lang="en-US">
                <a:latin typeface="Arial"/>
                <a:ea typeface="Arial"/>
                <a:cs typeface="Arial"/>
                <a:sym typeface="Arial"/>
              </a:rPr>
              <a:t>How </a:t>
            </a:r>
            <a:r>
              <a:rPr b="1" lang="en-US">
                <a:solidFill>
                  <a:srgbClr val="7A81FF"/>
                </a:solidFill>
                <a:latin typeface="Arial"/>
                <a:ea typeface="Arial"/>
                <a:cs typeface="Arial"/>
                <a:sym typeface="Arial"/>
              </a:rPr>
              <a:t>correct</a:t>
            </a:r>
            <a:r>
              <a:rPr lang="en-US">
                <a:latin typeface="Arial"/>
                <a:ea typeface="Arial"/>
                <a:cs typeface="Arial"/>
                <a:sym typeface="Arial"/>
              </a:rPr>
              <a:t> the measurement is</a:t>
            </a:r>
            <a:endParaRPr/>
          </a:p>
          <a:p>
            <a:pPr indent="0" lvl="1" marL="457200" rtl="0" algn="l">
              <a:spcBef>
                <a:spcPts val="320"/>
              </a:spcBef>
              <a:spcAft>
                <a:spcPts val="0"/>
              </a:spcAft>
              <a:buClr>
                <a:schemeClr val="dk1"/>
              </a:buClr>
              <a:buSzPts val="1600"/>
              <a:buNone/>
            </a:pPr>
            <a:r>
              <a:t/>
            </a:r>
            <a:endParaRPr sz="1600">
              <a:latin typeface="Arial"/>
              <a:ea typeface="Arial"/>
              <a:cs typeface="Arial"/>
              <a:sym typeface="Arial"/>
            </a:endParaRPr>
          </a:p>
          <a:p>
            <a:pPr indent="-342900" lvl="0" marL="342900" rtl="0" algn="l">
              <a:spcBef>
                <a:spcPts val="640"/>
              </a:spcBef>
              <a:spcAft>
                <a:spcPts val="0"/>
              </a:spcAft>
              <a:buClr>
                <a:srgbClr val="8000FF"/>
              </a:buClr>
              <a:buSzPts val="3200"/>
              <a:buFont typeface="Arial"/>
              <a:buChar char="•"/>
            </a:pPr>
            <a:r>
              <a:rPr b="1" lang="en-US" u="sng">
                <a:solidFill>
                  <a:srgbClr val="8000FF"/>
                </a:solidFill>
                <a:latin typeface="Arial"/>
                <a:ea typeface="Arial"/>
                <a:cs typeface="Arial"/>
                <a:sym typeface="Arial"/>
              </a:rPr>
              <a:t>Precision</a:t>
            </a:r>
            <a:r>
              <a:rPr lang="en-US">
                <a:latin typeface="Arial"/>
                <a:ea typeface="Arial"/>
                <a:cs typeface="Arial"/>
                <a:sym typeface="Arial"/>
              </a:rPr>
              <a:t>: the degree to which measurements agree with one other.</a:t>
            </a:r>
            <a:endParaRPr/>
          </a:p>
          <a:p>
            <a:pPr indent="-285750" lvl="1" marL="742950" rtl="0" algn="l">
              <a:spcBef>
                <a:spcPts val="560"/>
              </a:spcBef>
              <a:spcAft>
                <a:spcPts val="0"/>
              </a:spcAft>
              <a:buClr>
                <a:schemeClr val="dk1"/>
              </a:buClr>
              <a:buSzPts val="2800"/>
              <a:buFont typeface="Arial"/>
              <a:buChar char="-"/>
            </a:pPr>
            <a:r>
              <a:rPr lang="en-US">
                <a:latin typeface="Arial"/>
                <a:ea typeface="Arial"/>
                <a:cs typeface="Arial"/>
                <a:sym typeface="Arial"/>
              </a:rPr>
              <a:t>How </a:t>
            </a:r>
            <a:r>
              <a:rPr b="1" lang="en-US">
                <a:solidFill>
                  <a:srgbClr val="7A81FF"/>
                </a:solidFill>
                <a:latin typeface="Arial"/>
                <a:ea typeface="Arial"/>
                <a:cs typeface="Arial"/>
                <a:sym typeface="Arial"/>
              </a:rPr>
              <a:t>specific</a:t>
            </a:r>
            <a:r>
              <a:rPr lang="en-US">
                <a:latin typeface="Arial"/>
                <a:ea typeface="Arial"/>
                <a:cs typeface="Arial"/>
                <a:sym typeface="Arial"/>
              </a:rPr>
              <a:t> the measurement is; or how </a:t>
            </a:r>
            <a:r>
              <a:rPr b="1" lang="en-US">
                <a:solidFill>
                  <a:srgbClr val="7A81FF"/>
                </a:solidFill>
                <a:latin typeface="Arial"/>
                <a:ea typeface="Arial"/>
                <a:cs typeface="Arial"/>
                <a:sym typeface="Arial"/>
              </a:rPr>
              <a:t>consistent</a:t>
            </a:r>
            <a:r>
              <a:rPr lang="en-US">
                <a:latin typeface="Arial"/>
                <a:ea typeface="Arial"/>
                <a:cs typeface="Arial"/>
                <a:sym typeface="Arial"/>
              </a:rPr>
              <a:t> multiple measurements are to each other</a:t>
            </a:r>
            <a:endParaRPr/>
          </a:p>
        </p:txBody>
      </p:sp>
      <p:sp>
        <p:nvSpPr>
          <p:cNvPr id="94" name="Google Shape;94;p2"/>
          <p:cNvSpPr txBox="1"/>
          <p:nvPr/>
        </p:nvSpPr>
        <p:spPr>
          <a:xfrm>
            <a:off x="159189" y="934713"/>
            <a:ext cx="8787103" cy="412173"/>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chemeClr val="dk1"/>
              </a:buClr>
              <a:buSzPts val="2000"/>
              <a:buFont typeface="Arial"/>
              <a:buNone/>
            </a:pPr>
            <a:r>
              <a:rPr b="0" i="1" lang="en-US" sz="2000" u="none" cap="none" strike="noStrike">
                <a:solidFill>
                  <a:schemeClr val="dk1"/>
                </a:solidFill>
                <a:latin typeface="Arial"/>
                <a:ea typeface="Arial"/>
                <a:cs typeface="Arial"/>
                <a:sym typeface="Arial"/>
              </a:rPr>
              <a:t>The best measurements are both accurate and precise.</a:t>
            </a:r>
            <a:endParaRPr b="0" i="1" sz="2000" u="none" cap="none" strike="noStrik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9" name="Shape 99"/>
        <p:cNvGrpSpPr/>
        <p:nvPr/>
      </p:nvGrpSpPr>
      <p:grpSpPr>
        <a:xfrm>
          <a:off x="0" y="0"/>
          <a:ext cx="0" cy="0"/>
          <a:chOff x="0" y="0"/>
          <a:chExt cx="0" cy="0"/>
        </a:xfrm>
      </p:grpSpPr>
      <p:sp>
        <p:nvSpPr>
          <p:cNvPr id="100" name="Google Shape;100;p3"/>
          <p:cNvSpPr txBox="1"/>
          <p:nvPr/>
        </p:nvSpPr>
        <p:spPr>
          <a:xfrm>
            <a:off x="820738" y="2868613"/>
            <a:ext cx="3303587" cy="4603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u="none" cap="none" strike="noStrike">
                <a:solidFill>
                  <a:schemeClr val="dk1"/>
                </a:solidFill>
                <a:latin typeface="Arial"/>
                <a:ea typeface="Arial"/>
                <a:cs typeface="Arial"/>
                <a:sym typeface="Arial"/>
              </a:rPr>
              <a:t>Precise and Accurate</a:t>
            </a:r>
            <a:endParaRPr/>
          </a:p>
        </p:txBody>
      </p:sp>
      <p:sp>
        <p:nvSpPr>
          <p:cNvPr id="101" name="Google Shape;101;p3"/>
          <p:cNvSpPr txBox="1"/>
          <p:nvPr/>
        </p:nvSpPr>
        <p:spPr>
          <a:xfrm>
            <a:off x="4649788" y="2868613"/>
            <a:ext cx="3798887" cy="4603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u="none" cap="none" strike="noStrike">
                <a:solidFill>
                  <a:schemeClr val="dk1"/>
                </a:solidFill>
                <a:latin typeface="Arial"/>
                <a:ea typeface="Arial"/>
                <a:cs typeface="Arial"/>
                <a:sym typeface="Arial"/>
              </a:rPr>
              <a:t>Precise but not Accurate</a:t>
            </a:r>
            <a:endParaRPr/>
          </a:p>
        </p:txBody>
      </p:sp>
      <p:sp>
        <p:nvSpPr>
          <p:cNvPr id="102" name="Google Shape;102;p3"/>
          <p:cNvSpPr txBox="1"/>
          <p:nvPr/>
        </p:nvSpPr>
        <p:spPr>
          <a:xfrm>
            <a:off x="576263" y="6256338"/>
            <a:ext cx="3810000" cy="46196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u="none" cap="none" strike="noStrike">
                <a:solidFill>
                  <a:schemeClr val="dk1"/>
                </a:solidFill>
                <a:latin typeface="Arial"/>
                <a:ea typeface="Arial"/>
                <a:cs typeface="Arial"/>
                <a:sym typeface="Arial"/>
              </a:rPr>
              <a:t>Accurate but not Precise</a:t>
            </a:r>
            <a:endParaRPr/>
          </a:p>
        </p:txBody>
      </p:sp>
      <p:sp>
        <p:nvSpPr>
          <p:cNvPr id="103" name="Google Shape;103;p3"/>
          <p:cNvSpPr txBox="1"/>
          <p:nvPr/>
        </p:nvSpPr>
        <p:spPr>
          <a:xfrm>
            <a:off x="4710113" y="6256338"/>
            <a:ext cx="3662362" cy="46196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u="none" cap="none" strike="noStrike">
                <a:solidFill>
                  <a:schemeClr val="dk1"/>
                </a:solidFill>
                <a:latin typeface="Arial"/>
                <a:ea typeface="Arial"/>
                <a:cs typeface="Arial"/>
                <a:sym typeface="Arial"/>
              </a:rPr>
              <a:t>Not Accurate or Precise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4"/>
          <p:cNvSpPr txBox="1"/>
          <p:nvPr>
            <p:ph idx="1" type="body"/>
          </p:nvPr>
        </p:nvSpPr>
        <p:spPr>
          <a:xfrm>
            <a:off x="228600" y="1404617"/>
            <a:ext cx="8717692" cy="5206314"/>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rgbClr val="0070C0"/>
              </a:buClr>
              <a:buSzPts val="2800"/>
              <a:buChar char="•"/>
            </a:pPr>
            <a:r>
              <a:rPr b="1" lang="en-US" sz="2800" u="sng">
                <a:solidFill>
                  <a:srgbClr val="0070C0"/>
                </a:solidFill>
                <a:latin typeface="Arial"/>
                <a:ea typeface="Arial"/>
                <a:cs typeface="Arial"/>
                <a:sym typeface="Arial"/>
              </a:rPr>
              <a:t>Example #1</a:t>
            </a:r>
            <a:r>
              <a:rPr lang="en-US" sz="2800">
                <a:latin typeface="Arial"/>
                <a:ea typeface="Arial"/>
                <a:cs typeface="Arial"/>
                <a:sym typeface="Arial"/>
              </a:rPr>
              <a:t>:  If a student knows 85% of the material for the test but makes a 70% on the test, is the measurement accurate, precise, or neither?</a:t>
            </a:r>
            <a:endParaRPr/>
          </a:p>
          <a:p>
            <a:pPr indent="-285750" lvl="1" marL="742950" rtl="0" algn="l">
              <a:spcBef>
                <a:spcPts val="480"/>
              </a:spcBef>
              <a:spcAft>
                <a:spcPts val="0"/>
              </a:spcAft>
              <a:buClr>
                <a:srgbClr val="8000FF"/>
              </a:buClr>
              <a:buSzPts val="2400"/>
              <a:buChar char="–"/>
            </a:pPr>
            <a:r>
              <a:rPr lang="en-US" sz="2400" u="sng">
                <a:solidFill>
                  <a:srgbClr val="8000FF"/>
                </a:solidFill>
                <a:latin typeface="Arial"/>
                <a:ea typeface="Arial"/>
                <a:cs typeface="Arial"/>
                <a:sym typeface="Arial"/>
              </a:rPr>
              <a:t>Answer</a:t>
            </a:r>
            <a:r>
              <a:rPr lang="en-US" sz="2400">
                <a:solidFill>
                  <a:srgbClr val="8000FF"/>
                </a:solidFill>
                <a:latin typeface="Arial"/>
                <a:ea typeface="Arial"/>
                <a:cs typeface="Arial"/>
                <a:sym typeface="Arial"/>
              </a:rPr>
              <a:t>: </a:t>
            </a:r>
            <a:r>
              <a:rPr lang="en-US" sz="2400">
                <a:solidFill>
                  <a:srgbClr val="7A81FF"/>
                </a:solidFill>
                <a:latin typeface="Arial"/>
                <a:ea typeface="Arial"/>
                <a:cs typeface="Arial"/>
                <a:sym typeface="Arial"/>
              </a:rPr>
              <a:t>The measurement isn’t precise or accurate.</a:t>
            </a:r>
            <a:endParaRPr/>
          </a:p>
          <a:p>
            <a:pPr indent="0" lvl="1" marL="457200" rtl="0" algn="l">
              <a:spcBef>
                <a:spcPts val="480"/>
              </a:spcBef>
              <a:spcAft>
                <a:spcPts val="0"/>
              </a:spcAft>
              <a:buClr>
                <a:schemeClr val="dk1"/>
              </a:buClr>
              <a:buSzPts val="2400"/>
              <a:buNone/>
            </a:pPr>
            <a:r>
              <a:t/>
            </a:r>
            <a:endParaRPr sz="2400">
              <a:solidFill>
                <a:srgbClr val="7A81FF"/>
              </a:solidFill>
              <a:latin typeface="Arial"/>
              <a:ea typeface="Arial"/>
              <a:cs typeface="Arial"/>
              <a:sym typeface="Arial"/>
            </a:endParaRPr>
          </a:p>
          <a:p>
            <a:pPr indent="-222250" lvl="1" marL="742950" rtl="0" algn="l">
              <a:spcBef>
                <a:spcPts val="200"/>
              </a:spcBef>
              <a:spcAft>
                <a:spcPts val="0"/>
              </a:spcAft>
              <a:buClr>
                <a:schemeClr val="dk1"/>
              </a:buClr>
              <a:buSzPts val="1000"/>
              <a:buNone/>
            </a:pPr>
            <a:r>
              <a:t/>
            </a:r>
            <a:endParaRPr sz="1000">
              <a:solidFill>
                <a:srgbClr val="0000FF"/>
              </a:solidFill>
              <a:latin typeface="Arial"/>
              <a:ea typeface="Arial"/>
              <a:cs typeface="Arial"/>
              <a:sym typeface="Arial"/>
            </a:endParaRPr>
          </a:p>
          <a:p>
            <a:pPr indent="-342900" lvl="0" marL="342900" rtl="0" algn="l">
              <a:spcBef>
                <a:spcPts val="560"/>
              </a:spcBef>
              <a:spcAft>
                <a:spcPts val="0"/>
              </a:spcAft>
              <a:buClr>
                <a:srgbClr val="0070C0"/>
              </a:buClr>
              <a:buSzPts val="2800"/>
              <a:buChar char="•"/>
            </a:pPr>
            <a:r>
              <a:rPr b="1" lang="en-US" sz="2800" u="sng">
                <a:solidFill>
                  <a:srgbClr val="0070C0"/>
                </a:solidFill>
                <a:latin typeface="Arial"/>
                <a:ea typeface="Arial"/>
                <a:cs typeface="Arial"/>
                <a:sym typeface="Arial"/>
              </a:rPr>
              <a:t>Example #2</a:t>
            </a:r>
            <a:r>
              <a:rPr lang="en-US" sz="2800">
                <a:latin typeface="Arial"/>
                <a:ea typeface="Arial"/>
                <a:cs typeface="Arial"/>
                <a:sym typeface="Arial"/>
              </a:rPr>
              <a:t>:  Mrs. Joyner’s dog, Millie, is known to weigh 65 lbs.  Millie goes to the vet and is weighed three times at 71 lbs, 70.5 lbs, and 71.1 lbs.  Are these measurements accurate, precise, or neither?</a:t>
            </a:r>
            <a:endParaRPr/>
          </a:p>
          <a:p>
            <a:pPr indent="-285750" lvl="1" marL="742950" rtl="0" algn="l">
              <a:spcBef>
                <a:spcPts val="480"/>
              </a:spcBef>
              <a:spcAft>
                <a:spcPts val="0"/>
              </a:spcAft>
              <a:buClr>
                <a:srgbClr val="8000FF"/>
              </a:buClr>
              <a:buSzPts val="2400"/>
              <a:buChar char="–"/>
            </a:pPr>
            <a:r>
              <a:rPr lang="en-US" sz="2400" u="sng">
                <a:solidFill>
                  <a:srgbClr val="8000FF"/>
                </a:solidFill>
                <a:latin typeface="Arial"/>
                <a:ea typeface="Arial"/>
                <a:cs typeface="Arial"/>
                <a:sym typeface="Arial"/>
              </a:rPr>
              <a:t>Answer</a:t>
            </a:r>
            <a:r>
              <a:rPr lang="en-US" sz="2400">
                <a:solidFill>
                  <a:srgbClr val="8000FF"/>
                </a:solidFill>
                <a:latin typeface="Arial"/>
                <a:ea typeface="Arial"/>
                <a:cs typeface="Arial"/>
                <a:sym typeface="Arial"/>
              </a:rPr>
              <a:t>: </a:t>
            </a:r>
            <a:r>
              <a:rPr lang="en-US" sz="2400">
                <a:solidFill>
                  <a:srgbClr val="7A81FF"/>
                </a:solidFill>
                <a:latin typeface="Arial"/>
                <a:ea typeface="Arial"/>
                <a:cs typeface="Arial"/>
                <a:sym typeface="Arial"/>
              </a:rPr>
              <a:t>The measurements are precise but not accurate.</a:t>
            </a:r>
            <a:endParaRPr sz="2400">
              <a:solidFill>
                <a:srgbClr val="7A81FF"/>
              </a:solidFill>
              <a:latin typeface="Arial"/>
              <a:ea typeface="Arial"/>
              <a:cs typeface="Arial"/>
              <a:sym typeface="Arial"/>
            </a:endParaRPr>
          </a:p>
        </p:txBody>
      </p:sp>
      <p:sp>
        <p:nvSpPr>
          <p:cNvPr id="109" name="Google Shape;109;p4"/>
          <p:cNvSpPr txBox="1"/>
          <p:nvPr/>
        </p:nvSpPr>
        <p:spPr>
          <a:xfrm>
            <a:off x="0" y="0"/>
            <a:ext cx="9144000" cy="106849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B0F0"/>
              </a:buClr>
              <a:buSzPts val="5400"/>
              <a:buFont typeface="Arial"/>
              <a:buNone/>
            </a:pPr>
            <a:r>
              <a:rPr b="1" i="0" lang="en-US" sz="5400" u="none" cap="none" strike="noStrike">
                <a:solidFill>
                  <a:srgbClr val="00B0F0"/>
                </a:solidFill>
                <a:latin typeface="Arial"/>
                <a:ea typeface="Arial"/>
                <a:cs typeface="Arial"/>
                <a:sym typeface="Arial"/>
              </a:rPr>
              <a:t>Measurement</a:t>
            </a:r>
            <a:endParaRPr b="1" i="0" sz="5400" u="none" cap="none" strike="noStrike">
              <a:solidFill>
                <a:srgbClr val="00B0F0"/>
              </a:solidFill>
              <a:latin typeface="Arial"/>
              <a:ea typeface="Arial"/>
              <a:cs typeface="Arial"/>
              <a:sym typeface="Arial"/>
            </a:endParaRPr>
          </a:p>
        </p:txBody>
      </p:sp>
      <p:sp>
        <p:nvSpPr>
          <p:cNvPr id="110" name="Google Shape;110;p4"/>
          <p:cNvSpPr txBox="1"/>
          <p:nvPr/>
        </p:nvSpPr>
        <p:spPr>
          <a:xfrm>
            <a:off x="159189" y="934713"/>
            <a:ext cx="8787103" cy="412173"/>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chemeClr val="dk1"/>
              </a:buClr>
              <a:buSzPts val="2000"/>
              <a:buFont typeface="Arial"/>
              <a:buNone/>
            </a:pPr>
            <a:r>
              <a:rPr b="0" i="1" lang="en-US" sz="2000" u="none" cap="none" strike="noStrike">
                <a:solidFill>
                  <a:schemeClr val="dk1"/>
                </a:solidFill>
                <a:latin typeface="Arial"/>
                <a:ea typeface="Arial"/>
                <a:cs typeface="Arial"/>
                <a:sym typeface="Arial"/>
              </a:rPr>
              <a:t>The best measurements are both accurate and precise.</a:t>
            </a:r>
            <a:endParaRPr b="0" i="1" sz="2000" u="none" cap="none" strike="noStrik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5"/>
          <p:cNvSpPr txBox="1"/>
          <p:nvPr>
            <p:ph idx="1" type="body"/>
          </p:nvPr>
        </p:nvSpPr>
        <p:spPr>
          <a:xfrm>
            <a:off x="228600" y="1693889"/>
            <a:ext cx="8717692" cy="3177914"/>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rgbClr val="8000FF"/>
              </a:buClr>
              <a:buSzPts val="3200"/>
              <a:buChar char="•"/>
            </a:pPr>
            <a:r>
              <a:rPr b="1" lang="en-US" u="sng">
                <a:solidFill>
                  <a:srgbClr val="8000FF"/>
                </a:solidFill>
                <a:latin typeface="Arial"/>
                <a:ea typeface="Arial"/>
                <a:cs typeface="Arial"/>
                <a:sym typeface="Arial"/>
              </a:rPr>
              <a:t>Average</a:t>
            </a:r>
            <a:r>
              <a:rPr lang="en-US">
                <a:latin typeface="Arial"/>
                <a:ea typeface="Arial"/>
                <a:cs typeface="Arial"/>
                <a:sym typeface="Arial"/>
              </a:rPr>
              <a:t>:  Add up all values and divide by the total number of values.</a:t>
            </a:r>
            <a:endParaRPr sz="2800">
              <a:solidFill>
                <a:srgbClr val="7A81FF"/>
              </a:solidFill>
              <a:latin typeface="Arial"/>
              <a:ea typeface="Arial"/>
              <a:cs typeface="Arial"/>
              <a:sym typeface="Arial"/>
            </a:endParaRPr>
          </a:p>
          <a:p>
            <a:pPr indent="-222250" lvl="1" marL="742950" rtl="0" algn="l">
              <a:spcBef>
                <a:spcPts val="200"/>
              </a:spcBef>
              <a:spcAft>
                <a:spcPts val="0"/>
              </a:spcAft>
              <a:buClr>
                <a:schemeClr val="dk1"/>
              </a:buClr>
              <a:buSzPts val="1000"/>
              <a:buNone/>
            </a:pPr>
            <a:r>
              <a:t/>
            </a:r>
            <a:endParaRPr sz="1000">
              <a:solidFill>
                <a:srgbClr val="0000FF"/>
              </a:solidFill>
              <a:latin typeface="Arial"/>
              <a:ea typeface="Arial"/>
              <a:cs typeface="Arial"/>
              <a:sym typeface="Arial"/>
            </a:endParaRPr>
          </a:p>
          <a:p>
            <a:pPr indent="-342900" lvl="0" marL="342900" rtl="0" algn="l">
              <a:spcBef>
                <a:spcPts val="560"/>
              </a:spcBef>
              <a:spcAft>
                <a:spcPts val="0"/>
              </a:spcAft>
              <a:buClr>
                <a:srgbClr val="0070C0"/>
              </a:buClr>
              <a:buSzPts val="2800"/>
              <a:buChar char="•"/>
            </a:pPr>
            <a:r>
              <a:rPr b="1" lang="en-US" sz="2800" u="sng">
                <a:solidFill>
                  <a:srgbClr val="0070C0"/>
                </a:solidFill>
                <a:latin typeface="Arial"/>
                <a:ea typeface="Arial"/>
                <a:cs typeface="Arial"/>
                <a:sym typeface="Arial"/>
              </a:rPr>
              <a:t>Example #3</a:t>
            </a:r>
            <a:r>
              <a:rPr lang="en-US" sz="2800">
                <a:latin typeface="Arial"/>
                <a:ea typeface="Arial"/>
                <a:cs typeface="Arial"/>
                <a:sym typeface="Arial"/>
              </a:rPr>
              <a:t>:  Callie measures her flower to be 30 cm tall.  Jeff measures the plant to be 45 cm tall.  Liam measures the plant to be 36 cm tall.  Find the plant’s average height.</a:t>
            </a:r>
            <a:endParaRPr sz="2800">
              <a:latin typeface="Arial"/>
              <a:ea typeface="Arial"/>
              <a:cs typeface="Arial"/>
              <a:sym typeface="Arial"/>
            </a:endParaRPr>
          </a:p>
        </p:txBody>
      </p:sp>
      <p:sp>
        <p:nvSpPr>
          <p:cNvPr id="116" name="Google Shape;116;p5"/>
          <p:cNvSpPr txBox="1"/>
          <p:nvPr/>
        </p:nvSpPr>
        <p:spPr>
          <a:xfrm>
            <a:off x="0" y="0"/>
            <a:ext cx="9144000" cy="106849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B0F0"/>
              </a:buClr>
              <a:buSzPts val="5400"/>
              <a:buFont typeface="Arial"/>
              <a:buNone/>
            </a:pPr>
            <a:r>
              <a:rPr b="1" i="0" lang="en-US" sz="5400" u="none" cap="none" strike="noStrike">
                <a:solidFill>
                  <a:srgbClr val="00B0F0"/>
                </a:solidFill>
                <a:latin typeface="Arial"/>
                <a:ea typeface="Arial"/>
                <a:cs typeface="Arial"/>
                <a:sym typeface="Arial"/>
              </a:rPr>
              <a:t>Measurement</a:t>
            </a:r>
            <a:endParaRPr b="1" i="0" sz="5400" u="none" cap="none" strike="noStrike">
              <a:solidFill>
                <a:srgbClr val="00B0F0"/>
              </a:solidFill>
              <a:latin typeface="Arial"/>
              <a:ea typeface="Arial"/>
              <a:cs typeface="Arial"/>
              <a:sym typeface="Arial"/>
            </a:endParaRPr>
          </a:p>
        </p:txBody>
      </p:sp>
      <p:sp>
        <p:nvSpPr>
          <p:cNvPr id="117" name="Google Shape;117;p5"/>
          <p:cNvSpPr txBox="1"/>
          <p:nvPr/>
        </p:nvSpPr>
        <p:spPr>
          <a:xfrm>
            <a:off x="159189" y="934713"/>
            <a:ext cx="8787103" cy="759176"/>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chemeClr val="dk1"/>
              </a:buClr>
              <a:buSzPts val="2000"/>
              <a:buFont typeface="Arial"/>
              <a:buNone/>
            </a:pPr>
            <a:r>
              <a:rPr b="0" i="1" lang="en-US" sz="2000" u="none" cap="none" strike="noStrike">
                <a:solidFill>
                  <a:schemeClr val="dk1"/>
                </a:solidFill>
                <a:latin typeface="Arial"/>
                <a:ea typeface="Arial"/>
                <a:cs typeface="Arial"/>
                <a:sym typeface="Arial"/>
              </a:rPr>
              <a:t>Often when we make measurements in labs to collect data, you will have to find the average.</a:t>
            </a:r>
            <a:endParaRPr/>
          </a:p>
        </p:txBody>
      </p:sp>
      <p:cxnSp>
        <p:nvCxnSpPr>
          <p:cNvPr id="118" name="Google Shape;118;p5"/>
          <p:cNvCxnSpPr/>
          <p:nvPr/>
        </p:nvCxnSpPr>
        <p:spPr>
          <a:xfrm>
            <a:off x="678305" y="5603820"/>
            <a:ext cx="4346095" cy="0"/>
          </a:xfrm>
          <a:prstGeom prst="straightConnector1">
            <a:avLst/>
          </a:prstGeom>
          <a:noFill/>
          <a:ln cap="flat" cmpd="sng" w="25400">
            <a:solidFill>
              <a:schemeClr val="dk1"/>
            </a:solidFill>
            <a:prstDash val="solid"/>
            <a:round/>
            <a:headEnd len="med" w="med" type="none"/>
            <a:tailEnd len="med" w="med" type="none"/>
          </a:ln>
        </p:spPr>
      </p:cxnSp>
      <p:sp>
        <p:nvSpPr>
          <p:cNvPr id="119" name="Google Shape;119;p5"/>
          <p:cNvSpPr txBox="1"/>
          <p:nvPr/>
        </p:nvSpPr>
        <p:spPr>
          <a:xfrm>
            <a:off x="571500" y="5019045"/>
            <a:ext cx="4467890"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3200" u="none" cap="none" strike="noStrike">
                <a:solidFill>
                  <a:schemeClr val="dk1"/>
                </a:solidFill>
                <a:latin typeface="Arial"/>
                <a:ea typeface="Arial"/>
                <a:cs typeface="Arial"/>
                <a:sym typeface="Arial"/>
              </a:rPr>
              <a:t>30 cm + 45 cm + 36 cm</a:t>
            </a:r>
            <a:endParaRPr b="0" i="0" sz="3200" u="none" cap="none" strike="noStrike">
              <a:solidFill>
                <a:schemeClr val="dk1"/>
              </a:solidFill>
              <a:latin typeface="Arial"/>
              <a:ea typeface="Arial"/>
              <a:cs typeface="Arial"/>
              <a:sym typeface="Arial"/>
            </a:endParaRPr>
          </a:p>
        </p:txBody>
      </p:sp>
      <p:sp>
        <p:nvSpPr>
          <p:cNvPr id="120" name="Google Shape;120;p5"/>
          <p:cNvSpPr txBox="1"/>
          <p:nvPr/>
        </p:nvSpPr>
        <p:spPr>
          <a:xfrm>
            <a:off x="571500" y="5572150"/>
            <a:ext cx="4452900"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3200" u="none" cap="none" strike="noStrike">
                <a:solidFill>
                  <a:schemeClr val="dk1"/>
                </a:solidFill>
                <a:latin typeface="Arial"/>
                <a:ea typeface="Arial"/>
                <a:cs typeface="Arial"/>
                <a:sym typeface="Arial"/>
              </a:rPr>
              <a:t>3</a:t>
            </a:r>
            <a:endParaRPr b="0" i="0" sz="3200" u="none" cap="none" strike="noStrike">
              <a:solidFill>
                <a:schemeClr val="dk1"/>
              </a:solidFill>
              <a:latin typeface="Arial"/>
              <a:ea typeface="Arial"/>
              <a:cs typeface="Arial"/>
              <a:sym typeface="Arial"/>
            </a:endParaRPr>
          </a:p>
        </p:txBody>
      </p:sp>
      <p:sp>
        <p:nvSpPr>
          <p:cNvPr id="121" name="Google Shape;121;p5"/>
          <p:cNvSpPr txBox="1"/>
          <p:nvPr/>
        </p:nvSpPr>
        <p:spPr>
          <a:xfrm>
            <a:off x="5024400" y="5295597"/>
            <a:ext cx="425116"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3200" u="none" cap="none" strike="noStrike">
                <a:solidFill>
                  <a:schemeClr val="dk1"/>
                </a:solidFill>
                <a:latin typeface="Arial"/>
                <a:ea typeface="Arial"/>
                <a:cs typeface="Arial"/>
                <a:sym typeface="Arial"/>
              </a:rPr>
              <a:t>=</a:t>
            </a:r>
            <a:endParaRPr b="0" i="0" sz="3200" u="none" cap="none" strike="noStrike">
              <a:solidFill>
                <a:schemeClr val="dk1"/>
              </a:solidFill>
              <a:latin typeface="Arial"/>
              <a:ea typeface="Arial"/>
              <a:cs typeface="Arial"/>
              <a:sym typeface="Arial"/>
            </a:endParaRPr>
          </a:p>
        </p:txBody>
      </p:sp>
      <p:sp>
        <p:nvSpPr>
          <p:cNvPr id="122" name="Google Shape;122;p5"/>
          <p:cNvSpPr txBox="1"/>
          <p:nvPr/>
        </p:nvSpPr>
        <p:spPr>
          <a:xfrm>
            <a:off x="5449516" y="5019045"/>
            <a:ext cx="1467197"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3200" u="none" cap="none" strike="noStrike">
                <a:solidFill>
                  <a:schemeClr val="dk1"/>
                </a:solidFill>
                <a:latin typeface="Arial"/>
                <a:ea typeface="Arial"/>
                <a:cs typeface="Arial"/>
                <a:sym typeface="Arial"/>
              </a:rPr>
              <a:t>111 cm</a:t>
            </a:r>
            <a:endParaRPr b="0" i="0" sz="3200" u="none" cap="none" strike="noStrike">
              <a:solidFill>
                <a:schemeClr val="dk1"/>
              </a:solidFill>
              <a:latin typeface="Arial"/>
              <a:ea typeface="Arial"/>
              <a:cs typeface="Arial"/>
              <a:sym typeface="Arial"/>
            </a:endParaRPr>
          </a:p>
        </p:txBody>
      </p:sp>
      <p:sp>
        <p:nvSpPr>
          <p:cNvPr id="123" name="Google Shape;123;p5"/>
          <p:cNvSpPr txBox="1"/>
          <p:nvPr/>
        </p:nvSpPr>
        <p:spPr>
          <a:xfrm>
            <a:off x="5622330" y="5587984"/>
            <a:ext cx="1121567"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3200" u="none" cap="none" strike="noStrike">
                <a:solidFill>
                  <a:schemeClr val="dk1"/>
                </a:solidFill>
                <a:latin typeface="Arial"/>
                <a:ea typeface="Arial"/>
                <a:cs typeface="Arial"/>
                <a:sym typeface="Arial"/>
              </a:rPr>
              <a:t>3</a:t>
            </a:r>
            <a:endParaRPr b="0" i="0" sz="3200" u="none" cap="none" strike="noStrike">
              <a:solidFill>
                <a:schemeClr val="dk1"/>
              </a:solidFill>
              <a:latin typeface="Arial"/>
              <a:ea typeface="Arial"/>
              <a:cs typeface="Arial"/>
              <a:sym typeface="Arial"/>
            </a:endParaRPr>
          </a:p>
        </p:txBody>
      </p:sp>
      <p:cxnSp>
        <p:nvCxnSpPr>
          <p:cNvPr id="124" name="Google Shape;124;p5"/>
          <p:cNvCxnSpPr/>
          <p:nvPr/>
        </p:nvCxnSpPr>
        <p:spPr>
          <a:xfrm>
            <a:off x="5449516" y="5587984"/>
            <a:ext cx="1467197" cy="0"/>
          </a:xfrm>
          <a:prstGeom prst="straightConnector1">
            <a:avLst/>
          </a:prstGeom>
          <a:noFill/>
          <a:ln cap="flat" cmpd="sng" w="25400">
            <a:solidFill>
              <a:schemeClr val="dk1"/>
            </a:solidFill>
            <a:prstDash val="solid"/>
            <a:round/>
            <a:headEnd len="med" w="med" type="none"/>
            <a:tailEnd len="med" w="med" type="none"/>
          </a:ln>
        </p:spPr>
      </p:cxnSp>
      <p:sp>
        <p:nvSpPr>
          <p:cNvPr id="125" name="Google Shape;125;p5"/>
          <p:cNvSpPr txBox="1"/>
          <p:nvPr/>
        </p:nvSpPr>
        <p:spPr>
          <a:xfrm>
            <a:off x="6932720" y="5314818"/>
            <a:ext cx="425116"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3200" u="none" cap="none" strike="noStrike">
                <a:solidFill>
                  <a:schemeClr val="dk1"/>
                </a:solidFill>
                <a:latin typeface="Arial"/>
                <a:ea typeface="Arial"/>
                <a:cs typeface="Arial"/>
                <a:sym typeface="Arial"/>
              </a:rPr>
              <a:t>=</a:t>
            </a:r>
            <a:endParaRPr b="0" i="0" sz="3200" u="none" cap="none" strike="noStrike">
              <a:solidFill>
                <a:schemeClr val="dk1"/>
              </a:solidFill>
              <a:latin typeface="Arial"/>
              <a:ea typeface="Arial"/>
              <a:cs typeface="Arial"/>
              <a:sym typeface="Arial"/>
            </a:endParaRPr>
          </a:p>
        </p:txBody>
      </p:sp>
      <p:sp>
        <p:nvSpPr>
          <p:cNvPr id="126" name="Google Shape;126;p5"/>
          <p:cNvSpPr txBox="1"/>
          <p:nvPr/>
        </p:nvSpPr>
        <p:spPr>
          <a:xfrm>
            <a:off x="7514643" y="5273075"/>
            <a:ext cx="1300356"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3200" u="none" cap="none" strike="noStrike">
                <a:solidFill>
                  <a:schemeClr val="dk1"/>
                </a:solidFill>
                <a:latin typeface="Arial"/>
                <a:ea typeface="Arial"/>
                <a:cs typeface="Arial"/>
                <a:sym typeface="Arial"/>
              </a:rPr>
              <a:t>37 cm</a:t>
            </a:r>
            <a:endParaRPr b="0" i="0" sz="3200" u="none" cap="none" strike="noStrike">
              <a:solidFill>
                <a:schemeClr val="dk1"/>
              </a:solidFill>
              <a:latin typeface="Arial"/>
              <a:ea typeface="Arial"/>
              <a:cs typeface="Arial"/>
              <a:sym typeface="Arial"/>
            </a:endParaRPr>
          </a:p>
        </p:txBody>
      </p:sp>
      <p:sp>
        <p:nvSpPr>
          <p:cNvPr id="127" name="Google Shape;127;p5"/>
          <p:cNvSpPr/>
          <p:nvPr/>
        </p:nvSpPr>
        <p:spPr>
          <a:xfrm>
            <a:off x="7503693" y="5266427"/>
            <a:ext cx="1326296" cy="573206"/>
          </a:xfrm>
          <a:prstGeom prst="frame">
            <a:avLst>
              <a:gd fmla="val 7332" name="adj1"/>
            </a:avLst>
          </a:prstGeom>
          <a:solidFill>
            <a:srgbClr val="7A81FF"/>
          </a:solidFill>
          <a:ln cap="flat" cmpd="sng" w="9525">
            <a:solidFill>
              <a:srgbClr val="7A81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1" name="Shape 131"/>
        <p:cNvGrpSpPr/>
        <p:nvPr/>
      </p:nvGrpSpPr>
      <p:grpSpPr>
        <a:xfrm>
          <a:off x="0" y="0"/>
          <a:ext cx="0" cy="0"/>
          <a:chOff x="0" y="0"/>
          <a:chExt cx="0" cy="0"/>
        </a:xfrm>
      </p:grpSpPr>
      <p:sp>
        <p:nvSpPr>
          <p:cNvPr id="132" name="Google Shape;132;p6"/>
          <p:cNvSpPr txBox="1"/>
          <p:nvPr>
            <p:ph type="title"/>
          </p:nvPr>
        </p:nvSpPr>
        <p:spPr>
          <a:xfrm>
            <a:off x="0" y="42863"/>
            <a:ext cx="9144000" cy="106849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00B0F0"/>
              </a:buClr>
              <a:buSzPts val="5400"/>
              <a:buFont typeface="Arial"/>
              <a:buNone/>
            </a:pPr>
            <a:r>
              <a:rPr b="1" lang="en-US" sz="5400">
                <a:solidFill>
                  <a:srgbClr val="00B0F0"/>
                </a:solidFill>
                <a:latin typeface="Arial"/>
                <a:ea typeface="Arial"/>
                <a:cs typeface="Arial"/>
                <a:sym typeface="Arial"/>
              </a:rPr>
              <a:t>Standard Units</a:t>
            </a:r>
            <a:endParaRPr b="1" sz="5400">
              <a:solidFill>
                <a:srgbClr val="00B0F0"/>
              </a:solidFill>
              <a:latin typeface="Arial"/>
              <a:ea typeface="Arial"/>
              <a:cs typeface="Arial"/>
              <a:sym typeface="Arial"/>
            </a:endParaRPr>
          </a:p>
        </p:txBody>
      </p:sp>
      <p:sp>
        <p:nvSpPr>
          <p:cNvPr id="133" name="Google Shape;133;p6"/>
          <p:cNvSpPr txBox="1"/>
          <p:nvPr>
            <p:ph idx="1" type="body"/>
          </p:nvPr>
        </p:nvSpPr>
        <p:spPr>
          <a:xfrm>
            <a:off x="229317" y="1111353"/>
            <a:ext cx="8696391" cy="2165247"/>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0070C0"/>
              </a:buClr>
              <a:buSzPts val="3200"/>
              <a:buFont typeface="Arial"/>
              <a:buChar char="•"/>
            </a:pPr>
            <a:r>
              <a:rPr b="1" lang="en-US" u="sng">
                <a:solidFill>
                  <a:srgbClr val="0070C0"/>
                </a:solidFill>
                <a:latin typeface="Arial"/>
                <a:ea typeface="Arial"/>
                <a:cs typeface="Arial"/>
                <a:sym typeface="Arial"/>
              </a:rPr>
              <a:t>Standard</a:t>
            </a:r>
            <a:r>
              <a:rPr lang="en-US">
                <a:latin typeface="Arial"/>
                <a:ea typeface="Arial"/>
                <a:cs typeface="Arial"/>
                <a:sym typeface="Arial"/>
              </a:rPr>
              <a:t>: an exact quantity that people use for comparison.</a:t>
            </a:r>
            <a:endParaRPr>
              <a:latin typeface="Arial"/>
              <a:ea typeface="Arial"/>
              <a:cs typeface="Arial"/>
              <a:sym typeface="Arial"/>
            </a:endParaRPr>
          </a:p>
          <a:p>
            <a:pPr indent="-342900" lvl="0" marL="342900" rtl="0" algn="l">
              <a:spcBef>
                <a:spcPts val="640"/>
              </a:spcBef>
              <a:spcAft>
                <a:spcPts val="0"/>
              </a:spcAft>
              <a:buClr>
                <a:srgbClr val="8000FF"/>
              </a:buClr>
              <a:buSzPts val="3200"/>
              <a:buFont typeface="Arial"/>
              <a:buChar char="•"/>
            </a:pPr>
            <a:r>
              <a:rPr b="1" lang="en-US" u="sng">
                <a:solidFill>
                  <a:srgbClr val="8000FF"/>
                </a:solidFill>
                <a:latin typeface="Arial"/>
                <a:ea typeface="Arial"/>
                <a:cs typeface="Arial"/>
                <a:sym typeface="Arial"/>
              </a:rPr>
              <a:t>SI System</a:t>
            </a:r>
            <a:r>
              <a:rPr lang="en-US">
                <a:latin typeface="Arial"/>
                <a:ea typeface="Arial"/>
                <a:cs typeface="Arial"/>
                <a:sym typeface="Arial"/>
              </a:rPr>
              <a:t>: the system used by scientists around the world to make measurements. </a:t>
            </a:r>
            <a:endParaRPr/>
          </a:p>
        </p:txBody>
      </p:sp>
      <p:sp>
        <p:nvSpPr>
          <p:cNvPr id="134" name="Google Shape;134;p6"/>
          <p:cNvSpPr/>
          <p:nvPr/>
        </p:nvSpPr>
        <p:spPr>
          <a:xfrm>
            <a:off x="63500" y="4263944"/>
            <a:ext cx="2101850" cy="101566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1" lang="en-US" sz="2000" u="none" cap="none" strike="noStrike">
                <a:solidFill>
                  <a:schemeClr val="dk1"/>
                </a:solidFill>
                <a:latin typeface="Arial"/>
                <a:ea typeface="Arial"/>
                <a:cs typeface="Arial"/>
                <a:sym typeface="Arial"/>
              </a:rPr>
              <a:t>Each type of measurement has a base unit.</a:t>
            </a:r>
            <a:endParaRPr b="0" i="1" sz="2000" u="none" cap="none" strike="noStrike">
              <a:solidFill>
                <a:schemeClr val="dk1"/>
              </a:solidFill>
              <a:latin typeface="Arial"/>
              <a:ea typeface="Arial"/>
              <a:cs typeface="Arial"/>
              <a:sym typeface="Arial"/>
            </a:endParaRPr>
          </a:p>
        </p:txBody>
      </p:sp>
      <p:sp>
        <p:nvSpPr>
          <p:cNvPr id="135" name="Google Shape;135;p6"/>
          <p:cNvSpPr/>
          <p:nvPr/>
        </p:nvSpPr>
        <p:spPr>
          <a:xfrm>
            <a:off x="7131050" y="3956168"/>
            <a:ext cx="1987550" cy="163121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1" lang="en-US" sz="2000" u="none" cap="none" strike="noStrike">
                <a:solidFill>
                  <a:schemeClr val="dk1"/>
                </a:solidFill>
                <a:latin typeface="Arial"/>
                <a:ea typeface="Arial"/>
                <a:cs typeface="Arial"/>
                <a:sym typeface="Arial"/>
              </a:rPr>
              <a:t>Prefixes are used with base units that are based on multiples of ten.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9" name="Shape 139"/>
        <p:cNvGrpSpPr/>
        <p:nvPr/>
      </p:nvGrpSpPr>
      <p:grpSpPr>
        <a:xfrm>
          <a:off x="0" y="0"/>
          <a:ext cx="0" cy="0"/>
          <a:chOff x="0" y="0"/>
          <a:chExt cx="0" cy="0"/>
        </a:xfrm>
      </p:grpSpPr>
      <p:sp>
        <p:nvSpPr>
          <p:cNvPr id="140" name="Google Shape;140;p7"/>
          <p:cNvSpPr txBox="1"/>
          <p:nvPr>
            <p:ph type="title"/>
          </p:nvPr>
        </p:nvSpPr>
        <p:spPr>
          <a:xfrm>
            <a:off x="0" y="42863"/>
            <a:ext cx="9144000" cy="1014463"/>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00B0F0"/>
              </a:buClr>
              <a:buSzPts val="5400"/>
              <a:buFont typeface="Arial"/>
              <a:buNone/>
            </a:pPr>
            <a:r>
              <a:rPr b="1" lang="en-US" sz="5400">
                <a:solidFill>
                  <a:srgbClr val="00B0F0"/>
                </a:solidFill>
                <a:latin typeface="Arial"/>
                <a:ea typeface="Arial"/>
                <a:cs typeface="Arial"/>
                <a:sym typeface="Arial"/>
              </a:rPr>
              <a:t>Units</a:t>
            </a:r>
            <a:endParaRPr b="1" sz="5400">
              <a:solidFill>
                <a:srgbClr val="00B0F0"/>
              </a:solidFill>
              <a:latin typeface="Arial"/>
              <a:ea typeface="Arial"/>
              <a:cs typeface="Arial"/>
              <a:sym typeface="Arial"/>
            </a:endParaRPr>
          </a:p>
        </p:txBody>
      </p:sp>
      <p:sp>
        <p:nvSpPr>
          <p:cNvPr id="141" name="Google Shape;141;p7"/>
          <p:cNvSpPr txBox="1"/>
          <p:nvPr>
            <p:ph idx="1" type="body"/>
          </p:nvPr>
        </p:nvSpPr>
        <p:spPr>
          <a:xfrm>
            <a:off x="223804" y="1060553"/>
            <a:ext cx="8691596" cy="1733447"/>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0070C0"/>
              </a:buClr>
              <a:buSzPts val="3200"/>
              <a:buFont typeface="Arial"/>
              <a:buChar char="•"/>
            </a:pPr>
            <a:r>
              <a:rPr b="1" lang="en-US" u="sng">
                <a:solidFill>
                  <a:srgbClr val="0070C0"/>
                </a:solidFill>
                <a:latin typeface="Arial"/>
                <a:ea typeface="Arial"/>
                <a:cs typeface="Arial"/>
                <a:sym typeface="Arial"/>
              </a:rPr>
              <a:t>Length</a:t>
            </a:r>
            <a:r>
              <a:rPr lang="en-US">
                <a:latin typeface="Arial"/>
                <a:ea typeface="Arial"/>
                <a:cs typeface="Arial"/>
                <a:sym typeface="Arial"/>
              </a:rPr>
              <a:t>: distance between two points.</a:t>
            </a:r>
            <a:endParaRPr/>
          </a:p>
          <a:p>
            <a:pPr indent="-285750" lvl="1" marL="742950" rtl="0" algn="l">
              <a:spcBef>
                <a:spcPts val="560"/>
              </a:spcBef>
              <a:spcAft>
                <a:spcPts val="0"/>
              </a:spcAft>
              <a:buClr>
                <a:schemeClr val="dk1"/>
              </a:buClr>
              <a:buSzPts val="2800"/>
              <a:buFont typeface="Arial"/>
              <a:buChar char="-"/>
            </a:pPr>
            <a:r>
              <a:rPr lang="en-US">
                <a:latin typeface="Arial"/>
                <a:ea typeface="Arial"/>
                <a:cs typeface="Arial"/>
                <a:sym typeface="Arial"/>
              </a:rPr>
              <a:t>Unit = </a:t>
            </a:r>
            <a:r>
              <a:rPr b="1" lang="en-US">
                <a:solidFill>
                  <a:srgbClr val="7A81FF"/>
                </a:solidFill>
                <a:latin typeface="Arial"/>
                <a:ea typeface="Arial"/>
                <a:cs typeface="Arial"/>
                <a:sym typeface="Arial"/>
              </a:rPr>
              <a:t>meter</a:t>
            </a:r>
            <a:r>
              <a:rPr lang="en-US">
                <a:solidFill>
                  <a:srgbClr val="7A81FF"/>
                </a:solidFill>
                <a:latin typeface="Arial"/>
                <a:ea typeface="Arial"/>
                <a:cs typeface="Arial"/>
                <a:sym typeface="Arial"/>
              </a:rPr>
              <a:t> </a:t>
            </a:r>
            <a:r>
              <a:rPr lang="en-US">
                <a:latin typeface="Arial"/>
                <a:ea typeface="Arial"/>
                <a:cs typeface="Arial"/>
                <a:sym typeface="Arial"/>
              </a:rPr>
              <a:t>= </a:t>
            </a:r>
            <a:r>
              <a:rPr b="1" lang="en-US">
                <a:solidFill>
                  <a:srgbClr val="7A81FF"/>
                </a:solidFill>
                <a:latin typeface="Arial"/>
                <a:ea typeface="Arial"/>
                <a:cs typeface="Arial"/>
                <a:sym typeface="Arial"/>
              </a:rPr>
              <a:t>m</a:t>
            </a:r>
            <a:endParaRPr/>
          </a:p>
          <a:p>
            <a:pPr indent="-285750" lvl="1" marL="742950" rtl="0" algn="l">
              <a:spcBef>
                <a:spcPts val="480"/>
              </a:spcBef>
              <a:spcAft>
                <a:spcPts val="0"/>
              </a:spcAft>
              <a:buClr>
                <a:schemeClr val="dk1"/>
              </a:buClr>
              <a:buSzPts val="2400"/>
              <a:buFont typeface="Arial"/>
              <a:buChar char="-"/>
            </a:pPr>
            <a:r>
              <a:rPr i="1" lang="en-US" sz="2400">
                <a:latin typeface="Arial"/>
                <a:ea typeface="Arial"/>
                <a:cs typeface="Arial"/>
                <a:sym typeface="Arial"/>
              </a:rPr>
              <a:t>Often measured using a meter stick or ruler</a:t>
            </a:r>
            <a:endParaRPr i="1" sz="2400">
              <a:latin typeface="Arial"/>
              <a:ea typeface="Arial"/>
              <a:cs typeface="Arial"/>
              <a:sym typeface="Arial"/>
            </a:endParaRPr>
          </a:p>
        </p:txBody>
      </p:sp>
      <p:sp>
        <p:nvSpPr>
          <p:cNvPr id="142" name="Google Shape;142;p7"/>
          <p:cNvSpPr txBox="1"/>
          <p:nvPr/>
        </p:nvSpPr>
        <p:spPr>
          <a:xfrm>
            <a:off x="223804" y="2797227"/>
            <a:ext cx="4288235" cy="3781373"/>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8000FF"/>
              </a:buClr>
              <a:buSzPts val="3200"/>
              <a:buFont typeface="Arial"/>
              <a:buChar char="•"/>
            </a:pPr>
            <a:r>
              <a:rPr b="1" i="0" lang="en-US" sz="3200" u="sng" cap="none" strike="noStrike">
                <a:solidFill>
                  <a:srgbClr val="8000FF"/>
                </a:solidFill>
                <a:latin typeface="Arial"/>
                <a:ea typeface="Arial"/>
                <a:cs typeface="Arial"/>
                <a:sym typeface="Arial"/>
              </a:rPr>
              <a:t>Mass</a:t>
            </a:r>
            <a:r>
              <a:rPr b="0" i="0" lang="en-US" sz="3200" u="none" cap="none" strike="noStrike">
                <a:solidFill>
                  <a:schemeClr val="dk1"/>
                </a:solidFill>
                <a:latin typeface="Arial"/>
                <a:ea typeface="Arial"/>
                <a:cs typeface="Arial"/>
                <a:sym typeface="Arial"/>
              </a:rPr>
              <a:t>: amount of matter in an object</a:t>
            </a:r>
            <a:endParaRPr/>
          </a:p>
          <a:p>
            <a:pPr indent="-285750" lvl="1" marL="742950" marR="0" rtl="0" algn="l">
              <a:spcBef>
                <a:spcPts val="560"/>
              </a:spcBef>
              <a:spcAft>
                <a:spcPts val="0"/>
              </a:spcAft>
              <a:buClr>
                <a:schemeClr val="dk1"/>
              </a:buClr>
              <a:buSzPts val="2800"/>
              <a:buFont typeface="Arial"/>
              <a:buChar char="-"/>
            </a:pPr>
            <a:r>
              <a:rPr b="0" i="0" lang="en-US" sz="2800" u="none" cap="none" strike="noStrike">
                <a:solidFill>
                  <a:schemeClr val="dk1"/>
                </a:solidFill>
                <a:latin typeface="Arial"/>
                <a:ea typeface="Arial"/>
                <a:cs typeface="Arial"/>
                <a:sym typeface="Arial"/>
              </a:rPr>
              <a:t>Unit = </a:t>
            </a:r>
            <a:r>
              <a:rPr b="1" i="0" lang="en-US" sz="2800" u="none" cap="none" strike="noStrike">
                <a:solidFill>
                  <a:srgbClr val="7A81FF"/>
                </a:solidFill>
                <a:latin typeface="Arial"/>
                <a:ea typeface="Arial"/>
                <a:cs typeface="Arial"/>
                <a:sym typeface="Arial"/>
              </a:rPr>
              <a:t>kilogram</a:t>
            </a:r>
            <a:r>
              <a:rPr b="0" i="0" lang="en-US" sz="2800" u="none" cap="none" strike="noStrike">
                <a:solidFill>
                  <a:srgbClr val="7A81FF"/>
                </a:solidFill>
                <a:latin typeface="Arial"/>
                <a:ea typeface="Arial"/>
                <a:cs typeface="Arial"/>
                <a:sym typeface="Arial"/>
              </a:rPr>
              <a:t> </a:t>
            </a:r>
            <a:r>
              <a:rPr b="0" i="0" lang="en-US" sz="2800" u="none" cap="none" strike="noStrike">
                <a:solidFill>
                  <a:schemeClr val="dk1"/>
                </a:solidFill>
                <a:latin typeface="Arial"/>
                <a:ea typeface="Arial"/>
                <a:cs typeface="Arial"/>
                <a:sym typeface="Arial"/>
              </a:rPr>
              <a:t>= </a:t>
            </a:r>
            <a:r>
              <a:rPr b="1" i="0" lang="en-US" sz="2800" u="none" cap="none" strike="noStrike">
                <a:solidFill>
                  <a:srgbClr val="7A81FF"/>
                </a:solidFill>
                <a:latin typeface="Arial"/>
                <a:ea typeface="Arial"/>
                <a:cs typeface="Arial"/>
                <a:sym typeface="Arial"/>
              </a:rPr>
              <a:t>kg</a:t>
            </a:r>
            <a:endParaRPr/>
          </a:p>
          <a:p>
            <a:pPr indent="-285750" lvl="1" marL="742950" marR="0" rtl="0" algn="l">
              <a:spcBef>
                <a:spcPts val="480"/>
              </a:spcBef>
              <a:spcAft>
                <a:spcPts val="0"/>
              </a:spcAft>
              <a:buClr>
                <a:schemeClr val="dk1"/>
              </a:buClr>
              <a:buSzPts val="2400"/>
              <a:buFont typeface="Arial"/>
              <a:buChar char="-"/>
            </a:pPr>
            <a:r>
              <a:rPr b="0" i="1" lang="en-US" sz="2400" u="none" cap="none" strike="noStrike">
                <a:solidFill>
                  <a:schemeClr val="dk1"/>
                </a:solidFill>
                <a:latin typeface="Arial"/>
                <a:ea typeface="Arial"/>
                <a:cs typeface="Arial"/>
                <a:sym typeface="Arial"/>
              </a:rPr>
              <a:t>Often measured using a digital scale or a spring scale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2">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47" name="Shape 147"/>
        <p:cNvGrpSpPr/>
        <p:nvPr/>
      </p:nvGrpSpPr>
      <p:grpSpPr>
        <a:xfrm>
          <a:off x="0" y="0"/>
          <a:ext cx="0" cy="0"/>
          <a:chOff x="0" y="0"/>
          <a:chExt cx="0" cy="0"/>
        </a:xfrm>
      </p:grpSpPr>
      <p:sp>
        <p:nvSpPr>
          <p:cNvPr id="148" name="Google Shape;148;p8"/>
          <p:cNvSpPr txBox="1"/>
          <p:nvPr>
            <p:ph type="title"/>
          </p:nvPr>
        </p:nvSpPr>
        <p:spPr>
          <a:xfrm>
            <a:off x="0" y="42863"/>
            <a:ext cx="9144000" cy="101769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00B0F0"/>
              </a:buClr>
              <a:buSzPts val="5400"/>
              <a:buFont typeface="Arial"/>
              <a:buNone/>
            </a:pPr>
            <a:r>
              <a:rPr b="1" lang="en-US" sz="5400">
                <a:solidFill>
                  <a:srgbClr val="00B0F0"/>
                </a:solidFill>
                <a:latin typeface="Arial"/>
                <a:ea typeface="Arial"/>
                <a:cs typeface="Arial"/>
                <a:sym typeface="Arial"/>
              </a:rPr>
              <a:t>Units</a:t>
            </a:r>
            <a:endParaRPr b="1" sz="5400">
              <a:solidFill>
                <a:srgbClr val="00B0F0"/>
              </a:solidFill>
              <a:latin typeface="Arial"/>
              <a:ea typeface="Arial"/>
              <a:cs typeface="Arial"/>
              <a:sym typeface="Arial"/>
            </a:endParaRPr>
          </a:p>
        </p:txBody>
      </p:sp>
      <p:sp>
        <p:nvSpPr>
          <p:cNvPr id="149" name="Google Shape;149;p8"/>
          <p:cNvSpPr txBox="1"/>
          <p:nvPr>
            <p:ph idx="1" type="body"/>
          </p:nvPr>
        </p:nvSpPr>
        <p:spPr>
          <a:xfrm>
            <a:off x="223804" y="1060553"/>
            <a:ext cx="5301768" cy="5568847"/>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0070C0"/>
              </a:buClr>
              <a:buSzPts val="3200"/>
              <a:buFont typeface="Arial"/>
              <a:buChar char="•"/>
            </a:pPr>
            <a:r>
              <a:rPr b="1" lang="en-US" u="sng">
                <a:solidFill>
                  <a:srgbClr val="0070C0"/>
                </a:solidFill>
                <a:latin typeface="Arial"/>
                <a:ea typeface="Arial"/>
                <a:cs typeface="Arial"/>
                <a:sym typeface="Arial"/>
              </a:rPr>
              <a:t>Volume</a:t>
            </a:r>
            <a:r>
              <a:rPr lang="en-US">
                <a:latin typeface="Arial"/>
                <a:ea typeface="Arial"/>
                <a:cs typeface="Arial"/>
                <a:sym typeface="Arial"/>
              </a:rPr>
              <a:t>: amount of space occupied by an object</a:t>
            </a:r>
            <a:endParaRPr>
              <a:latin typeface="Arial"/>
              <a:ea typeface="Arial"/>
              <a:cs typeface="Arial"/>
              <a:sym typeface="Arial"/>
            </a:endParaRPr>
          </a:p>
          <a:p>
            <a:pPr indent="-285750" lvl="1" marL="742950" rtl="0" algn="l">
              <a:spcBef>
                <a:spcPts val="560"/>
              </a:spcBef>
              <a:spcAft>
                <a:spcPts val="0"/>
              </a:spcAft>
              <a:buClr>
                <a:schemeClr val="dk1"/>
              </a:buClr>
              <a:buSzPts val="2800"/>
              <a:buFont typeface="Arial"/>
              <a:buChar char="-"/>
            </a:pPr>
            <a:r>
              <a:rPr lang="en-US">
                <a:latin typeface="Arial"/>
                <a:ea typeface="Arial"/>
                <a:cs typeface="Arial"/>
                <a:sym typeface="Arial"/>
              </a:rPr>
              <a:t>Unit = </a:t>
            </a:r>
            <a:r>
              <a:rPr b="1" lang="en-US">
                <a:solidFill>
                  <a:srgbClr val="7A81FF"/>
                </a:solidFill>
                <a:latin typeface="Arial"/>
                <a:ea typeface="Arial"/>
                <a:cs typeface="Arial"/>
                <a:sym typeface="Arial"/>
              </a:rPr>
              <a:t>Liter</a:t>
            </a:r>
            <a:r>
              <a:rPr lang="en-US">
                <a:solidFill>
                  <a:srgbClr val="7A81FF"/>
                </a:solidFill>
                <a:latin typeface="Arial"/>
                <a:ea typeface="Arial"/>
                <a:cs typeface="Arial"/>
                <a:sym typeface="Arial"/>
              </a:rPr>
              <a:t> </a:t>
            </a:r>
            <a:r>
              <a:rPr lang="en-US">
                <a:latin typeface="Arial"/>
                <a:ea typeface="Arial"/>
                <a:cs typeface="Arial"/>
                <a:sym typeface="Arial"/>
              </a:rPr>
              <a:t>= </a:t>
            </a:r>
            <a:r>
              <a:rPr b="1" lang="en-US">
                <a:solidFill>
                  <a:srgbClr val="7A81FF"/>
                </a:solidFill>
                <a:latin typeface="Arial"/>
                <a:ea typeface="Arial"/>
                <a:cs typeface="Arial"/>
                <a:sym typeface="Arial"/>
              </a:rPr>
              <a:t>L</a:t>
            </a:r>
            <a:endParaRPr b="1">
              <a:solidFill>
                <a:srgbClr val="7A81FF"/>
              </a:solidFill>
              <a:latin typeface="Arial"/>
              <a:ea typeface="Arial"/>
              <a:cs typeface="Arial"/>
              <a:sym typeface="Arial"/>
            </a:endParaRPr>
          </a:p>
          <a:p>
            <a:pPr indent="-285750" lvl="1" marL="742950" rtl="0" algn="l">
              <a:spcBef>
                <a:spcPts val="480"/>
              </a:spcBef>
              <a:spcAft>
                <a:spcPts val="0"/>
              </a:spcAft>
              <a:buClr>
                <a:schemeClr val="dk1"/>
              </a:buClr>
              <a:buSzPts val="2400"/>
              <a:buFont typeface="Arial"/>
              <a:buChar char="-"/>
            </a:pPr>
            <a:r>
              <a:rPr i="1" lang="en-US" sz="2400">
                <a:latin typeface="Arial"/>
                <a:ea typeface="Arial"/>
                <a:cs typeface="Arial"/>
                <a:sym typeface="Arial"/>
              </a:rPr>
              <a:t>Often measured using a graduated cylinder or can be calculated with a geometric equation.</a:t>
            </a:r>
            <a:endParaRPr i="1" sz="2400">
              <a:latin typeface="Arial"/>
              <a:ea typeface="Arial"/>
              <a:cs typeface="Arial"/>
              <a:sym typeface="Arial"/>
            </a:endParaRPr>
          </a:p>
          <a:p>
            <a:pPr indent="-342900" lvl="0" marL="342900" rtl="0" algn="l">
              <a:spcBef>
                <a:spcPts val="640"/>
              </a:spcBef>
              <a:spcAft>
                <a:spcPts val="0"/>
              </a:spcAft>
              <a:buClr>
                <a:srgbClr val="8000FF"/>
              </a:buClr>
              <a:buSzPts val="3200"/>
              <a:buFont typeface="Arial"/>
              <a:buChar char="•"/>
            </a:pPr>
            <a:r>
              <a:rPr b="1" lang="en-US" u="sng">
                <a:solidFill>
                  <a:srgbClr val="8000FF"/>
                </a:solidFill>
                <a:latin typeface="Arial"/>
                <a:ea typeface="Arial"/>
                <a:cs typeface="Arial"/>
                <a:sym typeface="Arial"/>
              </a:rPr>
              <a:t>Time</a:t>
            </a:r>
            <a:r>
              <a:rPr lang="en-US">
                <a:latin typeface="Arial"/>
                <a:ea typeface="Arial"/>
                <a:cs typeface="Arial"/>
                <a:sym typeface="Arial"/>
              </a:rPr>
              <a:t>: interval between two events.</a:t>
            </a:r>
            <a:endParaRPr>
              <a:latin typeface="Arial"/>
              <a:ea typeface="Arial"/>
              <a:cs typeface="Arial"/>
              <a:sym typeface="Arial"/>
            </a:endParaRPr>
          </a:p>
          <a:p>
            <a:pPr indent="-285750" lvl="1" marL="742950" rtl="0" algn="l">
              <a:spcBef>
                <a:spcPts val="560"/>
              </a:spcBef>
              <a:spcAft>
                <a:spcPts val="0"/>
              </a:spcAft>
              <a:buClr>
                <a:schemeClr val="dk1"/>
              </a:buClr>
              <a:buSzPts val="2800"/>
              <a:buFont typeface="Arial"/>
              <a:buChar char="-"/>
            </a:pPr>
            <a:r>
              <a:rPr lang="en-US">
                <a:latin typeface="Arial"/>
                <a:ea typeface="Arial"/>
                <a:cs typeface="Arial"/>
                <a:sym typeface="Arial"/>
              </a:rPr>
              <a:t>Unit = </a:t>
            </a:r>
            <a:r>
              <a:rPr b="1" lang="en-US">
                <a:solidFill>
                  <a:srgbClr val="7A81FF"/>
                </a:solidFill>
                <a:latin typeface="Arial"/>
                <a:ea typeface="Arial"/>
                <a:cs typeface="Arial"/>
                <a:sym typeface="Arial"/>
              </a:rPr>
              <a:t>seconds</a:t>
            </a:r>
            <a:r>
              <a:rPr lang="en-US">
                <a:solidFill>
                  <a:srgbClr val="7A81FF"/>
                </a:solidFill>
                <a:latin typeface="Arial"/>
                <a:ea typeface="Arial"/>
                <a:cs typeface="Arial"/>
                <a:sym typeface="Arial"/>
              </a:rPr>
              <a:t> </a:t>
            </a:r>
            <a:r>
              <a:rPr lang="en-US">
                <a:latin typeface="Arial"/>
                <a:ea typeface="Arial"/>
                <a:cs typeface="Arial"/>
                <a:sym typeface="Arial"/>
              </a:rPr>
              <a:t>= </a:t>
            </a:r>
            <a:r>
              <a:rPr b="1" lang="en-US">
                <a:solidFill>
                  <a:srgbClr val="7A81FF"/>
                </a:solidFill>
                <a:latin typeface="Arial"/>
                <a:ea typeface="Arial"/>
                <a:cs typeface="Arial"/>
                <a:sym typeface="Arial"/>
              </a:rPr>
              <a:t>s</a:t>
            </a:r>
            <a:endParaRPr b="1">
              <a:solidFill>
                <a:srgbClr val="7A81FF"/>
              </a:solidFill>
              <a:latin typeface="Arial"/>
              <a:ea typeface="Arial"/>
              <a:cs typeface="Arial"/>
              <a:sym typeface="Arial"/>
            </a:endParaRPr>
          </a:p>
          <a:p>
            <a:pPr indent="-285750" lvl="1" marL="742950" rtl="0" algn="l">
              <a:spcBef>
                <a:spcPts val="480"/>
              </a:spcBef>
              <a:spcAft>
                <a:spcPts val="0"/>
              </a:spcAft>
              <a:buClr>
                <a:schemeClr val="dk1"/>
              </a:buClr>
              <a:buSzPts val="2400"/>
              <a:buFont typeface="Arial"/>
              <a:buChar char="-"/>
            </a:pPr>
            <a:r>
              <a:rPr i="1" lang="en-US" sz="2400">
                <a:latin typeface="Arial"/>
                <a:ea typeface="Arial"/>
                <a:cs typeface="Arial"/>
                <a:sym typeface="Arial"/>
              </a:rPr>
              <a:t>Often measured using a stopwatch.</a:t>
            </a:r>
            <a:endParaRPr i="1" sz="2400">
              <a:latin typeface="Arial"/>
              <a:ea typeface="Arial"/>
              <a:cs typeface="Arial"/>
              <a:sym typeface="Arial"/>
            </a:endParaRPr>
          </a:p>
          <a:p>
            <a:pPr indent="-107950" lvl="1" marL="742950" rtl="0" algn="l">
              <a:spcBef>
                <a:spcPts val="560"/>
              </a:spcBef>
              <a:spcAft>
                <a:spcPts val="0"/>
              </a:spcAft>
              <a:buClr>
                <a:schemeClr val="dk1"/>
              </a:buClr>
              <a:buSzPts val="2800"/>
              <a:buFont typeface="Arial"/>
              <a:buNone/>
            </a:pPr>
            <a:r>
              <a:t/>
            </a:r>
            <a:endParaRPr i="1">
              <a:latin typeface="Arial"/>
              <a:ea typeface="Arial"/>
              <a:cs typeface="Arial"/>
              <a:sym typeface="Arial"/>
            </a:endParaRPr>
          </a:p>
        </p:txBody>
      </p:sp>
      <p:sp>
        <p:nvSpPr>
          <p:cNvPr id="150" name="Google Shape;150;p8"/>
          <p:cNvSpPr txBox="1"/>
          <p:nvPr/>
        </p:nvSpPr>
        <p:spPr>
          <a:xfrm>
            <a:off x="5239242" y="1598207"/>
            <a:ext cx="2408463" cy="2246769"/>
          </a:xfrm>
          <a:prstGeom prst="rect">
            <a:avLst/>
          </a:prstGeom>
          <a:noFill/>
          <a:ln cap="flat" cmpd="sng" w="38100">
            <a:solidFill>
              <a:srgbClr val="7A81FF"/>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2000" u="none" cap="none" strike="noStrike">
                <a:solidFill>
                  <a:schemeClr val="dk1"/>
                </a:solidFill>
                <a:latin typeface="Arial"/>
                <a:ea typeface="Arial"/>
                <a:cs typeface="Arial"/>
                <a:sym typeface="Arial"/>
              </a:rPr>
              <a:t>When measuring with a graduated cylinder, always measure to the bottom of the </a:t>
            </a:r>
            <a:r>
              <a:rPr b="1" i="0" lang="en-US" sz="2000" u="none" cap="none" strike="noStrike">
                <a:solidFill>
                  <a:srgbClr val="8000FF"/>
                </a:solidFill>
                <a:latin typeface="Arial"/>
                <a:ea typeface="Arial"/>
                <a:cs typeface="Arial"/>
                <a:sym typeface="Arial"/>
              </a:rPr>
              <a:t>meniscus</a:t>
            </a:r>
            <a:r>
              <a:rPr b="1" i="0" lang="en-US" sz="2000" u="none" cap="none" strike="noStrike">
                <a:solidFill>
                  <a:schemeClr val="dk1"/>
                </a:solidFill>
                <a:latin typeface="Arial"/>
                <a:ea typeface="Arial"/>
                <a:cs typeface="Arial"/>
                <a:sym typeface="Arial"/>
              </a:rPr>
              <a:t> </a:t>
            </a:r>
            <a:r>
              <a:rPr b="0" i="0" lang="en-US" sz="2000" u="none" cap="none" strike="noStrike">
                <a:solidFill>
                  <a:schemeClr val="dk1"/>
                </a:solidFill>
                <a:latin typeface="Arial"/>
                <a:ea typeface="Arial"/>
                <a:cs typeface="Arial"/>
                <a:sym typeface="Arial"/>
              </a:rPr>
              <a:t>(the curve in the liquid)</a:t>
            </a:r>
            <a:endParaRPr b="0" i="0" sz="2000" u="none" cap="none" strike="noStrike">
              <a:solidFill>
                <a:schemeClr val="dk1"/>
              </a:solidFill>
              <a:latin typeface="Arial"/>
              <a:ea typeface="Arial"/>
              <a:cs typeface="Arial"/>
              <a:sym typeface="Arial"/>
            </a:endParaRPr>
          </a:p>
        </p:txBody>
      </p:sp>
      <p:cxnSp>
        <p:nvCxnSpPr>
          <p:cNvPr id="151" name="Google Shape;151;p8"/>
          <p:cNvCxnSpPr/>
          <p:nvPr/>
        </p:nvCxnSpPr>
        <p:spPr>
          <a:xfrm>
            <a:off x="7647705" y="2925062"/>
            <a:ext cx="748147" cy="2977"/>
          </a:xfrm>
          <a:prstGeom prst="straightConnector1">
            <a:avLst/>
          </a:prstGeom>
          <a:noFill/>
          <a:ln cap="flat" cmpd="sng" w="25400">
            <a:solidFill>
              <a:srgbClr val="7A81FF"/>
            </a:solidFill>
            <a:prstDash val="solid"/>
            <a:round/>
            <a:headEnd len="sm" w="sm"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9">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9">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6" name="Shape 156"/>
        <p:cNvGrpSpPr/>
        <p:nvPr/>
      </p:nvGrpSpPr>
      <p:grpSpPr>
        <a:xfrm>
          <a:off x="0" y="0"/>
          <a:ext cx="0" cy="0"/>
          <a:chOff x="0" y="0"/>
          <a:chExt cx="0" cy="0"/>
        </a:xfrm>
      </p:grpSpPr>
      <p:sp>
        <p:nvSpPr>
          <p:cNvPr id="157" name="Google Shape;157;p9"/>
          <p:cNvSpPr txBox="1"/>
          <p:nvPr>
            <p:ph type="title"/>
          </p:nvPr>
        </p:nvSpPr>
        <p:spPr>
          <a:xfrm>
            <a:off x="0" y="42863"/>
            <a:ext cx="9144000" cy="111867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00B0F0"/>
              </a:buClr>
              <a:buSzPts val="5400"/>
              <a:buFont typeface="Arial"/>
              <a:buNone/>
            </a:pPr>
            <a:r>
              <a:rPr b="1" lang="en-US" sz="5400">
                <a:solidFill>
                  <a:srgbClr val="00B0F0"/>
                </a:solidFill>
                <a:latin typeface="Arial"/>
                <a:ea typeface="Arial"/>
                <a:cs typeface="Arial"/>
                <a:sym typeface="Arial"/>
              </a:rPr>
              <a:t>Units</a:t>
            </a:r>
            <a:endParaRPr b="1" sz="5400">
              <a:solidFill>
                <a:srgbClr val="00B0F0"/>
              </a:solidFill>
              <a:latin typeface="Arial"/>
              <a:ea typeface="Arial"/>
              <a:cs typeface="Arial"/>
              <a:sym typeface="Arial"/>
            </a:endParaRPr>
          </a:p>
        </p:txBody>
      </p:sp>
      <p:sp>
        <p:nvSpPr>
          <p:cNvPr id="158" name="Google Shape;158;p9"/>
          <p:cNvSpPr txBox="1"/>
          <p:nvPr>
            <p:ph idx="1" type="body"/>
          </p:nvPr>
        </p:nvSpPr>
        <p:spPr>
          <a:xfrm>
            <a:off x="223804" y="1060553"/>
            <a:ext cx="6621496" cy="5797447"/>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0070C0"/>
              </a:buClr>
              <a:buSzPts val="3200"/>
              <a:buFont typeface="Arial"/>
              <a:buChar char="•"/>
            </a:pPr>
            <a:r>
              <a:rPr b="1" lang="en-US" u="sng">
                <a:solidFill>
                  <a:srgbClr val="0070C0"/>
                </a:solidFill>
                <a:latin typeface="Arial"/>
                <a:ea typeface="Arial"/>
                <a:cs typeface="Arial"/>
                <a:sym typeface="Arial"/>
              </a:rPr>
              <a:t>Temperature</a:t>
            </a:r>
            <a:r>
              <a:rPr lang="en-US">
                <a:latin typeface="Arial"/>
                <a:ea typeface="Arial"/>
                <a:cs typeface="Arial"/>
                <a:sym typeface="Arial"/>
              </a:rPr>
              <a:t>: the amount of heat in an object.</a:t>
            </a:r>
            <a:endParaRPr/>
          </a:p>
          <a:p>
            <a:pPr indent="-285750" lvl="1" marL="742950" rtl="0" algn="l">
              <a:spcBef>
                <a:spcPts val="560"/>
              </a:spcBef>
              <a:spcAft>
                <a:spcPts val="0"/>
              </a:spcAft>
              <a:buClr>
                <a:schemeClr val="dk1"/>
              </a:buClr>
              <a:buSzPts val="2800"/>
              <a:buFont typeface="Arial"/>
              <a:buChar char="-"/>
            </a:pPr>
            <a:r>
              <a:rPr lang="en-US">
                <a:latin typeface="Arial"/>
                <a:ea typeface="Arial"/>
                <a:cs typeface="Arial"/>
                <a:sym typeface="Arial"/>
              </a:rPr>
              <a:t>Unit = </a:t>
            </a:r>
            <a:r>
              <a:rPr b="1" lang="en-US">
                <a:solidFill>
                  <a:srgbClr val="7A81FF"/>
                </a:solidFill>
                <a:latin typeface="Arial"/>
                <a:ea typeface="Arial"/>
                <a:cs typeface="Arial"/>
                <a:sym typeface="Arial"/>
              </a:rPr>
              <a:t>Kelvin</a:t>
            </a:r>
            <a:r>
              <a:rPr lang="en-US">
                <a:solidFill>
                  <a:srgbClr val="7A81FF"/>
                </a:solidFill>
                <a:latin typeface="Arial"/>
                <a:ea typeface="Arial"/>
                <a:cs typeface="Arial"/>
                <a:sym typeface="Arial"/>
              </a:rPr>
              <a:t> </a:t>
            </a:r>
            <a:r>
              <a:rPr lang="en-US">
                <a:latin typeface="Arial"/>
                <a:ea typeface="Arial"/>
                <a:cs typeface="Arial"/>
                <a:sym typeface="Arial"/>
              </a:rPr>
              <a:t>= </a:t>
            </a:r>
            <a:r>
              <a:rPr b="1" lang="en-US">
                <a:solidFill>
                  <a:srgbClr val="7A81FF"/>
                </a:solidFill>
                <a:latin typeface="Arial"/>
                <a:ea typeface="Arial"/>
                <a:cs typeface="Arial"/>
                <a:sym typeface="Arial"/>
              </a:rPr>
              <a:t>K</a:t>
            </a:r>
            <a:endParaRPr/>
          </a:p>
          <a:p>
            <a:pPr indent="-228600" lvl="2" marL="1143000" rtl="0" algn="l">
              <a:spcBef>
                <a:spcPts val="480"/>
              </a:spcBef>
              <a:spcAft>
                <a:spcPts val="0"/>
              </a:spcAft>
              <a:buClr>
                <a:schemeClr val="dk1"/>
              </a:buClr>
              <a:buSzPts val="2400"/>
              <a:buFont typeface="Arial"/>
              <a:buChar char="-"/>
            </a:pPr>
            <a:r>
              <a:rPr lang="en-US">
                <a:latin typeface="Arial"/>
                <a:ea typeface="Arial"/>
                <a:cs typeface="Arial"/>
                <a:sym typeface="Arial"/>
              </a:rPr>
              <a:t>The metric system uses Celsius (</a:t>
            </a:r>
            <a:r>
              <a:rPr b="1" lang="en-US">
                <a:solidFill>
                  <a:srgbClr val="7A81FF"/>
                </a:solidFill>
                <a:latin typeface="Arial"/>
                <a:ea typeface="Arial"/>
                <a:cs typeface="Arial"/>
                <a:sym typeface="Arial"/>
              </a:rPr>
              <a:t>°C</a:t>
            </a:r>
            <a:r>
              <a:rPr lang="en-US">
                <a:latin typeface="Arial"/>
                <a:ea typeface="Arial"/>
                <a:cs typeface="Arial"/>
                <a:sym typeface="Arial"/>
              </a:rPr>
              <a:t>) </a:t>
            </a:r>
            <a:endParaRPr/>
          </a:p>
          <a:p>
            <a:pPr indent="-228600" lvl="2" marL="1143000" rtl="0" algn="l">
              <a:spcBef>
                <a:spcPts val="480"/>
              </a:spcBef>
              <a:spcAft>
                <a:spcPts val="0"/>
              </a:spcAft>
              <a:buClr>
                <a:schemeClr val="dk1"/>
              </a:buClr>
              <a:buSzPts val="2400"/>
              <a:buFont typeface="Arial"/>
              <a:buChar char="-"/>
            </a:pPr>
            <a:r>
              <a:rPr lang="en-US">
                <a:latin typeface="Arial"/>
                <a:ea typeface="Arial"/>
                <a:cs typeface="Arial"/>
                <a:sym typeface="Arial"/>
              </a:rPr>
              <a:t>The U.S. uses Fahrenheit (</a:t>
            </a:r>
            <a:r>
              <a:rPr b="1" lang="en-US">
                <a:solidFill>
                  <a:srgbClr val="7A81FF"/>
                </a:solidFill>
                <a:latin typeface="Arial"/>
                <a:ea typeface="Arial"/>
                <a:cs typeface="Arial"/>
                <a:sym typeface="Arial"/>
              </a:rPr>
              <a:t>°F</a:t>
            </a:r>
            <a:r>
              <a:rPr lang="en-US">
                <a:latin typeface="Arial"/>
                <a:ea typeface="Arial"/>
                <a:cs typeface="Arial"/>
                <a:sym typeface="Arial"/>
              </a:rPr>
              <a:t>)</a:t>
            </a:r>
            <a:endParaRPr>
              <a:latin typeface="Arial"/>
              <a:ea typeface="Arial"/>
              <a:cs typeface="Arial"/>
              <a:sym typeface="Arial"/>
            </a:endParaRPr>
          </a:p>
          <a:p>
            <a:pPr indent="-285750" lvl="1" marL="742950" rtl="0" algn="l">
              <a:spcBef>
                <a:spcPts val="400"/>
              </a:spcBef>
              <a:spcAft>
                <a:spcPts val="0"/>
              </a:spcAft>
              <a:buClr>
                <a:schemeClr val="dk1"/>
              </a:buClr>
              <a:buSzPts val="2000"/>
              <a:buFont typeface="Arial"/>
              <a:buChar char="-"/>
            </a:pPr>
            <a:r>
              <a:rPr i="1" lang="en-US" sz="2000">
                <a:latin typeface="Arial"/>
                <a:ea typeface="Arial"/>
                <a:cs typeface="Arial"/>
                <a:sym typeface="Arial"/>
              </a:rPr>
              <a:t>Often measured using a thermometer.</a:t>
            </a:r>
            <a:endParaRPr/>
          </a:p>
          <a:p>
            <a:pPr indent="-285750" lvl="1" marL="742950" rtl="0" algn="l">
              <a:spcBef>
                <a:spcPts val="400"/>
              </a:spcBef>
              <a:spcAft>
                <a:spcPts val="0"/>
              </a:spcAft>
              <a:buClr>
                <a:schemeClr val="dk1"/>
              </a:buClr>
              <a:buSzPts val="2000"/>
              <a:buFont typeface="Arial"/>
              <a:buChar char="-"/>
            </a:pPr>
            <a:r>
              <a:rPr b="1" i="1" lang="en-US" sz="2000" u="sng">
                <a:latin typeface="Arial"/>
                <a:ea typeface="Arial"/>
                <a:cs typeface="Arial"/>
                <a:sym typeface="Arial"/>
              </a:rPr>
              <a:t>Note</a:t>
            </a:r>
            <a:r>
              <a:rPr i="1" lang="en-US" sz="2000">
                <a:latin typeface="Arial"/>
                <a:ea typeface="Arial"/>
                <a:cs typeface="Arial"/>
                <a:sym typeface="Arial"/>
              </a:rPr>
              <a:t>: we will learn a more scientifically accurate definition in the future.</a:t>
            </a:r>
            <a:endParaRPr/>
          </a:p>
          <a:p>
            <a:pPr indent="-342900" lvl="0" marL="342900" rtl="0" algn="l">
              <a:spcBef>
                <a:spcPts val="640"/>
              </a:spcBef>
              <a:spcAft>
                <a:spcPts val="0"/>
              </a:spcAft>
              <a:buClr>
                <a:srgbClr val="8000FF"/>
              </a:buClr>
              <a:buSzPts val="3200"/>
              <a:buFont typeface="Arial"/>
              <a:buChar char="•"/>
            </a:pPr>
            <a:r>
              <a:rPr b="1" lang="en-US" u="sng">
                <a:solidFill>
                  <a:srgbClr val="8000FF"/>
                </a:solidFill>
                <a:latin typeface="Arial"/>
                <a:ea typeface="Arial"/>
                <a:cs typeface="Arial"/>
                <a:sym typeface="Arial"/>
              </a:rPr>
              <a:t>Temperature conversions</a:t>
            </a:r>
            <a:r>
              <a:rPr lang="en-US">
                <a:latin typeface="Arial"/>
                <a:ea typeface="Arial"/>
                <a:cs typeface="Arial"/>
                <a:sym typeface="Arial"/>
              </a:rPr>
              <a:t>:</a:t>
            </a:r>
            <a:endParaRPr/>
          </a:p>
          <a:p>
            <a:pPr indent="0" lvl="1" marL="457200" rtl="0" algn="l">
              <a:spcBef>
                <a:spcPts val="560"/>
              </a:spcBef>
              <a:spcAft>
                <a:spcPts val="0"/>
              </a:spcAft>
              <a:buClr>
                <a:schemeClr val="dk1"/>
              </a:buClr>
              <a:buSzPts val="2800"/>
              <a:buNone/>
            </a:pPr>
            <a:r>
              <a:rPr lang="en-US">
                <a:latin typeface="Arial"/>
                <a:ea typeface="Arial"/>
                <a:cs typeface="Arial"/>
                <a:sym typeface="Arial"/>
              </a:rPr>
              <a:t>K = °C + 273</a:t>
            </a:r>
            <a:endParaRPr/>
          </a:p>
          <a:p>
            <a:pPr indent="0" lvl="1" marL="457200" rtl="0" algn="l">
              <a:spcBef>
                <a:spcPts val="560"/>
              </a:spcBef>
              <a:spcAft>
                <a:spcPts val="0"/>
              </a:spcAft>
              <a:buClr>
                <a:schemeClr val="dk1"/>
              </a:buClr>
              <a:buSzPts val="2800"/>
              <a:buNone/>
            </a:pPr>
            <a:r>
              <a:rPr lang="en-US">
                <a:latin typeface="Arial"/>
                <a:ea typeface="Arial"/>
                <a:cs typeface="Arial"/>
                <a:sym typeface="Arial"/>
              </a:rPr>
              <a:t>°C = 5/9 (°F - 32)</a:t>
            </a:r>
            <a:endParaRPr/>
          </a:p>
          <a:p>
            <a:pPr indent="0" lvl="1" marL="457200" rtl="0" algn="l">
              <a:spcBef>
                <a:spcPts val="560"/>
              </a:spcBef>
              <a:spcAft>
                <a:spcPts val="0"/>
              </a:spcAft>
              <a:buClr>
                <a:schemeClr val="dk1"/>
              </a:buClr>
              <a:buSzPts val="2800"/>
              <a:buNone/>
            </a:pPr>
            <a:r>
              <a:rPr lang="en-US">
                <a:latin typeface="Arial"/>
                <a:ea typeface="Arial"/>
                <a:cs typeface="Arial"/>
                <a:sym typeface="Arial"/>
              </a:rPr>
              <a:t>°F = (°C * 9/5) + 32</a:t>
            </a:r>
            <a:endParaRPr>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8">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8">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8">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8">
                                            <p:txEl>
                                              <p:pRg end="9" st="9"/>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0"/>
          <p:cNvSpPr txBox="1"/>
          <p:nvPr>
            <p:ph type="title"/>
          </p:nvPr>
        </p:nvSpPr>
        <p:spPr>
          <a:xfrm>
            <a:off x="0" y="42863"/>
            <a:ext cx="9144000" cy="1003677"/>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00B0F0"/>
              </a:buClr>
              <a:buSzPts val="5400"/>
              <a:buFont typeface="Arial"/>
              <a:buNone/>
            </a:pPr>
            <a:r>
              <a:rPr b="1" lang="en-US" sz="5400">
                <a:solidFill>
                  <a:srgbClr val="00B0F0"/>
                </a:solidFill>
                <a:latin typeface="Arial"/>
                <a:ea typeface="Arial"/>
                <a:cs typeface="Arial"/>
                <a:sym typeface="Arial"/>
              </a:rPr>
              <a:t>Temperature Conversions</a:t>
            </a:r>
            <a:endParaRPr b="1" sz="5400">
              <a:solidFill>
                <a:srgbClr val="00B0F0"/>
              </a:solidFill>
              <a:latin typeface="Arial"/>
              <a:ea typeface="Arial"/>
              <a:cs typeface="Arial"/>
              <a:sym typeface="Arial"/>
            </a:endParaRPr>
          </a:p>
        </p:txBody>
      </p:sp>
      <p:sp>
        <p:nvSpPr>
          <p:cNvPr id="164" name="Google Shape;164;p10"/>
          <p:cNvSpPr txBox="1"/>
          <p:nvPr>
            <p:ph idx="1" type="body"/>
          </p:nvPr>
        </p:nvSpPr>
        <p:spPr>
          <a:xfrm>
            <a:off x="223804" y="1030399"/>
            <a:ext cx="8716996" cy="1319101"/>
          </a:xfrm>
          <a:prstGeom prst="rect">
            <a:avLst/>
          </a:prstGeom>
          <a:noFill/>
          <a:ln>
            <a:noFill/>
          </a:ln>
        </p:spPr>
        <p:txBody>
          <a:bodyPr anchorCtr="0" anchor="t" bIns="45700" lIns="91425" spcFirstLastPara="1" rIns="91425" wrap="square" tIns="45700">
            <a:noAutofit/>
          </a:bodyPr>
          <a:lstStyle/>
          <a:p>
            <a:pPr indent="0" lvl="0" marL="57150" rtl="0" algn="ctr">
              <a:spcBef>
                <a:spcPts val="0"/>
              </a:spcBef>
              <a:spcAft>
                <a:spcPts val="0"/>
              </a:spcAft>
              <a:buClr>
                <a:schemeClr val="dk1"/>
              </a:buClr>
              <a:buSzPts val="2400"/>
              <a:buNone/>
            </a:pPr>
            <a:r>
              <a:rPr lang="en-US" sz="2400">
                <a:latin typeface="Arial"/>
                <a:ea typeface="Arial"/>
                <a:cs typeface="Arial"/>
                <a:sym typeface="Arial"/>
              </a:rPr>
              <a:t>K = °C + 273</a:t>
            </a:r>
            <a:endParaRPr/>
          </a:p>
          <a:p>
            <a:pPr indent="0" lvl="0" marL="57150" rtl="0" algn="ctr">
              <a:spcBef>
                <a:spcPts val="480"/>
              </a:spcBef>
              <a:spcAft>
                <a:spcPts val="0"/>
              </a:spcAft>
              <a:buClr>
                <a:schemeClr val="dk1"/>
              </a:buClr>
              <a:buSzPts val="2400"/>
              <a:buNone/>
            </a:pPr>
            <a:r>
              <a:rPr lang="en-US" sz="2400">
                <a:latin typeface="Arial"/>
                <a:ea typeface="Arial"/>
                <a:cs typeface="Arial"/>
                <a:sym typeface="Arial"/>
              </a:rPr>
              <a:t>°C = 5/9 (°F - 32)</a:t>
            </a:r>
            <a:endParaRPr/>
          </a:p>
          <a:p>
            <a:pPr indent="0" lvl="0" marL="57150" rtl="0" algn="ctr">
              <a:spcBef>
                <a:spcPts val="480"/>
              </a:spcBef>
              <a:spcAft>
                <a:spcPts val="0"/>
              </a:spcAft>
              <a:buClr>
                <a:schemeClr val="dk1"/>
              </a:buClr>
              <a:buSzPts val="2400"/>
              <a:buNone/>
            </a:pPr>
            <a:r>
              <a:rPr lang="en-US" sz="2400">
                <a:latin typeface="Arial"/>
                <a:ea typeface="Arial"/>
                <a:cs typeface="Arial"/>
                <a:sym typeface="Arial"/>
              </a:rPr>
              <a:t>°F = (°C * 9/5) + 32</a:t>
            </a:r>
            <a:endParaRPr sz="2400">
              <a:latin typeface="Arial"/>
              <a:ea typeface="Arial"/>
              <a:cs typeface="Arial"/>
              <a:sym typeface="Arial"/>
            </a:endParaRPr>
          </a:p>
        </p:txBody>
      </p:sp>
      <p:sp>
        <p:nvSpPr>
          <p:cNvPr id="165" name="Google Shape;165;p10"/>
          <p:cNvSpPr txBox="1"/>
          <p:nvPr/>
        </p:nvSpPr>
        <p:spPr>
          <a:xfrm>
            <a:off x="223804" y="2349500"/>
            <a:ext cx="8716996" cy="2120900"/>
          </a:xfrm>
          <a:prstGeom prst="rect">
            <a:avLst/>
          </a:prstGeom>
          <a:noFill/>
          <a:ln>
            <a:noFill/>
          </a:ln>
        </p:spPr>
        <p:txBody>
          <a:bodyPr anchorCtr="0" anchor="t" bIns="45700" lIns="91425" spcFirstLastPara="1" rIns="91425" wrap="square" tIns="45700">
            <a:noAutofit/>
          </a:bodyPr>
          <a:lstStyle/>
          <a:p>
            <a:pPr indent="0" lvl="0" marL="57150" marR="0" rtl="0" algn="l">
              <a:spcBef>
                <a:spcPts val="0"/>
              </a:spcBef>
              <a:spcAft>
                <a:spcPts val="0"/>
              </a:spcAft>
              <a:buClr>
                <a:srgbClr val="0070C0"/>
              </a:buClr>
              <a:buSzPts val="2800"/>
              <a:buFont typeface="Arial"/>
              <a:buNone/>
            </a:pPr>
            <a:r>
              <a:rPr b="1" i="0" lang="en-US" sz="2800" u="sng" cap="none" strike="noStrike">
                <a:solidFill>
                  <a:srgbClr val="0070C0"/>
                </a:solidFill>
                <a:latin typeface="Arial"/>
                <a:ea typeface="Arial"/>
                <a:cs typeface="Arial"/>
                <a:sym typeface="Arial"/>
              </a:rPr>
              <a:t>Example #4</a:t>
            </a:r>
            <a:r>
              <a:rPr b="0" i="0" lang="en-US" sz="2800" u="none" cap="none" strike="noStrike">
                <a:solidFill>
                  <a:schemeClr val="dk1"/>
                </a:solidFill>
                <a:latin typeface="Arial"/>
                <a:ea typeface="Arial"/>
                <a:cs typeface="Arial"/>
                <a:sym typeface="Arial"/>
              </a:rPr>
              <a:t>: </a:t>
            </a:r>
            <a:r>
              <a:rPr b="0" i="0" lang="en-US" sz="2600" u="none" cap="none" strike="noStrike">
                <a:solidFill>
                  <a:schemeClr val="dk1"/>
                </a:solidFill>
                <a:latin typeface="Arial"/>
                <a:ea typeface="Arial"/>
                <a:cs typeface="Arial"/>
                <a:sym typeface="Arial"/>
              </a:rPr>
              <a:t>Mrs. Smith is going on vacation to Greece for her anniversary and the weather is predicted to be 27°C.  Mrs. Smith lives in the U.S. though and doesn’t know what to pack for this weather.  Help her to determine the temperature in °F so she can pack. </a:t>
            </a:r>
            <a:endParaRPr/>
          </a:p>
          <a:p>
            <a:pPr indent="0" lvl="0" marL="57150" marR="0" rtl="0" algn="l">
              <a:spcBef>
                <a:spcPts val="560"/>
              </a:spcBef>
              <a:spcAft>
                <a:spcPts val="0"/>
              </a:spcAft>
              <a:buClr>
                <a:schemeClr val="dk1"/>
              </a:buClr>
              <a:buSzPts val="2800"/>
              <a:buFont typeface="Arial"/>
              <a:buNone/>
            </a:pPr>
            <a:r>
              <a:t/>
            </a:r>
            <a:endParaRPr b="1" i="0" sz="2800" u="sng" cap="none" strike="noStrike">
              <a:solidFill>
                <a:schemeClr val="dk1"/>
              </a:solidFill>
              <a:latin typeface="Arial"/>
              <a:ea typeface="Arial"/>
              <a:cs typeface="Arial"/>
              <a:sym typeface="Arial"/>
            </a:endParaRPr>
          </a:p>
        </p:txBody>
      </p:sp>
      <p:sp>
        <p:nvSpPr>
          <p:cNvPr id="166" name="Google Shape;166;p10"/>
          <p:cNvSpPr txBox="1"/>
          <p:nvPr/>
        </p:nvSpPr>
        <p:spPr>
          <a:xfrm>
            <a:off x="467368" y="4470400"/>
            <a:ext cx="2807179" cy="15696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chemeClr val="dk1"/>
                </a:solidFill>
                <a:latin typeface="Arial"/>
                <a:ea typeface="Arial"/>
                <a:cs typeface="Arial"/>
                <a:sym typeface="Arial"/>
              </a:rPr>
              <a:t>°C = 27 </a:t>
            </a:r>
            <a:endParaRPr/>
          </a:p>
          <a:p>
            <a:pPr indent="0" lvl="0" marL="0" marR="0" rtl="0" algn="l">
              <a:spcBef>
                <a:spcPts val="0"/>
              </a:spcBef>
              <a:spcAft>
                <a:spcPts val="0"/>
              </a:spcAft>
              <a:buNone/>
            </a:pPr>
            <a:r>
              <a:rPr lang="en-US" sz="2400">
                <a:solidFill>
                  <a:schemeClr val="dk1"/>
                </a:solidFill>
                <a:latin typeface="Arial"/>
                <a:ea typeface="Arial"/>
                <a:cs typeface="Arial"/>
                <a:sym typeface="Arial"/>
              </a:rPr>
              <a:t>°F = ?</a:t>
            </a:r>
            <a:endParaRPr/>
          </a:p>
          <a:p>
            <a:pPr indent="0" lvl="0" marL="0" marR="0" rtl="0" algn="l">
              <a:spcBef>
                <a:spcPts val="0"/>
              </a:spcBef>
              <a:spcAft>
                <a:spcPts val="0"/>
              </a:spcAft>
              <a:buNone/>
            </a:pPr>
            <a:r>
              <a:t/>
            </a:r>
            <a:endParaRPr sz="2400">
              <a:solidFill>
                <a:schemeClr val="dk1"/>
              </a:solidFill>
              <a:latin typeface="Arial"/>
              <a:ea typeface="Arial"/>
              <a:cs typeface="Arial"/>
              <a:sym typeface="Arial"/>
            </a:endParaRPr>
          </a:p>
          <a:p>
            <a:pPr indent="0" lvl="0" marL="0" marR="0" rtl="0" algn="l">
              <a:spcBef>
                <a:spcPts val="0"/>
              </a:spcBef>
              <a:spcAft>
                <a:spcPts val="0"/>
              </a:spcAft>
              <a:buNone/>
            </a:pPr>
            <a:r>
              <a:rPr lang="en-US" sz="2400">
                <a:solidFill>
                  <a:schemeClr val="dk1"/>
                </a:solidFill>
                <a:latin typeface="Arial"/>
                <a:ea typeface="Arial"/>
                <a:cs typeface="Arial"/>
                <a:sym typeface="Arial"/>
              </a:rPr>
              <a:t>°F = (°C * 9/5) + 32</a:t>
            </a:r>
            <a:endParaRPr sz="2400">
              <a:solidFill>
                <a:schemeClr val="dk1"/>
              </a:solidFill>
              <a:latin typeface="Calibri"/>
              <a:ea typeface="Calibri"/>
              <a:cs typeface="Calibri"/>
              <a:sym typeface="Calibri"/>
            </a:endParaRPr>
          </a:p>
        </p:txBody>
      </p:sp>
      <p:cxnSp>
        <p:nvCxnSpPr>
          <p:cNvPr id="167" name="Google Shape;167;p10"/>
          <p:cNvCxnSpPr/>
          <p:nvPr/>
        </p:nvCxnSpPr>
        <p:spPr>
          <a:xfrm>
            <a:off x="3262191" y="4470400"/>
            <a:ext cx="12356" cy="2041611"/>
          </a:xfrm>
          <a:prstGeom prst="straightConnector1">
            <a:avLst/>
          </a:prstGeom>
          <a:noFill/>
          <a:ln cap="flat" cmpd="sng" w="25400">
            <a:solidFill>
              <a:schemeClr val="dk1"/>
            </a:solidFill>
            <a:prstDash val="solid"/>
            <a:round/>
            <a:headEnd len="sm" w="sm" type="none"/>
            <a:tailEnd len="sm" w="sm" type="none"/>
          </a:ln>
        </p:spPr>
      </p:cxnSp>
      <p:sp>
        <p:nvSpPr>
          <p:cNvPr id="168" name="Google Shape;168;p10"/>
          <p:cNvSpPr txBox="1"/>
          <p:nvPr/>
        </p:nvSpPr>
        <p:spPr>
          <a:xfrm>
            <a:off x="3518111" y="4470400"/>
            <a:ext cx="2803973" cy="193899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Arial"/>
                <a:ea typeface="Arial"/>
                <a:cs typeface="Arial"/>
                <a:sym typeface="Arial"/>
              </a:rPr>
              <a:t>°F = (27 * 9/5) + 32</a:t>
            </a:r>
            <a:endParaRPr/>
          </a:p>
          <a:p>
            <a:pPr indent="0" lvl="0" marL="0" marR="0" rtl="0" algn="l">
              <a:spcBef>
                <a:spcPts val="0"/>
              </a:spcBef>
              <a:spcAft>
                <a:spcPts val="0"/>
              </a:spcAft>
              <a:buNone/>
            </a:pPr>
            <a:r>
              <a:t/>
            </a:r>
            <a:endParaRPr sz="2400">
              <a:solidFill>
                <a:schemeClr val="dk1"/>
              </a:solidFill>
              <a:latin typeface="Arial"/>
              <a:ea typeface="Arial"/>
              <a:cs typeface="Arial"/>
              <a:sym typeface="Arial"/>
            </a:endParaRPr>
          </a:p>
          <a:p>
            <a:pPr indent="0" lvl="0" marL="0" marR="0" rtl="0" algn="l">
              <a:spcBef>
                <a:spcPts val="0"/>
              </a:spcBef>
              <a:spcAft>
                <a:spcPts val="0"/>
              </a:spcAft>
              <a:buNone/>
            </a:pPr>
            <a:r>
              <a:rPr lang="en-US" sz="2400">
                <a:solidFill>
                  <a:schemeClr val="dk1"/>
                </a:solidFill>
                <a:latin typeface="Arial"/>
                <a:ea typeface="Arial"/>
                <a:cs typeface="Arial"/>
                <a:sym typeface="Arial"/>
              </a:rPr>
              <a:t>°F = (48.6) + 32</a:t>
            </a:r>
            <a:endParaRPr/>
          </a:p>
          <a:p>
            <a:pPr indent="0" lvl="0" marL="0" marR="0" rtl="0" algn="l">
              <a:spcBef>
                <a:spcPts val="0"/>
              </a:spcBef>
              <a:spcAft>
                <a:spcPts val="0"/>
              </a:spcAft>
              <a:buNone/>
            </a:pPr>
            <a:r>
              <a:t/>
            </a:r>
            <a:endParaRPr sz="2400">
              <a:solidFill>
                <a:schemeClr val="dk1"/>
              </a:solidFill>
              <a:latin typeface="Arial"/>
              <a:ea typeface="Arial"/>
              <a:cs typeface="Arial"/>
              <a:sym typeface="Arial"/>
            </a:endParaRPr>
          </a:p>
          <a:p>
            <a:pPr indent="0" lvl="0" marL="0" marR="0" rtl="0" algn="l">
              <a:spcBef>
                <a:spcPts val="0"/>
              </a:spcBef>
              <a:spcAft>
                <a:spcPts val="0"/>
              </a:spcAft>
              <a:buNone/>
            </a:pPr>
            <a:r>
              <a:rPr lang="en-US" sz="2400">
                <a:solidFill>
                  <a:schemeClr val="dk1"/>
                </a:solidFill>
                <a:latin typeface="Arial"/>
                <a:ea typeface="Arial"/>
                <a:cs typeface="Arial"/>
                <a:sym typeface="Arial"/>
              </a:rPr>
              <a:t>°F = 80.6 °F </a:t>
            </a:r>
            <a:endParaRPr/>
          </a:p>
        </p:txBody>
      </p:sp>
      <p:sp>
        <p:nvSpPr>
          <p:cNvPr id="169" name="Google Shape;169;p10"/>
          <p:cNvSpPr/>
          <p:nvPr/>
        </p:nvSpPr>
        <p:spPr>
          <a:xfrm>
            <a:off x="3493397" y="5894534"/>
            <a:ext cx="1881792" cy="478149"/>
          </a:xfrm>
          <a:prstGeom prst="frame">
            <a:avLst>
              <a:gd fmla="val 7332" name="adj1"/>
            </a:avLst>
          </a:prstGeom>
          <a:solidFill>
            <a:srgbClr val="7A81FF"/>
          </a:solidFill>
          <a:ln cap="flat" cmpd="sng" w="9525">
            <a:solidFill>
              <a:srgbClr val="7A81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11"/>
          <p:cNvSpPr txBox="1"/>
          <p:nvPr>
            <p:ph type="title"/>
          </p:nvPr>
        </p:nvSpPr>
        <p:spPr>
          <a:xfrm>
            <a:off x="457200" y="108434"/>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00B0F0"/>
              </a:buClr>
              <a:buSzPts val="5400"/>
              <a:buFont typeface="Arial"/>
              <a:buNone/>
            </a:pPr>
            <a:r>
              <a:rPr b="1" lang="en-US" sz="5400">
                <a:solidFill>
                  <a:srgbClr val="00B0F0"/>
                </a:solidFill>
                <a:latin typeface="Arial"/>
                <a:ea typeface="Arial"/>
                <a:cs typeface="Arial"/>
                <a:sym typeface="Arial"/>
              </a:rPr>
              <a:t>Practice Time!</a:t>
            </a:r>
            <a:endParaRPr/>
          </a:p>
        </p:txBody>
      </p:sp>
      <p:sp>
        <p:nvSpPr>
          <p:cNvPr id="176" name="Google Shape;176;p11"/>
          <p:cNvSpPr txBox="1"/>
          <p:nvPr>
            <p:ph idx="1" type="body"/>
          </p:nvPr>
        </p:nvSpPr>
        <p:spPr>
          <a:xfrm>
            <a:off x="223043" y="1510932"/>
            <a:ext cx="8229600" cy="4525963"/>
          </a:xfrm>
          <a:prstGeom prst="rect">
            <a:avLst/>
          </a:prstGeom>
          <a:noFill/>
          <a:ln>
            <a:noFill/>
          </a:ln>
        </p:spPr>
        <p:txBody>
          <a:bodyPr anchorCtr="0" anchor="t" bIns="45700" lIns="91425" spcFirstLastPara="1" rIns="91425" wrap="square" tIns="45700">
            <a:normAutofit/>
          </a:bodyPr>
          <a:lstStyle/>
          <a:p>
            <a:pPr indent="-914400" lvl="0" marL="914400" rtl="0" algn="l">
              <a:lnSpc>
                <a:spcPct val="90000"/>
              </a:lnSpc>
              <a:spcBef>
                <a:spcPts val="0"/>
              </a:spcBef>
              <a:spcAft>
                <a:spcPts val="0"/>
              </a:spcAft>
              <a:buClr>
                <a:schemeClr val="dk1"/>
              </a:buClr>
              <a:buSzPts val="4400"/>
              <a:buFont typeface="Calibri"/>
              <a:buAutoNum type="arabicPeriod"/>
            </a:pPr>
            <a:r>
              <a:rPr lang="en-US" sz="4400">
                <a:latin typeface="Arial"/>
                <a:ea typeface="Arial"/>
                <a:cs typeface="Arial"/>
                <a:sym typeface="Arial"/>
              </a:rPr>
              <a:t>Convert 23°C to °F.</a:t>
            </a:r>
            <a:endParaRPr sz="4400">
              <a:latin typeface="Arial"/>
              <a:ea typeface="Arial"/>
              <a:cs typeface="Arial"/>
              <a:sym typeface="Arial"/>
            </a:endParaRPr>
          </a:p>
          <a:p>
            <a:pPr indent="-635000" lvl="0" marL="914400" rtl="0" algn="l">
              <a:lnSpc>
                <a:spcPct val="90000"/>
              </a:lnSpc>
              <a:spcBef>
                <a:spcPts val="880"/>
              </a:spcBef>
              <a:spcAft>
                <a:spcPts val="0"/>
              </a:spcAft>
              <a:buClr>
                <a:schemeClr val="dk1"/>
              </a:buClr>
              <a:buSzPts val="4400"/>
              <a:buFont typeface="Calibri"/>
              <a:buNone/>
            </a:pPr>
            <a:r>
              <a:t/>
            </a:r>
            <a:endParaRPr sz="4400">
              <a:latin typeface="Arial"/>
              <a:ea typeface="Arial"/>
              <a:cs typeface="Arial"/>
              <a:sym typeface="Arial"/>
            </a:endParaRPr>
          </a:p>
          <a:p>
            <a:pPr indent="-914400" lvl="0" marL="914400" rtl="0" algn="l">
              <a:lnSpc>
                <a:spcPct val="90000"/>
              </a:lnSpc>
              <a:spcBef>
                <a:spcPts val="880"/>
              </a:spcBef>
              <a:spcAft>
                <a:spcPts val="0"/>
              </a:spcAft>
              <a:buClr>
                <a:schemeClr val="dk1"/>
              </a:buClr>
              <a:buSzPts val="4400"/>
              <a:buFont typeface="Calibri"/>
              <a:buAutoNum type="arabicPeriod"/>
            </a:pPr>
            <a:r>
              <a:rPr lang="en-US" sz="4400">
                <a:latin typeface="Arial"/>
                <a:ea typeface="Arial"/>
                <a:cs typeface="Arial"/>
                <a:sym typeface="Arial"/>
              </a:rPr>
              <a:t>Convert 48°F to °C.</a:t>
            </a:r>
            <a:endParaRPr sz="4400">
              <a:latin typeface="Arial"/>
              <a:ea typeface="Arial"/>
              <a:cs typeface="Arial"/>
              <a:sym typeface="Arial"/>
            </a:endParaRPr>
          </a:p>
          <a:p>
            <a:pPr indent="-635000" lvl="0" marL="914400" rtl="0" algn="l">
              <a:lnSpc>
                <a:spcPct val="90000"/>
              </a:lnSpc>
              <a:spcBef>
                <a:spcPts val="880"/>
              </a:spcBef>
              <a:spcAft>
                <a:spcPts val="0"/>
              </a:spcAft>
              <a:buClr>
                <a:schemeClr val="dk1"/>
              </a:buClr>
              <a:buSzPts val="4400"/>
              <a:buFont typeface="Calibri"/>
              <a:buNone/>
            </a:pPr>
            <a:r>
              <a:t/>
            </a:r>
            <a:endParaRPr sz="4400">
              <a:latin typeface="Arial"/>
              <a:ea typeface="Arial"/>
              <a:cs typeface="Arial"/>
              <a:sym typeface="Arial"/>
            </a:endParaRPr>
          </a:p>
          <a:p>
            <a:pPr indent="-914400" lvl="0" marL="914400" rtl="0" algn="l">
              <a:lnSpc>
                <a:spcPct val="90000"/>
              </a:lnSpc>
              <a:spcBef>
                <a:spcPts val="880"/>
              </a:spcBef>
              <a:spcAft>
                <a:spcPts val="0"/>
              </a:spcAft>
              <a:buClr>
                <a:schemeClr val="dk1"/>
              </a:buClr>
              <a:buSzPts val="4400"/>
              <a:buFont typeface="Calibri"/>
              <a:buAutoNum type="arabicPeriod"/>
            </a:pPr>
            <a:r>
              <a:rPr lang="en-US" sz="4400">
                <a:latin typeface="Arial"/>
                <a:ea typeface="Arial"/>
                <a:cs typeface="Arial"/>
                <a:sym typeface="Arial"/>
              </a:rPr>
              <a:t>Convert 83°F to Kelvin.</a:t>
            </a:r>
            <a:endParaRPr sz="4400">
              <a:latin typeface="Arial"/>
              <a:ea typeface="Arial"/>
              <a:cs typeface="Arial"/>
              <a:sym typeface="Arial"/>
            </a:endParaRPr>
          </a:p>
          <a:p>
            <a:pPr indent="-234950" lvl="0" marL="514350" rtl="0" algn="l">
              <a:spcBef>
                <a:spcPts val="880"/>
              </a:spcBef>
              <a:spcAft>
                <a:spcPts val="0"/>
              </a:spcAft>
              <a:buClr>
                <a:schemeClr val="dk1"/>
              </a:buClr>
              <a:buSzPts val="4400"/>
              <a:buFont typeface="Calibri"/>
              <a:buNone/>
            </a:pPr>
            <a:r>
              <a:t/>
            </a:r>
            <a:endParaRPr sz="4400">
              <a:latin typeface="Arial"/>
              <a:ea typeface="Arial"/>
              <a:cs typeface="Arial"/>
              <a:sym typeface="Arial"/>
            </a:endParaRPr>
          </a:p>
        </p:txBody>
      </p:sp>
      <p:sp>
        <p:nvSpPr>
          <p:cNvPr id="177" name="Google Shape;177;p11"/>
          <p:cNvSpPr txBox="1"/>
          <p:nvPr/>
        </p:nvSpPr>
        <p:spPr>
          <a:xfrm>
            <a:off x="3481797" y="2134329"/>
            <a:ext cx="2180405" cy="83099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4800">
                <a:solidFill>
                  <a:srgbClr val="8000FF"/>
                </a:solidFill>
                <a:latin typeface="Arial"/>
                <a:ea typeface="Arial"/>
                <a:cs typeface="Arial"/>
                <a:sym typeface="Arial"/>
              </a:rPr>
              <a:t>73.4</a:t>
            </a:r>
            <a:r>
              <a:rPr lang="en-US" sz="4800">
                <a:solidFill>
                  <a:srgbClr val="8000FF"/>
                </a:solidFill>
                <a:latin typeface="Arial"/>
                <a:ea typeface="Arial"/>
                <a:cs typeface="Arial"/>
                <a:sym typeface="Arial"/>
              </a:rPr>
              <a:t>°F</a:t>
            </a:r>
            <a:r>
              <a:rPr lang="en-US" sz="4800">
                <a:solidFill>
                  <a:schemeClr val="dk1"/>
                </a:solidFill>
                <a:latin typeface="Arial"/>
                <a:ea typeface="Arial"/>
                <a:cs typeface="Arial"/>
                <a:sym typeface="Arial"/>
              </a:rPr>
              <a:t> </a:t>
            </a:r>
            <a:endParaRPr b="1" sz="4800">
              <a:solidFill>
                <a:srgbClr val="0000FF"/>
              </a:solidFill>
              <a:latin typeface="Arial"/>
              <a:ea typeface="Arial"/>
              <a:cs typeface="Arial"/>
              <a:sym typeface="Arial"/>
            </a:endParaRPr>
          </a:p>
        </p:txBody>
      </p:sp>
      <p:sp>
        <p:nvSpPr>
          <p:cNvPr id="178" name="Google Shape;178;p11"/>
          <p:cNvSpPr txBox="1"/>
          <p:nvPr/>
        </p:nvSpPr>
        <p:spPr>
          <a:xfrm>
            <a:off x="3448133" y="3601080"/>
            <a:ext cx="2247731" cy="83099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4800">
                <a:solidFill>
                  <a:srgbClr val="8000FF"/>
                </a:solidFill>
                <a:latin typeface="Arial"/>
                <a:ea typeface="Arial"/>
                <a:cs typeface="Arial"/>
                <a:sym typeface="Arial"/>
              </a:rPr>
              <a:t>8.89</a:t>
            </a:r>
            <a:r>
              <a:rPr lang="en-US" sz="4800">
                <a:solidFill>
                  <a:srgbClr val="8000FF"/>
                </a:solidFill>
                <a:latin typeface="Arial"/>
                <a:ea typeface="Arial"/>
                <a:cs typeface="Arial"/>
                <a:sym typeface="Arial"/>
              </a:rPr>
              <a:t>°C </a:t>
            </a:r>
            <a:endParaRPr b="1" sz="4800">
              <a:solidFill>
                <a:srgbClr val="8000FF"/>
              </a:solidFill>
              <a:latin typeface="Arial"/>
              <a:ea typeface="Arial"/>
              <a:cs typeface="Arial"/>
              <a:sym typeface="Arial"/>
            </a:endParaRPr>
          </a:p>
        </p:txBody>
      </p:sp>
      <p:sp>
        <p:nvSpPr>
          <p:cNvPr id="179" name="Google Shape;179;p11"/>
          <p:cNvSpPr txBox="1"/>
          <p:nvPr/>
        </p:nvSpPr>
        <p:spPr>
          <a:xfrm>
            <a:off x="3268479" y="5055474"/>
            <a:ext cx="2138727" cy="83099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4800">
                <a:solidFill>
                  <a:srgbClr val="8000FF"/>
                </a:solidFill>
                <a:latin typeface="Arial"/>
                <a:ea typeface="Arial"/>
                <a:cs typeface="Arial"/>
                <a:sym typeface="Arial"/>
              </a:rPr>
              <a:t>301.3</a:t>
            </a:r>
            <a:r>
              <a:rPr lang="en-US" sz="4800">
                <a:solidFill>
                  <a:srgbClr val="8000FF"/>
                </a:solidFill>
                <a:latin typeface="Arial"/>
                <a:ea typeface="Arial"/>
                <a:cs typeface="Arial"/>
                <a:sym typeface="Arial"/>
              </a:rPr>
              <a:t>K</a:t>
            </a:r>
            <a:endParaRPr b="1" sz="4800">
              <a:solidFill>
                <a:srgbClr val="8000FF"/>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83" name="Shape 183"/>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13"/>
          <p:cNvSpPr txBox="1"/>
          <p:nvPr>
            <p:ph type="title"/>
          </p:nvPr>
        </p:nvSpPr>
        <p:spPr>
          <a:xfrm>
            <a:off x="0" y="42863"/>
            <a:ext cx="9144000" cy="1003063"/>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00B0F0"/>
              </a:buClr>
              <a:buSzPts val="5400"/>
              <a:buFont typeface="Arial"/>
              <a:buNone/>
            </a:pPr>
            <a:r>
              <a:rPr b="1" lang="en-US" sz="5400">
                <a:solidFill>
                  <a:srgbClr val="00B0F0"/>
                </a:solidFill>
                <a:latin typeface="Arial"/>
                <a:ea typeface="Arial"/>
                <a:cs typeface="Arial"/>
                <a:sym typeface="Arial"/>
              </a:rPr>
              <a:t>Prefixes</a:t>
            </a:r>
            <a:endParaRPr b="1" sz="5400">
              <a:solidFill>
                <a:srgbClr val="00B0F0"/>
              </a:solidFill>
              <a:latin typeface="Arial"/>
              <a:ea typeface="Arial"/>
              <a:cs typeface="Arial"/>
              <a:sym typeface="Arial"/>
            </a:endParaRPr>
          </a:p>
        </p:txBody>
      </p:sp>
      <p:sp>
        <p:nvSpPr>
          <p:cNvPr id="189" name="Google Shape;189;p13"/>
          <p:cNvSpPr txBox="1"/>
          <p:nvPr>
            <p:ph idx="1" type="body"/>
          </p:nvPr>
        </p:nvSpPr>
        <p:spPr>
          <a:xfrm>
            <a:off x="159189" y="934713"/>
            <a:ext cx="8787103" cy="886527"/>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2000"/>
              <a:buNone/>
            </a:pPr>
            <a:r>
              <a:rPr i="1" lang="en-US" sz="2000">
                <a:latin typeface="Arial"/>
                <a:ea typeface="Arial"/>
                <a:cs typeface="Arial"/>
                <a:sym typeface="Arial"/>
              </a:rPr>
              <a:t>These prefixes are used to avoid very large or very small numbers.</a:t>
            </a:r>
            <a:endParaRPr/>
          </a:p>
          <a:p>
            <a:pPr indent="0" lvl="0" marL="0" rtl="0" algn="ctr">
              <a:spcBef>
                <a:spcPts val="400"/>
              </a:spcBef>
              <a:spcAft>
                <a:spcPts val="0"/>
              </a:spcAft>
              <a:buClr>
                <a:schemeClr val="dk1"/>
              </a:buClr>
              <a:buSzPts val="2000"/>
              <a:buNone/>
            </a:pPr>
            <a:r>
              <a:rPr i="1" lang="en-US" sz="2000">
                <a:latin typeface="Arial"/>
                <a:ea typeface="Arial"/>
                <a:cs typeface="Arial"/>
                <a:sym typeface="Arial"/>
              </a:rPr>
              <a:t>They attach to the unit name. Ex. Milligram = mg</a:t>
            </a:r>
            <a:endParaRPr/>
          </a:p>
        </p:txBody>
      </p:sp>
      <p:sp>
        <p:nvSpPr>
          <p:cNvPr id="190" name="Google Shape;190;p13"/>
          <p:cNvSpPr txBox="1"/>
          <p:nvPr/>
        </p:nvSpPr>
        <p:spPr>
          <a:xfrm>
            <a:off x="334490" y="1821240"/>
            <a:ext cx="6854825" cy="4715484"/>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chemeClr val="dk1"/>
              </a:buClr>
              <a:buSzPts val="2800"/>
              <a:buFont typeface="Arial"/>
              <a:buNone/>
            </a:pPr>
            <a:r>
              <a:rPr lang="en-US" sz="2800">
                <a:solidFill>
                  <a:schemeClr val="dk1"/>
                </a:solidFill>
                <a:latin typeface="Arial"/>
                <a:ea typeface="Arial"/>
                <a:cs typeface="Arial"/>
                <a:sym typeface="Arial"/>
              </a:rPr>
              <a:t>1 Mega (</a:t>
            </a:r>
            <a:r>
              <a:rPr b="1" lang="en-US" sz="2800">
                <a:solidFill>
                  <a:srgbClr val="7A81FF"/>
                </a:solidFill>
                <a:latin typeface="Arial"/>
                <a:ea typeface="Arial"/>
                <a:cs typeface="Arial"/>
                <a:sym typeface="Arial"/>
              </a:rPr>
              <a:t>M</a:t>
            </a:r>
            <a:r>
              <a:rPr lang="en-US" sz="2800">
                <a:solidFill>
                  <a:schemeClr val="dk1"/>
                </a:solidFill>
                <a:latin typeface="Arial"/>
                <a:ea typeface="Arial"/>
                <a:cs typeface="Arial"/>
                <a:sym typeface="Arial"/>
              </a:rPr>
              <a:t>)= 1,000,000 units      </a:t>
            </a:r>
            <a:endParaRPr/>
          </a:p>
          <a:p>
            <a:pPr indent="0" lvl="0" marL="0" marR="0" rtl="0" algn="l">
              <a:spcBef>
                <a:spcPts val="0"/>
              </a:spcBef>
              <a:spcAft>
                <a:spcPts val="0"/>
              </a:spcAft>
              <a:buClr>
                <a:schemeClr val="dk1"/>
              </a:buClr>
              <a:buSzPts val="2800"/>
              <a:buFont typeface="Arial"/>
              <a:buNone/>
            </a:pPr>
            <a:r>
              <a:rPr lang="en-US" sz="2800">
                <a:solidFill>
                  <a:schemeClr val="dk1"/>
                </a:solidFill>
                <a:latin typeface="Arial"/>
                <a:ea typeface="Arial"/>
                <a:cs typeface="Arial"/>
                <a:sym typeface="Arial"/>
              </a:rPr>
              <a:t>1 Kilo (</a:t>
            </a:r>
            <a:r>
              <a:rPr b="1" lang="en-US" sz="2800">
                <a:solidFill>
                  <a:srgbClr val="7A81FF"/>
                </a:solidFill>
                <a:latin typeface="Arial"/>
                <a:ea typeface="Arial"/>
                <a:cs typeface="Arial"/>
                <a:sym typeface="Arial"/>
              </a:rPr>
              <a:t>k</a:t>
            </a:r>
            <a:r>
              <a:rPr lang="en-US" sz="2800">
                <a:solidFill>
                  <a:schemeClr val="dk1"/>
                </a:solidFill>
                <a:latin typeface="Arial"/>
                <a:ea typeface="Arial"/>
                <a:cs typeface="Arial"/>
                <a:sym typeface="Arial"/>
              </a:rPr>
              <a:t>) =    1,000 units</a:t>
            </a:r>
            <a:endParaRPr/>
          </a:p>
          <a:p>
            <a:pPr indent="0" lvl="0" marL="0" marR="0" rtl="0" algn="l">
              <a:spcBef>
                <a:spcPts val="0"/>
              </a:spcBef>
              <a:spcAft>
                <a:spcPts val="0"/>
              </a:spcAft>
              <a:buClr>
                <a:schemeClr val="dk1"/>
              </a:buClr>
              <a:buSzPts val="2800"/>
              <a:buFont typeface="Arial"/>
              <a:buNone/>
            </a:pPr>
            <a:r>
              <a:rPr lang="en-US" sz="2800">
                <a:solidFill>
                  <a:schemeClr val="dk1"/>
                </a:solidFill>
                <a:latin typeface="Arial"/>
                <a:ea typeface="Arial"/>
                <a:cs typeface="Arial"/>
                <a:sym typeface="Arial"/>
              </a:rPr>
              <a:t>1 hecto (</a:t>
            </a:r>
            <a:r>
              <a:rPr b="1" lang="en-US" sz="2800">
                <a:solidFill>
                  <a:srgbClr val="7A81FF"/>
                </a:solidFill>
                <a:latin typeface="Arial"/>
                <a:ea typeface="Arial"/>
                <a:cs typeface="Arial"/>
                <a:sym typeface="Arial"/>
              </a:rPr>
              <a:t>h</a:t>
            </a:r>
            <a:r>
              <a:rPr lang="en-US" sz="2800">
                <a:solidFill>
                  <a:schemeClr val="dk1"/>
                </a:solidFill>
                <a:latin typeface="Arial"/>
                <a:ea typeface="Arial"/>
                <a:cs typeface="Arial"/>
                <a:sym typeface="Arial"/>
              </a:rPr>
              <a:t>) = 100 units	    </a:t>
            </a:r>
            <a:endParaRPr/>
          </a:p>
          <a:p>
            <a:pPr indent="0" lvl="0" marL="0" marR="0" rtl="0" algn="l">
              <a:spcBef>
                <a:spcPts val="0"/>
              </a:spcBef>
              <a:spcAft>
                <a:spcPts val="0"/>
              </a:spcAft>
              <a:buClr>
                <a:schemeClr val="dk1"/>
              </a:buClr>
              <a:buSzPts val="2800"/>
              <a:buFont typeface="Arial"/>
              <a:buNone/>
            </a:pPr>
            <a:r>
              <a:rPr lang="en-US" sz="2800">
                <a:solidFill>
                  <a:schemeClr val="dk1"/>
                </a:solidFill>
                <a:latin typeface="Arial"/>
                <a:ea typeface="Arial"/>
                <a:cs typeface="Arial"/>
                <a:sym typeface="Arial"/>
              </a:rPr>
              <a:t>1 deka (</a:t>
            </a:r>
            <a:r>
              <a:rPr b="1" lang="en-US" sz="2800">
                <a:solidFill>
                  <a:srgbClr val="7A81FF"/>
                </a:solidFill>
                <a:latin typeface="Arial"/>
                <a:ea typeface="Arial"/>
                <a:cs typeface="Arial"/>
                <a:sym typeface="Arial"/>
              </a:rPr>
              <a:t>da</a:t>
            </a:r>
            <a:r>
              <a:rPr lang="en-US" sz="2800">
                <a:solidFill>
                  <a:schemeClr val="dk1"/>
                </a:solidFill>
                <a:latin typeface="Arial"/>
                <a:ea typeface="Arial"/>
                <a:cs typeface="Arial"/>
                <a:sym typeface="Arial"/>
              </a:rPr>
              <a:t>) = 10 units</a:t>
            </a:r>
            <a:endParaRPr/>
          </a:p>
          <a:p>
            <a:pPr indent="0" lvl="0" marL="0" marR="0" rtl="0" algn="l">
              <a:spcBef>
                <a:spcPts val="0"/>
              </a:spcBef>
              <a:spcAft>
                <a:spcPts val="0"/>
              </a:spcAft>
              <a:buClr>
                <a:schemeClr val="dk1"/>
              </a:buClr>
              <a:buSzPts val="3200"/>
              <a:buFont typeface="Arial"/>
              <a:buNone/>
            </a:pPr>
            <a:r>
              <a:t/>
            </a:r>
            <a:endParaRPr baseline="30000" sz="3200">
              <a:solidFill>
                <a:schemeClr val="dk1"/>
              </a:solidFill>
              <a:latin typeface="Arial"/>
              <a:ea typeface="Arial"/>
              <a:cs typeface="Arial"/>
              <a:sym typeface="Arial"/>
            </a:endParaRPr>
          </a:p>
          <a:p>
            <a:pPr indent="0" lvl="0" marL="0" marR="0" rtl="0" algn="l">
              <a:spcBef>
                <a:spcPts val="0"/>
              </a:spcBef>
              <a:spcAft>
                <a:spcPts val="0"/>
              </a:spcAft>
              <a:buClr>
                <a:schemeClr val="dk1"/>
              </a:buClr>
              <a:buSzPts val="3200"/>
              <a:buFont typeface="Arial"/>
              <a:buNone/>
            </a:pPr>
            <a:r>
              <a:rPr b="1" baseline="30000" lang="en-US" sz="3200">
                <a:solidFill>
                  <a:schemeClr val="dk1"/>
                </a:solidFill>
                <a:latin typeface="Arial"/>
                <a:ea typeface="Arial"/>
                <a:cs typeface="Arial"/>
                <a:sym typeface="Arial"/>
              </a:rPr>
              <a:t>UNIT</a:t>
            </a:r>
            <a:endParaRPr/>
          </a:p>
          <a:p>
            <a:pPr indent="0" lvl="0" marL="0" marR="0" rtl="0" algn="l">
              <a:spcBef>
                <a:spcPts val="0"/>
              </a:spcBef>
              <a:spcAft>
                <a:spcPts val="0"/>
              </a:spcAft>
              <a:buClr>
                <a:schemeClr val="dk1"/>
              </a:buClr>
              <a:buSzPts val="2800"/>
              <a:buFont typeface="Arial"/>
              <a:buNone/>
            </a:pPr>
            <a:r>
              <a:rPr lang="en-US" sz="2800">
                <a:solidFill>
                  <a:schemeClr val="dk1"/>
                </a:solidFill>
                <a:latin typeface="Arial"/>
                <a:ea typeface="Arial"/>
                <a:cs typeface="Arial"/>
                <a:sym typeface="Arial"/>
              </a:rPr>
              <a:t>10 deci (</a:t>
            </a:r>
            <a:r>
              <a:rPr b="1" lang="en-US" sz="2800">
                <a:solidFill>
                  <a:srgbClr val="7A81FF"/>
                </a:solidFill>
                <a:latin typeface="Arial"/>
                <a:ea typeface="Arial"/>
                <a:cs typeface="Arial"/>
                <a:sym typeface="Arial"/>
              </a:rPr>
              <a:t>d</a:t>
            </a:r>
            <a:r>
              <a:rPr lang="en-US" sz="2800">
                <a:solidFill>
                  <a:schemeClr val="dk1"/>
                </a:solidFill>
                <a:latin typeface="Arial"/>
                <a:ea typeface="Arial"/>
                <a:cs typeface="Arial"/>
                <a:sym typeface="Arial"/>
              </a:rPr>
              <a:t>) =    1 unit  </a:t>
            </a:r>
            <a:endParaRPr/>
          </a:p>
          <a:p>
            <a:pPr indent="0" lvl="0" marL="0" marR="0" rtl="0" algn="l">
              <a:spcBef>
                <a:spcPts val="0"/>
              </a:spcBef>
              <a:spcAft>
                <a:spcPts val="0"/>
              </a:spcAft>
              <a:buClr>
                <a:schemeClr val="dk1"/>
              </a:buClr>
              <a:buSzPts val="2800"/>
              <a:buFont typeface="Arial"/>
              <a:buNone/>
            </a:pPr>
            <a:r>
              <a:rPr lang="en-US" sz="2800">
                <a:solidFill>
                  <a:schemeClr val="dk1"/>
                </a:solidFill>
                <a:latin typeface="Arial"/>
                <a:ea typeface="Arial"/>
                <a:cs typeface="Arial"/>
                <a:sym typeface="Arial"/>
              </a:rPr>
              <a:t>100 centi (</a:t>
            </a:r>
            <a:r>
              <a:rPr b="1" lang="en-US" sz="2800">
                <a:solidFill>
                  <a:srgbClr val="7A81FF"/>
                </a:solidFill>
                <a:latin typeface="Arial"/>
                <a:ea typeface="Arial"/>
                <a:cs typeface="Arial"/>
                <a:sym typeface="Arial"/>
              </a:rPr>
              <a:t>c</a:t>
            </a:r>
            <a:r>
              <a:rPr lang="en-US" sz="2800">
                <a:solidFill>
                  <a:schemeClr val="dk1"/>
                </a:solidFill>
                <a:latin typeface="Arial"/>
                <a:ea typeface="Arial"/>
                <a:cs typeface="Arial"/>
                <a:sym typeface="Arial"/>
              </a:rPr>
              <a:t>) =   1 unit</a:t>
            </a:r>
            <a:endParaRPr/>
          </a:p>
          <a:p>
            <a:pPr indent="0" lvl="0" marL="0" marR="0" rtl="0" algn="l">
              <a:spcBef>
                <a:spcPts val="0"/>
              </a:spcBef>
              <a:spcAft>
                <a:spcPts val="0"/>
              </a:spcAft>
              <a:buClr>
                <a:schemeClr val="dk1"/>
              </a:buClr>
              <a:buSzPts val="2800"/>
              <a:buFont typeface="Arial"/>
              <a:buNone/>
            </a:pPr>
            <a:r>
              <a:rPr lang="en-US" sz="2800">
                <a:solidFill>
                  <a:schemeClr val="dk1"/>
                </a:solidFill>
                <a:latin typeface="Arial"/>
                <a:ea typeface="Arial"/>
                <a:cs typeface="Arial"/>
                <a:sym typeface="Arial"/>
              </a:rPr>
              <a:t>1000 milli (</a:t>
            </a:r>
            <a:r>
              <a:rPr b="1" lang="en-US" sz="2800">
                <a:solidFill>
                  <a:srgbClr val="7A81FF"/>
                </a:solidFill>
                <a:latin typeface="Arial"/>
                <a:ea typeface="Arial"/>
                <a:cs typeface="Arial"/>
                <a:sym typeface="Arial"/>
              </a:rPr>
              <a:t>m</a:t>
            </a:r>
            <a:r>
              <a:rPr lang="en-US" sz="2800">
                <a:solidFill>
                  <a:schemeClr val="dk1"/>
                </a:solidFill>
                <a:latin typeface="Arial"/>
                <a:ea typeface="Arial"/>
                <a:cs typeface="Arial"/>
                <a:sym typeface="Arial"/>
              </a:rPr>
              <a:t>) =   1 unit</a:t>
            </a:r>
            <a:endParaRPr baseline="30000" sz="2800">
              <a:solidFill>
                <a:schemeClr val="dk1"/>
              </a:solidFill>
              <a:latin typeface="Arial"/>
              <a:ea typeface="Arial"/>
              <a:cs typeface="Arial"/>
              <a:sym typeface="Arial"/>
            </a:endParaRPr>
          </a:p>
          <a:p>
            <a:pPr indent="0" lvl="0" marL="0" marR="0" rtl="0" algn="l">
              <a:spcBef>
                <a:spcPts val="0"/>
              </a:spcBef>
              <a:spcAft>
                <a:spcPts val="0"/>
              </a:spcAft>
              <a:buClr>
                <a:schemeClr val="dk1"/>
              </a:buClr>
              <a:buSzPts val="2800"/>
              <a:buFont typeface="Arial"/>
              <a:buNone/>
            </a:pPr>
            <a:r>
              <a:rPr lang="en-US" sz="2800">
                <a:solidFill>
                  <a:schemeClr val="dk1"/>
                </a:solidFill>
                <a:latin typeface="Arial"/>
                <a:ea typeface="Arial"/>
                <a:cs typeface="Arial"/>
                <a:sym typeface="Arial"/>
              </a:rPr>
              <a:t>1,000,000 micro (</a:t>
            </a:r>
            <a:r>
              <a:rPr b="1" lang="en-US" sz="2800">
                <a:solidFill>
                  <a:srgbClr val="7A81FF"/>
                </a:solidFill>
                <a:latin typeface="Arial"/>
                <a:ea typeface="Arial"/>
                <a:cs typeface="Arial"/>
                <a:sym typeface="Arial"/>
              </a:rPr>
              <a:t>u</a:t>
            </a:r>
            <a:r>
              <a:rPr lang="en-US" sz="2800">
                <a:solidFill>
                  <a:schemeClr val="dk1"/>
                </a:solidFill>
                <a:latin typeface="Arial"/>
                <a:ea typeface="Arial"/>
                <a:cs typeface="Arial"/>
                <a:sym typeface="Arial"/>
              </a:rPr>
              <a:t>) = 1 unit</a:t>
            </a:r>
            <a:endParaRPr/>
          </a:p>
          <a:p>
            <a:pPr indent="0" lvl="0" marL="0" marR="0" rtl="0" algn="l">
              <a:spcBef>
                <a:spcPts val="0"/>
              </a:spcBef>
              <a:spcAft>
                <a:spcPts val="0"/>
              </a:spcAft>
              <a:buClr>
                <a:schemeClr val="dk1"/>
              </a:buClr>
              <a:buSzPts val="2800"/>
              <a:buFont typeface="Arial"/>
              <a:buNone/>
            </a:pPr>
            <a:r>
              <a:rPr lang="en-US" sz="2800">
                <a:solidFill>
                  <a:schemeClr val="dk1"/>
                </a:solidFill>
                <a:latin typeface="Arial"/>
                <a:ea typeface="Arial"/>
                <a:cs typeface="Arial"/>
                <a:sym typeface="Arial"/>
              </a:rPr>
              <a:t>1,000,000,000 nano (</a:t>
            </a:r>
            <a:r>
              <a:rPr b="1" lang="en-US" sz="2800">
                <a:solidFill>
                  <a:srgbClr val="7A81FF"/>
                </a:solidFill>
                <a:latin typeface="Arial"/>
                <a:ea typeface="Arial"/>
                <a:cs typeface="Arial"/>
                <a:sym typeface="Arial"/>
              </a:rPr>
              <a:t>n</a:t>
            </a:r>
            <a:r>
              <a:rPr lang="en-US" sz="2800">
                <a:solidFill>
                  <a:schemeClr val="dk1"/>
                </a:solidFill>
                <a:latin typeface="Arial"/>
                <a:ea typeface="Arial"/>
                <a:cs typeface="Arial"/>
                <a:sym typeface="Arial"/>
              </a:rPr>
              <a:t>) = 1 unit</a:t>
            </a:r>
            <a:endParaRPr/>
          </a:p>
        </p:txBody>
      </p:sp>
      <p:sp>
        <p:nvSpPr>
          <p:cNvPr id="191" name="Google Shape;191;p13"/>
          <p:cNvSpPr txBox="1"/>
          <p:nvPr/>
        </p:nvSpPr>
        <p:spPr>
          <a:xfrm>
            <a:off x="1915298" y="3692602"/>
            <a:ext cx="1720343"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0070C0"/>
                </a:solidFill>
                <a:latin typeface="Arial"/>
                <a:ea typeface="Arial"/>
                <a:cs typeface="Arial"/>
                <a:sym typeface="Arial"/>
              </a:rPr>
              <a:t>(m, g, L, s)</a:t>
            </a:r>
            <a:endParaRPr b="1" sz="2400">
              <a:solidFill>
                <a:srgbClr val="0070C0"/>
              </a:solidFill>
              <a:latin typeface="Arial"/>
              <a:ea typeface="Arial"/>
              <a:cs typeface="Arial"/>
              <a:sym typeface="Arial"/>
            </a:endParaRPr>
          </a:p>
        </p:txBody>
      </p:sp>
      <p:cxnSp>
        <p:nvCxnSpPr>
          <p:cNvPr id="192" name="Google Shape;192;p13"/>
          <p:cNvCxnSpPr/>
          <p:nvPr/>
        </p:nvCxnSpPr>
        <p:spPr>
          <a:xfrm>
            <a:off x="3635641" y="3923434"/>
            <a:ext cx="2518024" cy="0"/>
          </a:xfrm>
          <a:prstGeom prst="straightConnector1">
            <a:avLst/>
          </a:prstGeom>
          <a:noFill/>
          <a:ln cap="flat" cmpd="sng" w="38100">
            <a:solidFill>
              <a:srgbClr val="0070C0"/>
            </a:solidFill>
            <a:prstDash val="solid"/>
            <a:round/>
            <a:headEnd len="sm" w="sm" type="none"/>
            <a:tailEnd len="med" w="med" type="triangle"/>
          </a:ln>
        </p:spPr>
      </p:cxnSp>
      <p:sp>
        <p:nvSpPr>
          <p:cNvPr id="193" name="Google Shape;193;p13"/>
          <p:cNvSpPr txBox="1"/>
          <p:nvPr/>
        </p:nvSpPr>
        <p:spPr>
          <a:xfrm>
            <a:off x="6289589" y="2769272"/>
            <a:ext cx="2676563" cy="230832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2400">
                <a:solidFill>
                  <a:schemeClr val="dk1"/>
                </a:solidFill>
                <a:latin typeface="Arial"/>
                <a:ea typeface="Arial"/>
                <a:cs typeface="Arial"/>
                <a:sym typeface="Arial"/>
              </a:rPr>
              <a:t>Remember, the </a:t>
            </a:r>
            <a:r>
              <a:rPr b="1" i="1" lang="en-US" sz="2400">
                <a:solidFill>
                  <a:srgbClr val="0070C0"/>
                </a:solidFill>
                <a:latin typeface="Arial"/>
                <a:ea typeface="Arial"/>
                <a:cs typeface="Arial"/>
                <a:sym typeface="Arial"/>
              </a:rPr>
              <a:t>unit </a:t>
            </a:r>
            <a:r>
              <a:rPr i="1" lang="en-US" sz="2400">
                <a:solidFill>
                  <a:schemeClr val="dk1"/>
                </a:solidFill>
                <a:latin typeface="Arial"/>
                <a:ea typeface="Arial"/>
                <a:cs typeface="Arial"/>
                <a:sym typeface="Arial"/>
              </a:rPr>
              <a:t>is either</a:t>
            </a:r>
            <a:r>
              <a:rPr i="1" lang="en-US" sz="2400">
                <a:solidFill>
                  <a:srgbClr val="0070C0"/>
                </a:solidFill>
                <a:latin typeface="Arial"/>
                <a:ea typeface="Arial"/>
                <a:cs typeface="Arial"/>
                <a:sym typeface="Arial"/>
              </a:rPr>
              <a:t> </a:t>
            </a:r>
            <a:r>
              <a:rPr b="1" i="1" lang="en-US" sz="2400">
                <a:solidFill>
                  <a:srgbClr val="0070C0"/>
                </a:solidFill>
                <a:latin typeface="Arial"/>
                <a:ea typeface="Arial"/>
                <a:cs typeface="Arial"/>
                <a:sym typeface="Arial"/>
              </a:rPr>
              <a:t>m, L, s, </a:t>
            </a:r>
            <a:r>
              <a:rPr i="1" lang="en-US" sz="2400">
                <a:solidFill>
                  <a:schemeClr val="dk1"/>
                </a:solidFill>
                <a:latin typeface="Arial"/>
                <a:ea typeface="Arial"/>
                <a:cs typeface="Arial"/>
                <a:sym typeface="Arial"/>
              </a:rPr>
              <a:t>or</a:t>
            </a:r>
            <a:r>
              <a:rPr b="1" i="1" lang="en-US" sz="2400">
                <a:solidFill>
                  <a:srgbClr val="0070C0"/>
                </a:solidFill>
                <a:latin typeface="Arial"/>
                <a:ea typeface="Arial"/>
                <a:cs typeface="Arial"/>
                <a:sym typeface="Arial"/>
              </a:rPr>
              <a:t> g </a:t>
            </a:r>
            <a:r>
              <a:rPr i="1" lang="en-US" sz="2400">
                <a:solidFill>
                  <a:schemeClr val="dk1"/>
                </a:solidFill>
                <a:latin typeface="Arial"/>
                <a:ea typeface="Arial"/>
                <a:cs typeface="Arial"/>
                <a:sym typeface="Arial"/>
              </a:rPr>
              <a:t>depending on what you are measuring</a:t>
            </a:r>
            <a:endParaRPr i="1" sz="2400">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14"/>
          <p:cNvSpPr txBox="1"/>
          <p:nvPr>
            <p:ph type="title"/>
          </p:nvPr>
        </p:nvSpPr>
        <p:spPr>
          <a:xfrm>
            <a:off x="457200" y="0"/>
            <a:ext cx="8229600" cy="100089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00B0F0"/>
              </a:buClr>
              <a:buSzPts val="5400"/>
              <a:buFont typeface="Arial"/>
              <a:buNone/>
            </a:pPr>
            <a:r>
              <a:rPr b="1" lang="en-US" sz="5400">
                <a:solidFill>
                  <a:srgbClr val="00B0F0"/>
                </a:solidFill>
                <a:latin typeface="Arial"/>
                <a:ea typeface="Arial"/>
                <a:cs typeface="Arial"/>
                <a:sym typeface="Arial"/>
              </a:rPr>
              <a:t>Metric Conversions</a:t>
            </a:r>
            <a:endParaRPr/>
          </a:p>
        </p:txBody>
      </p:sp>
      <p:sp>
        <p:nvSpPr>
          <p:cNvPr id="199" name="Google Shape;199;p14"/>
          <p:cNvSpPr txBox="1"/>
          <p:nvPr>
            <p:ph idx="1" type="body"/>
          </p:nvPr>
        </p:nvSpPr>
        <p:spPr>
          <a:xfrm>
            <a:off x="230981" y="1000897"/>
            <a:ext cx="8682037" cy="5412260"/>
          </a:xfrm>
          <a:prstGeom prst="rect">
            <a:avLst/>
          </a:prstGeom>
          <a:noFill/>
          <a:ln>
            <a:noFill/>
          </a:ln>
        </p:spPr>
        <p:txBody>
          <a:bodyPr anchorCtr="0" anchor="t" bIns="45700" lIns="91425" spcFirstLastPara="1" rIns="91425" wrap="square" tIns="45700">
            <a:normAutofit fontScale="92500" lnSpcReduction="20000"/>
          </a:bodyPr>
          <a:lstStyle/>
          <a:p>
            <a:pPr indent="-742950" lvl="0" marL="742950" rtl="0" algn="l">
              <a:lnSpc>
                <a:spcPct val="120000"/>
              </a:lnSpc>
              <a:spcBef>
                <a:spcPts val="0"/>
              </a:spcBef>
              <a:spcAft>
                <a:spcPts val="0"/>
              </a:spcAft>
              <a:buClr>
                <a:schemeClr val="dk1"/>
              </a:buClr>
              <a:buSzPct val="100000"/>
              <a:buFont typeface="Calibri"/>
              <a:buAutoNum type="arabicPeriod"/>
            </a:pPr>
            <a:r>
              <a:rPr lang="en-US" sz="3600">
                <a:latin typeface="Arial"/>
                <a:ea typeface="Arial"/>
                <a:cs typeface="Arial"/>
                <a:sym typeface="Arial"/>
              </a:rPr>
              <a:t>Write down </a:t>
            </a:r>
            <a:r>
              <a:rPr b="1" lang="en-US" sz="3600">
                <a:solidFill>
                  <a:srgbClr val="0070C0"/>
                </a:solidFill>
                <a:latin typeface="Arial"/>
                <a:ea typeface="Arial"/>
                <a:cs typeface="Arial"/>
                <a:sym typeface="Arial"/>
              </a:rPr>
              <a:t>given number </a:t>
            </a:r>
            <a:r>
              <a:rPr lang="en-US" sz="3600">
                <a:latin typeface="Arial"/>
                <a:ea typeface="Arial"/>
                <a:cs typeface="Arial"/>
                <a:sym typeface="Arial"/>
              </a:rPr>
              <a:t>and </a:t>
            </a:r>
            <a:r>
              <a:rPr b="1" lang="en-US" sz="3600">
                <a:solidFill>
                  <a:srgbClr val="0070C0"/>
                </a:solidFill>
                <a:latin typeface="Arial"/>
                <a:ea typeface="Arial"/>
                <a:cs typeface="Arial"/>
                <a:sym typeface="Arial"/>
              </a:rPr>
              <a:t>unit</a:t>
            </a:r>
            <a:r>
              <a:rPr lang="en-US" sz="3600">
                <a:latin typeface="Arial"/>
                <a:ea typeface="Arial"/>
                <a:cs typeface="Arial"/>
                <a:sym typeface="Arial"/>
              </a:rPr>
              <a:t>.</a:t>
            </a:r>
            <a:endParaRPr/>
          </a:p>
          <a:p>
            <a:pPr indent="-742950" lvl="0" marL="742950" rtl="0" algn="l">
              <a:lnSpc>
                <a:spcPct val="120000"/>
              </a:lnSpc>
              <a:spcBef>
                <a:spcPts val="1866"/>
              </a:spcBef>
              <a:spcAft>
                <a:spcPts val="0"/>
              </a:spcAft>
              <a:buClr>
                <a:schemeClr val="dk1"/>
              </a:buClr>
              <a:buSzPct val="100000"/>
              <a:buFont typeface="Calibri"/>
              <a:buAutoNum type="arabicPeriod"/>
            </a:pPr>
            <a:r>
              <a:rPr lang="en-US" sz="3600">
                <a:latin typeface="Arial"/>
                <a:ea typeface="Arial"/>
                <a:cs typeface="Arial"/>
                <a:sym typeface="Arial"/>
              </a:rPr>
              <a:t>Draw </a:t>
            </a:r>
            <a:r>
              <a:rPr b="1" lang="en-US" sz="3600">
                <a:solidFill>
                  <a:srgbClr val="8000FF"/>
                </a:solidFill>
                <a:latin typeface="Arial"/>
                <a:ea typeface="Arial"/>
                <a:cs typeface="Arial"/>
                <a:sym typeface="Arial"/>
              </a:rPr>
              <a:t>picket fence</a:t>
            </a:r>
            <a:r>
              <a:rPr lang="en-US" sz="3600">
                <a:latin typeface="Arial"/>
                <a:ea typeface="Arial"/>
                <a:cs typeface="Arial"/>
                <a:sym typeface="Arial"/>
              </a:rPr>
              <a:t>.</a:t>
            </a:r>
            <a:endParaRPr/>
          </a:p>
          <a:p>
            <a:pPr indent="-742950" lvl="0" marL="742950" rtl="0" algn="l">
              <a:lnSpc>
                <a:spcPct val="120000"/>
              </a:lnSpc>
              <a:spcBef>
                <a:spcPts val="1866"/>
              </a:spcBef>
              <a:spcAft>
                <a:spcPts val="0"/>
              </a:spcAft>
              <a:buClr>
                <a:schemeClr val="dk1"/>
              </a:buClr>
              <a:buSzPct val="100000"/>
              <a:buFont typeface="Calibri"/>
              <a:buAutoNum type="arabicPeriod"/>
            </a:pPr>
            <a:r>
              <a:rPr lang="en-US" sz="3600">
                <a:latin typeface="Arial"/>
                <a:ea typeface="Arial"/>
                <a:cs typeface="Arial"/>
                <a:sym typeface="Arial"/>
              </a:rPr>
              <a:t>Use chart to fill in appropriate conversion factors, making sure matching units are on </a:t>
            </a:r>
            <a:r>
              <a:rPr b="1" i="1" lang="en-US" sz="3600">
                <a:solidFill>
                  <a:srgbClr val="7A81FF"/>
                </a:solidFill>
                <a:latin typeface="Arial"/>
                <a:ea typeface="Arial"/>
                <a:cs typeface="Arial"/>
                <a:sym typeface="Arial"/>
              </a:rPr>
              <a:t>opposite sides </a:t>
            </a:r>
            <a:r>
              <a:rPr lang="en-US" sz="3600">
                <a:latin typeface="Arial"/>
                <a:ea typeface="Arial"/>
                <a:cs typeface="Arial"/>
                <a:sym typeface="Arial"/>
              </a:rPr>
              <a:t>of fence to cancel out.</a:t>
            </a:r>
            <a:endParaRPr/>
          </a:p>
          <a:p>
            <a:pPr indent="-742950" lvl="0" marL="742950" rtl="0" algn="l">
              <a:lnSpc>
                <a:spcPct val="120000"/>
              </a:lnSpc>
              <a:spcBef>
                <a:spcPts val="1866"/>
              </a:spcBef>
              <a:spcAft>
                <a:spcPts val="0"/>
              </a:spcAft>
              <a:buClr>
                <a:srgbClr val="0070C0"/>
              </a:buClr>
              <a:buSzPct val="100000"/>
              <a:buFont typeface="Calibri"/>
              <a:buAutoNum type="arabicPeriod"/>
            </a:pPr>
            <a:r>
              <a:rPr b="1" lang="en-US" sz="3600">
                <a:solidFill>
                  <a:srgbClr val="0070C0"/>
                </a:solidFill>
                <a:latin typeface="Arial"/>
                <a:ea typeface="Arial"/>
                <a:cs typeface="Arial"/>
                <a:sym typeface="Arial"/>
              </a:rPr>
              <a:t>Multiply</a:t>
            </a:r>
            <a:r>
              <a:rPr lang="en-US" sz="3600">
                <a:latin typeface="Arial"/>
                <a:ea typeface="Arial"/>
                <a:cs typeface="Arial"/>
                <a:sym typeface="Arial"/>
              </a:rPr>
              <a:t> the top line across and the bottom line across. </a:t>
            </a:r>
            <a:endParaRPr sz="3600">
              <a:latin typeface="Arial"/>
              <a:ea typeface="Arial"/>
              <a:cs typeface="Arial"/>
              <a:sym typeface="Arial"/>
            </a:endParaRPr>
          </a:p>
          <a:p>
            <a:pPr indent="-742950" lvl="0" marL="742950" rtl="0" algn="l">
              <a:lnSpc>
                <a:spcPct val="120000"/>
              </a:lnSpc>
              <a:spcBef>
                <a:spcPts val="1866"/>
              </a:spcBef>
              <a:spcAft>
                <a:spcPts val="0"/>
              </a:spcAft>
              <a:buClr>
                <a:srgbClr val="8000FF"/>
              </a:buClr>
              <a:buSzPct val="100000"/>
              <a:buFont typeface="Calibri"/>
              <a:buAutoNum type="arabicPeriod"/>
            </a:pPr>
            <a:r>
              <a:rPr b="1" lang="en-US" sz="3600">
                <a:solidFill>
                  <a:srgbClr val="8000FF"/>
                </a:solidFill>
                <a:latin typeface="Arial"/>
                <a:ea typeface="Arial"/>
                <a:cs typeface="Arial"/>
                <a:sym typeface="Arial"/>
              </a:rPr>
              <a:t>Divide</a:t>
            </a:r>
            <a:r>
              <a:rPr lang="en-US" sz="3600">
                <a:latin typeface="Arial"/>
                <a:ea typeface="Arial"/>
                <a:cs typeface="Arial"/>
                <a:sym typeface="Arial"/>
              </a:rPr>
              <a:t> the top by the bottom.</a:t>
            </a:r>
            <a:endParaRPr sz="3600">
              <a:latin typeface="Arial"/>
              <a:ea typeface="Arial"/>
              <a:cs typeface="Arial"/>
              <a:sym typeface="Arial"/>
            </a:endParaRPr>
          </a:p>
          <a:p>
            <a:pPr indent="0" lvl="0" marL="0" rtl="0" algn="l">
              <a:spcBef>
                <a:spcPts val="1792"/>
              </a:spcBef>
              <a:spcAft>
                <a:spcPts val="0"/>
              </a:spcAft>
              <a:buClr>
                <a:schemeClr val="dk1"/>
              </a:buClr>
              <a:buSzPct val="100000"/>
              <a:buFont typeface="Arial"/>
              <a:buNone/>
            </a:pPr>
            <a:r>
              <a:t/>
            </a:r>
            <a:endParaRPr/>
          </a:p>
        </p:txBody>
      </p:sp>
      <p:cxnSp>
        <p:nvCxnSpPr>
          <p:cNvPr id="200" name="Google Shape;200;p14"/>
          <p:cNvCxnSpPr/>
          <p:nvPr/>
        </p:nvCxnSpPr>
        <p:spPr>
          <a:xfrm>
            <a:off x="5078627" y="2038866"/>
            <a:ext cx="3015049" cy="8237"/>
          </a:xfrm>
          <a:prstGeom prst="straightConnector1">
            <a:avLst/>
          </a:prstGeom>
          <a:noFill/>
          <a:ln cap="flat" cmpd="sng" w="25400">
            <a:solidFill>
              <a:schemeClr val="dk1"/>
            </a:solidFill>
            <a:prstDash val="solid"/>
            <a:round/>
            <a:headEnd len="sm" w="sm" type="none"/>
            <a:tailEnd len="sm" w="sm" type="none"/>
          </a:ln>
        </p:spPr>
      </p:cxnSp>
      <p:cxnSp>
        <p:nvCxnSpPr>
          <p:cNvPr id="201" name="Google Shape;201;p14"/>
          <p:cNvCxnSpPr/>
          <p:nvPr/>
        </p:nvCxnSpPr>
        <p:spPr>
          <a:xfrm flipH="1">
            <a:off x="5764428" y="1622855"/>
            <a:ext cx="4118" cy="848496"/>
          </a:xfrm>
          <a:prstGeom prst="straightConnector1">
            <a:avLst/>
          </a:prstGeom>
          <a:noFill/>
          <a:ln cap="flat" cmpd="sng" w="25400">
            <a:solidFill>
              <a:schemeClr val="dk1"/>
            </a:solidFill>
            <a:prstDash val="solid"/>
            <a:round/>
            <a:headEnd len="sm" w="sm" type="none"/>
            <a:tailEnd len="sm" w="sm" type="none"/>
          </a:ln>
        </p:spPr>
      </p:cxnSp>
      <p:cxnSp>
        <p:nvCxnSpPr>
          <p:cNvPr id="202" name="Google Shape;202;p14"/>
          <p:cNvCxnSpPr/>
          <p:nvPr/>
        </p:nvCxnSpPr>
        <p:spPr>
          <a:xfrm flipH="1">
            <a:off x="6553200" y="1622855"/>
            <a:ext cx="4118" cy="848496"/>
          </a:xfrm>
          <a:prstGeom prst="straightConnector1">
            <a:avLst/>
          </a:prstGeom>
          <a:noFill/>
          <a:ln cap="flat" cmpd="sng" w="25400">
            <a:solidFill>
              <a:schemeClr val="dk1"/>
            </a:solidFill>
            <a:prstDash val="solid"/>
            <a:round/>
            <a:headEnd len="sm" w="sm" type="none"/>
            <a:tailEnd len="sm" w="sm" type="none"/>
          </a:ln>
        </p:spPr>
      </p:cxnSp>
      <p:cxnSp>
        <p:nvCxnSpPr>
          <p:cNvPr id="203" name="Google Shape;203;p14"/>
          <p:cNvCxnSpPr/>
          <p:nvPr/>
        </p:nvCxnSpPr>
        <p:spPr>
          <a:xfrm flipH="1">
            <a:off x="7341972" y="1622855"/>
            <a:ext cx="4118" cy="848496"/>
          </a:xfrm>
          <a:prstGeom prst="straightConnector1">
            <a:avLst/>
          </a:prstGeom>
          <a:noFill/>
          <a:ln cap="flat" cmpd="sng" w="25400">
            <a:solidFill>
              <a:schemeClr val="dk1"/>
            </a:solidFill>
            <a:prstDash val="solid"/>
            <a:round/>
            <a:headEnd len="sm" w="sm" type="none"/>
            <a:tailEnd len="sm" w="sm"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9">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15"/>
          <p:cNvSpPr/>
          <p:nvPr/>
        </p:nvSpPr>
        <p:spPr>
          <a:xfrm>
            <a:off x="228601" y="1000896"/>
            <a:ext cx="8631194" cy="1353367"/>
          </a:xfrm>
          <a:prstGeom prst="rect">
            <a:avLst/>
          </a:prstGeom>
          <a:noFill/>
          <a:ln>
            <a:noFill/>
          </a:ln>
        </p:spPr>
        <p:txBody>
          <a:bodyPr anchorCtr="0" anchor="ctr" bIns="46025" lIns="92075" spcFirstLastPara="1" rIns="92075" wrap="square" tIns="46025">
            <a:noAutofit/>
          </a:bodyPr>
          <a:lstStyle/>
          <a:p>
            <a:pPr indent="0" lvl="0" marL="0" marR="0" rtl="0" algn="l">
              <a:spcBef>
                <a:spcPts val="0"/>
              </a:spcBef>
              <a:spcAft>
                <a:spcPts val="0"/>
              </a:spcAft>
              <a:buNone/>
            </a:pPr>
            <a:r>
              <a:rPr b="1" lang="en-US" sz="3600" u="sng">
                <a:solidFill>
                  <a:srgbClr val="0070C0"/>
                </a:solidFill>
                <a:latin typeface="Arial"/>
                <a:ea typeface="Arial"/>
                <a:cs typeface="Arial"/>
                <a:sym typeface="Arial"/>
              </a:rPr>
              <a:t>Example #5</a:t>
            </a:r>
            <a:r>
              <a:rPr lang="en-US" sz="3600">
                <a:solidFill>
                  <a:schemeClr val="dk1"/>
                </a:solidFill>
                <a:latin typeface="Arial"/>
                <a:ea typeface="Arial"/>
                <a:cs typeface="Arial"/>
                <a:sym typeface="Arial"/>
              </a:rPr>
              <a:t>: How many meters are there in 48 km?</a:t>
            </a:r>
            <a:endParaRPr/>
          </a:p>
        </p:txBody>
      </p:sp>
      <p:cxnSp>
        <p:nvCxnSpPr>
          <p:cNvPr id="209" name="Google Shape;209;p15"/>
          <p:cNvCxnSpPr/>
          <p:nvPr/>
        </p:nvCxnSpPr>
        <p:spPr>
          <a:xfrm>
            <a:off x="228600" y="3505200"/>
            <a:ext cx="3289300" cy="0"/>
          </a:xfrm>
          <a:prstGeom prst="straightConnector1">
            <a:avLst/>
          </a:prstGeom>
          <a:noFill/>
          <a:ln cap="flat" cmpd="sng" w="25400">
            <a:solidFill>
              <a:schemeClr val="dk1"/>
            </a:solidFill>
            <a:prstDash val="solid"/>
            <a:round/>
            <a:headEnd len="med" w="med" type="none"/>
            <a:tailEnd len="med" w="med" type="none"/>
          </a:ln>
        </p:spPr>
      </p:cxnSp>
      <p:cxnSp>
        <p:nvCxnSpPr>
          <p:cNvPr id="210" name="Google Shape;210;p15"/>
          <p:cNvCxnSpPr/>
          <p:nvPr/>
        </p:nvCxnSpPr>
        <p:spPr>
          <a:xfrm>
            <a:off x="1582738" y="2844800"/>
            <a:ext cx="0" cy="1322388"/>
          </a:xfrm>
          <a:prstGeom prst="straightConnector1">
            <a:avLst/>
          </a:prstGeom>
          <a:noFill/>
          <a:ln cap="flat" cmpd="sng" w="25400">
            <a:solidFill>
              <a:schemeClr val="dk1"/>
            </a:solidFill>
            <a:prstDash val="solid"/>
            <a:round/>
            <a:headEnd len="med" w="med" type="none"/>
            <a:tailEnd len="med" w="med" type="none"/>
          </a:ln>
        </p:spPr>
      </p:cxnSp>
      <p:cxnSp>
        <p:nvCxnSpPr>
          <p:cNvPr id="211" name="Google Shape;211;p15"/>
          <p:cNvCxnSpPr/>
          <p:nvPr/>
        </p:nvCxnSpPr>
        <p:spPr>
          <a:xfrm>
            <a:off x="3517900" y="2844800"/>
            <a:ext cx="20638" cy="1322388"/>
          </a:xfrm>
          <a:prstGeom prst="straightConnector1">
            <a:avLst/>
          </a:prstGeom>
          <a:noFill/>
          <a:ln cap="flat" cmpd="sng" w="25400">
            <a:solidFill>
              <a:schemeClr val="dk1"/>
            </a:solidFill>
            <a:prstDash val="solid"/>
            <a:round/>
            <a:headEnd len="med" w="med" type="none"/>
            <a:tailEnd len="med" w="med" type="none"/>
          </a:ln>
        </p:spPr>
      </p:cxnSp>
      <p:cxnSp>
        <p:nvCxnSpPr>
          <p:cNvPr id="212" name="Google Shape;212;p15"/>
          <p:cNvCxnSpPr/>
          <p:nvPr/>
        </p:nvCxnSpPr>
        <p:spPr>
          <a:xfrm>
            <a:off x="4246563" y="3505200"/>
            <a:ext cx="1811337" cy="0"/>
          </a:xfrm>
          <a:prstGeom prst="straightConnector1">
            <a:avLst/>
          </a:prstGeom>
          <a:noFill/>
          <a:ln cap="flat" cmpd="sng" w="25400">
            <a:solidFill>
              <a:schemeClr val="dk1"/>
            </a:solidFill>
            <a:prstDash val="solid"/>
            <a:round/>
            <a:headEnd len="med" w="med" type="none"/>
            <a:tailEnd len="med" w="med" type="none"/>
          </a:ln>
        </p:spPr>
      </p:cxnSp>
      <p:cxnSp>
        <p:nvCxnSpPr>
          <p:cNvPr id="213" name="Google Shape;213;p15"/>
          <p:cNvCxnSpPr/>
          <p:nvPr/>
        </p:nvCxnSpPr>
        <p:spPr>
          <a:xfrm>
            <a:off x="874713" y="2844800"/>
            <a:ext cx="541337" cy="660400"/>
          </a:xfrm>
          <a:prstGeom prst="straightConnector1">
            <a:avLst/>
          </a:prstGeom>
          <a:noFill/>
          <a:ln cap="flat" cmpd="sng" w="25400">
            <a:solidFill>
              <a:srgbClr val="7A81FF"/>
            </a:solidFill>
            <a:prstDash val="solid"/>
            <a:round/>
            <a:headEnd len="med" w="med" type="none"/>
            <a:tailEnd len="med" w="med" type="stealth"/>
          </a:ln>
          <a:effectLst>
            <a:outerShdw blurRad="40000" rotWithShape="0" dir="5400000" dist="20000">
              <a:srgbClr val="000000">
                <a:alpha val="37647"/>
              </a:srgbClr>
            </a:outerShdw>
          </a:effectLst>
        </p:spPr>
      </p:cxnSp>
      <p:cxnSp>
        <p:nvCxnSpPr>
          <p:cNvPr id="214" name="Google Shape;214;p15"/>
          <p:cNvCxnSpPr/>
          <p:nvPr/>
        </p:nvCxnSpPr>
        <p:spPr>
          <a:xfrm>
            <a:off x="2455863" y="3505200"/>
            <a:ext cx="666750" cy="661988"/>
          </a:xfrm>
          <a:prstGeom prst="straightConnector1">
            <a:avLst/>
          </a:prstGeom>
          <a:noFill/>
          <a:ln cap="flat" cmpd="sng" w="25400">
            <a:solidFill>
              <a:srgbClr val="7A81FF"/>
            </a:solidFill>
            <a:prstDash val="solid"/>
            <a:round/>
            <a:headEnd len="med" w="med" type="none"/>
            <a:tailEnd len="med" w="med" type="stealth"/>
          </a:ln>
          <a:effectLst>
            <a:outerShdw blurRad="40000" rotWithShape="0" dir="5400000" dist="20000">
              <a:srgbClr val="000000">
                <a:alpha val="37647"/>
              </a:srgbClr>
            </a:outerShdw>
          </a:effectLst>
        </p:spPr>
      </p:cxnSp>
      <p:sp>
        <p:nvSpPr>
          <p:cNvPr id="215" name="Google Shape;215;p15"/>
          <p:cNvSpPr txBox="1"/>
          <p:nvPr/>
        </p:nvSpPr>
        <p:spPr>
          <a:xfrm>
            <a:off x="217488" y="2798763"/>
            <a:ext cx="1301750" cy="584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200">
                <a:solidFill>
                  <a:schemeClr val="dk1"/>
                </a:solidFill>
                <a:latin typeface="Arial"/>
                <a:ea typeface="Arial"/>
                <a:cs typeface="Arial"/>
                <a:sym typeface="Arial"/>
              </a:rPr>
              <a:t>48 km</a:t>
            </a:r>
            <a:endParaRPr/>
          </a:p>
        </p:txBody>
      </p:sp>
      <p:sp>
        <p:nvSpPr>
          <p:cNvPr id="216" name="Google Shape;216;p15"/>
          <p:cNvSpPr txBox="1"/>
          <p:nvPr/>
        </p:nvSpPr>
        <p:spPr>
          <a:xfrm>
            <a:off x="1622425" y="2844800"/>
            <a:ext cx="1668463" cy="584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200">
                <a:solidFill>
                  <a:schemeClr val="dk1"/>
                </a:solidFill>
                <a:latin typeface="Arial"/>
                <a:ea typeface="Arial"/>
                <a:cs typeface="Arial"/>
                <a:sym typeface="Arial"/>
              </a:rPr>
              <a:t>1,000 m</a:t>
            </a:r>
            <a:endParaRPr/>
          </a:p>
        </p:txBody>
      </p:sp>
      <p:sp>
        <p:nvSpPr>
          <p:cNvPr id="217" name="Google Shape;217;p15"/>
          <p:cNvSpPr txBox="1"/>
          <p:nvPr/>
        </p:nvSpPr>
        <p:spPr>
          <a:xfrm>
            <a:off x="2047875" y="3582988"/>
            <a:ext cx="1074738" cy="584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200">
                <a:solidFill>
                  <a:schemeClr val="dk1"/>
                </a:solidFill>
                <a:latin typeface="Arial"/>
                <a:ea typeface="Arial"/>
                <a:cs typeface="Arial"/>
                <a:sym typeface="Arial"/>
              </a:rPr>
              <a:t>1 km</a:t>
            </a:r>
            <a:endParaRPr/>
          </a:p>
        </p:txBody>
      </p:sp>
      <p:sp>
        <p:nvSpPr>
          <p:cNvPr id="218" name="Google Shape;218;p15"/>
          <p:cNvSpPr txBox="1"/>
          <p:nvPr/>
        </p:nvSpPr>
        <p:spPr>
          <a:xfrm>
            <a:off x="4111625" y="2720181"/>
            <a:ext cx="2009775" cy="157003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3200">
                <a:solidFill>
                  <a:schemeClr val="dk1"/>
                </a:solidFill>
                <a:latin typeface="Arial"/>
                <a:ea typeface="Arial"/>
                <a:cs typeface="Arial"/>
                <a:sym typeface="Arial"/>
              </a:rPr>
              <a:t>48, 000 m</a:t>
            </a:r>
            <a:endParaRPr/>
          </a:p>
          <a:p>
            <a:pPr indent="0" lvl="0" marL="0" marR="0" rtl="0" algn="ctr">
              <a:spcBef>
                <a:spcPts val="0"/>
              </a:spcBef>
              <a:spcAft>
                <a:spcPts val="0"/>
              </a:spcAft>
              <a:buNone/>
            </a:pPr>
            <a:r>
              <a:rPr lang="en-US" sz="3200">
                <a:solidFill>
                  <a:schemeClr val="dk1"/>
                </a:solidFill>
                <a:latin typeface="Arial"/>
                <a:ea typeface="Arial"/>
                <a:cs typeface="Arial"/>
                <a:sym typeface="Arial"/>
              </a:rPr>
              <a:t>         </a:t>
            </a:r>
            <a:endParaRPr/>
          </a:p>
          <a:p>
            <a:pPr indent="0" lvl="0" marL="0" marR="0" rtl="0" algn="ctr">
              <a:spcBef>
                <a:spcPts val="0"/>
              </a:spcBef>
              <a:spcAft>
                <a:spcPts val="0"/>
              </a:spcAft>
              <a:buNone/>
            </a:pPr>
            <a:r>
              <a:rPr lang="en-US" sz="3200">
                <a:solidFill>
                  <a:schemeClr val="dk1"/>
                </a:solidFill>
                <a:latin typeface="Arial"/>
                <a:ea typeface="Arial"/>
                <a:cs typeface="Arial"/>
                <a:sym typeface="Arial"/>
              </a:rPr>
              <a:t>1</a:t>
            </a:r>
            <a:endParaRPr/>
          </a:p>
        </p:txBody>
      </p:sp>
      <p:sp>
        <p:nvSpPr>
          <p:cNvPr id="219" name="Google Shape;219;p15"/>
          <p:cNvSpPr txBox="1"/>
          <p:nvPr/>
        </p:nvSpPr>
        <p:spPr>
          <a:xfrm>
            <a:off x="3746500" y="3198813"/>
            <a:ext cx="365125" cy="4603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Arial"/>
                <a:ea typeface="Arial"/>
                <a:cs typeface="Arial"/>
                <a:sym typeface="Arial"/>
              </a:rPr>
              <a:t>=</a:t>
            </a:r>
            <a:endParaRPr/>
          </a:p>
        </p:txBody>
      </p:sp>
      <p:sp>
        <p:nvSpPr>
          <p:cNvPr id="220" name="Google Shape;220;p15"/>
          <p:cNvSpPr txBox="1"/>
          <p:nvPr/>
        </p:nvSpPr>
        <p:spPr>
          <a:xfrm>
            <a:off x="6480175" y="3275013"/>
            <a:ext cx="365125" cy="46196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Arial"/>
                <a:ea typeface="Arial"/>
                <a:cs typeface="Arial"/>
                <a:sym typeface="Arial"/>
              </a:rPr>
              <a:t>=</a:t>
            </a:r>
            <a:endParaRPr/>
          </a:p>
        </p:txBody>
      </p:sp>
      <p:sp>
        <p:nvSpPr>
          <p:cNvPr id="221" name="Google Shape;221;p15"/>
          <p:cNvSpPr txBox="1"/>
          <p:nvPr/>
        </p:nvSpPr>
        <p:spPr>
          <a:xfrm>
            <a:off x="6946900" y="3225693"/>
            <a:ext cx="2197100" cy="584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3200">
                <a:solidFill>
                  <a:schemeClr val="dk1"/>
                </a:solidFill>
                <a:latin typeface="Arial"/>
                <a:ea typeface="Arial"/>
                <a:cs typeface="Arial"/>
                <a:sym typeface="Arial"/>
              </a:rPr>
              <a:t>48,000</a:t>
            </a:r>
            <a:r>
              <a:rPr b="1" lang="en-US" sz="3200">
                <a:solidFill>
                  <a:schemeClr val="dk1"/>
                </a:solidFill>
                <a:latin typeface="Arial"/>
                <a:ea typeface="Arial"/>
                <a:cs typeface="Arial"/>
                <a:sym typeface="Arial"/>
              </a:rPr>
              <a:t> </a:t>
            </a:r>
            <a:r>
              <a:rPr lang="en-US" sz="3200">
                <a:solidFill>
                  <a:schemeClr val="dk1"/>
                </a:solidFill>
                <a:latin typeface="Arial"/>
                <a:ea typeface="Arial"/>
                <a:cs typeface="Arial"/>
                <a:sym typeface="Arial"/>
              </a:rPr>
              <a:t>m</a:t>
            </a:r>
            <a:endParaRPr/>
          </a:p>
        </p:txBody>
      </p:sp>
      <p:sp>
        <p:nvSpPr>
          <p:cNvPr id="222" name="Google Shape;222;p15"/>
          <p:cNvSpPr txBox="1"/>
          <p:nvPr/>
        </p:nvSpPr>
        <p:spPr>
          <a:xfrm>
            <a:off x="457200" y="98856"/>
            <a:ext cx="8229600" cy="1000897"/>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rgbClr val="00B0F0"/>
              </a:buClr>
              <a:buSzPts val="5400"/>
              <a:buFont typeface="Arial"/>
              <a:buNone/>
            </a:pPr>
            <a:r>
              <a:rPr b="1" lang="en-US" sz="5400">
                <a:solidFill>
                  <a:srgbClr val="00B0F0"/>
                </a:solidFill>
                <a:latin typeface="Arial"/>
                <a:ea typeface="Arial"/>
                <a:cs typeface="Arial"/>
                <a:sym typeface="Arial"/>
              </a:rPr>
              <a:t>Metric Conversions</a:t>
            </a:r>
            <a:endParaRPr b="1" sz="5400">
              <a:solidFill>
                <a:srgbClr val="00B0F0"/>
              </a:solidFill>
              <a:latin typeface="Arial"/>
              <a:ea typeface="Arial"/>
              <a:cs typeface="Arial"/>
              <a:sym typeface="Arial"/>
            </a:endParaRPr>
          </a:p>
        </p:txBody>
      </p:sp>
      <p:sp>
        <p:nvSpPr>
          <p:cNvPr id="223" name="Google Shape;223;p15"/>
          <p:cNvSpPr/>
          <p:nvPr/>
        </p:nvSpPr>
        <p:spPr>
          <a:xfrm>
            <a:off x="7005699" y="3266125"/>
            <a:ext cx="2030073" cy="543768"/>
          </a:xfrm>
          <a:prstGeom prst="frame">
            <a:avLst>
              <a:gd fmla="val 7332" name="adj1"/>
            </a:avLst>
          </a:prstGeom>
          <a:solidFill>
            <a:srgbClr val="7A81FF"/>
          </a:solidFill>
          <a:ln cap="flat" cmpd="sng" w="9525">
            <a:solidFill>
              <a:srgbClr val="7A81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2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16"/>
          <p:cNvSpPr txBox="1"/>
          <p:nvPr>
            <p:ph idx="1" type="body"/>
          </p:nvPr>
        </p:nvSpPr>
        <p:spPr>
          <a:xfrm>
            <a:off x="304800" y="1037968"/>
            <a:ext cx="8610600" cy="1227139"/>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0070C0"/>
              </a:buClr>
              <a:buSzPts val="3600"/>
              <a:buFont typeface="Arial"/>
              <a:buNone/>
            </a:pPr>
            <a:r>
              <a:rPr b="1" lang="en-US" sz="3600" u="sng">
                <a:solidFill>
                  <a:srgbClr val="0070C0"/>
                </a:solidFill>
                <a:latin typeface="Arial"/>
                <a:ea typeface="Arial"/>
                <a:cs typeface="Arial"/>
                <a:sym typeface="Arial"/>
              </a:rPr>
              <a:t>Example #6</a:t>
            </a:r>
            <a:r>
              <a:rPr lang="en-US" sz="3600">
                <a:latin typeface="Arial"/>
                <a:ea typeface="Arial"/>
                <a:cs typeface="Arial"/>
                <a:sym typeface="Arial"/>
              </a:rPr>
              <a:t>: How many kilograms are there in 45,456 mg?</a:t>
            </a:r>
            <a:endParaRPr/>
          </a:p>
          <a:p>
            <a:pPr indent="0" lvl="1" marL="457200" rtl="0" algn="l">
              <a:spcBef>
                <a:spcPts val="400"/>
              </a:spcBef>
              <a:spcAft>
                <a:spcPts val="0"/>
              </a:spcAft>
              <a:buClr>
                <a:schemeClr val="dk1"/>
              </a:buClr>
              <a:buSzPts val="2000"/>
              <a:buFont typeface="Arial"/>
              <a:buNone/>
            </a:pPr>
            <a:r>
              <a:t/>
            </a:r>
            <a:endParaRPr sz="2000">
              <a:latin typeface="Arial"/>
              <a:ea typeface="Arial"/>
              <a:cs typeface="Arial"/>
              <a:sym typeface="Arial"/>
            </a:endParaRPr>
          </a:p>
        </p:txBody>
      </p:sp>
      <p:sp>
        <p:nvSpPr>
          <p:cNvPr id="229" name="Google Shape;229;p16"/>
          <p:cNvSpPr txBox="1"/>
          <p:nvPr/>
        </p:nvSpPr>
        <p:spPr>
          <a:xfrm>
            <a:off x="379750" y="2882900"/>
            <a:ext cx="1885453"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Arial"/>
                <a:ea typeface="Arial"/>
                <a:cs typeface="Arial"/>
                <a:sym typeface="Arial"/>
              </a:rPr>
              <a:t>45,456 mg</a:t>
            </a:r>
            <a:endParaRPr/>
          </a:p>
        </p:txBody>
      </p:sp>
      <p:cxnSp>
        <p:nvCxnSpPr>
          <p:cNvPr id="230" name="Google Shape;230;p16"/>
          <p:cNvCxnSpPr/>
          <p:nvPr/>
        </p:nvCxnSpPr>
        <p:spPr>
          <a:xfrm>
            <a:off x="2560638" y="2882900"/>
            <a:ext cx="0" cy="1011238"/>
          </a:xfrm>
          <a:prstGeom prst="straightConnector1">
            <a:avLst/>
          </a:prstGeom>
          <a:noFill/>
          <a:ln cap="flat" cmpd="sng" w="25400">
            <a:solidFill>
              <a:schemeClr val="dk1"/>
            </a:solidFill>
            <a:prstDash val="solid"/>
            <a:round/>
            <a:headEnd len="med" w="med" type="none"/>
            <a:tailEnd len="med" w="med" type="none"/>
          </a:ln>
        </p:spPr>
      </p:cxnSp>
      <p:cxnSp>
        <p:nvCxnSpPr>
          <p:cNvPr id="231" name="Google Shape;231;p16"/>
          <p:cNvCxnSpPr/>
          <p:nvPr/>
        </p:nvCxnSpPr>
        <p:spPr>
          <a:xfrm>
            <a:off x="304800" y="3405188"/>
            <a:ext cx="6523038" cy="0"/>
          </a:xfrm>
          <a:prstGeom prst="straightConnector1">
            <a:avLst/>
          </a:prstGeom>
          <a:noFill/>
          <a:ln cap="flat" cmpd="sng" w="25400">
            <a:solidFill>
              <a:schemeClr val="dk1"/>
            </a:solidFill>
            <a:prstDash val="solid"/>
            <a:round/>
            <a:headEnd len="med" w="med" type="none"/>
            <a:tailEnd len="med" w="med" type="none"/>
          </a:ln>
        </p:spPr>
      </p:cxnSp>
      <p:cxnSp>
        <p:nvCxnSpPr>
          <p:cNvPr id="232" name="Google Shape;232;p16"/>
          <p:cNvCxnSpPr/>
          <p:nvPr/>
        </p:nvCxnSpPr>
        <p:spPr>
          <a:xfrm>
            <a:off x="4641850" y="2882900"/>
            <a:ext cx="0" cy="1011238"/>
          </a:xfrm>
          <a:prstGeom prst="straightConnector1">
            <a:avLst/>
          </a:prstGeom>
          <a:noFill/>
          <a:ln cap="flat" cmpd="sng" w="25400">
            <a:solidFill>
              <a:schemeClr val="dk1"/>
            </a:solidFill>
            <a:prstDash val="solid"/>
            <a:round/>
            <a:headEnd len="med" w="med" type="none"/>
            <a:tailEnd len="med" w="med" type="none"/>
          </a:ln>
        </p:spPr>
      </p:cxnSp>
      <p:cxnSp>
        <p:nvCxnSpPr>
          <p:cNvPr id="233" name="Google Shape;233;p16"/>
          <p:cNvCxnSpPr/>
          <p:nvPr/>
        </p:nvCxnSpPr>
        <p:spPr>
          <a:xfrm>
            <a:off x="6827838" y="2882900"/>
            <a:ext cx="0" cy="1011238"/>
          </a:xfrm>
          <a:prstGeom prst="straightConnector1">
            <a:avLst/>
          </a:prstGeom>
          <a:noFill/>
          <a:ln cap="flat" cmpd="sng" w="25400">
            <a:solidFill>
              <a:schemeClr val="dk1"/>
            </a:solidFill>
            <a:prstDash val="solid"/>
            <a:round/>
            <a:headEnd len="med" w="med" type="none"/>
            <a:tailEnd len="med" w="med" type="none"/>
          </a:ln>
        </p:spPr>
      </p:cxnSp>
      <p:sp>
        <p:nvSpPr>
          <p:cNvPr id="234" name="Google Shape;234;p16"/>
          <p:cNvSpPr txBox="1"/>
          <p:nvPr/>
        </p:nvSpPr>
        <p:spPr>
          <a:xfrm>
            <a:off x="3244850" y="2849563"/>
            <a:ext cx="684213" cy="523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Arial"/>
                <a:ea typeface="Arial"/>
                <a:cs typeface="Arial"/>
                <a:sym typeface="Arial"/>
              </a:rPr>
              <a:t>1 g</a:t>
            </a:r>
            <a:endParaRPr/>
          </a:p>
        </p:txBody>
      </p:sp>
      <p:sp>
        <p:nvSpPr>
          <p:cNvPr id="235" name="Google Shape;235;p16"/>
          <p:cNvSpPr txBox="1"/>
          <p:nvPr/>
        </p:nvSpPr>
        <p:spPr>
          <a:xfrm>
            <a:off x="2951163" y="3454400"/>
            <a:ext cx="1581150" cy="523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Arial"/>
                <a:ea typeface="Arial"/>
                <a:cs typeface="Arial"/>
                <a:sym typeface="Arial"/>
              </a:rPr>
              <a:t>1000 mg</a:t>
            </a:r>
            <a:endParaRPr/>
          </a:p>
        </p:txBody>
      </p:sp>
      <p:sp>
        <p:nvSpPr>
          <p:cNvPr id="236" name="Google Shape;236;p16"/>
          <p:cNvSpPr txBox="1"/>
          <p:nvPr/>
        </p:nvSpPr>
        <p:spPr>
          <a:xfrm>
            <a:off x="5278438" y="2773363"/>
            <a:ext cx="863600" cy="52228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Arial"/>
                <a:ea typeface="Arial"/>
                <a:cs typeface="Arial"/>
                <a:sym typeface="Arial"/>
              </a:rPr>
              <a:t>1 kg</a:t>
            </a:r>
            <a:endParaRPr/>
          </a:p>
        </p:txBody>
      </p:sp>
      <p:sp>
        <p:nvSpPr>
          <p:cNvPr id="237" name="Google Shape;237;p16"/>
          <p:cNvSpPr txBox="1"/>
          <p:nvPr/>
        </p:nvSpPr>
        <p:spPr>
          <a:xfrm>
            <a:off x="5013325" y="3373438"/>
            <a:ext cx="1282700" cy="52228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Arial"/>
                <a:ea typeface="Arial"/>
                <a:cs typeface="Arial"/>
                <a:sym typeface="Arial"/>
              </a:rPr>
              <a:t>1000 g</a:t>
            </a:r>
            <a:endParaRPr/>
          </a:p>
        </p:txBody>
      </p:sp>
      <p:sp>
        <p:nvSpPr>
          <p:cNvPr id="238" name="Google Shape;238;p16"/>
          <p:cNvSpPr txBox="1"/>
          <p:nvPr/>
        </p:nvSpPr>
        <p:spPr>
          <a:xfrm>
            <a:off x="7556500" y="3111500"/>
            <a:ext cx="395288" cy="523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Arial"/>
                <a:ea typeface="Arial"/>
                <a:cs typeface="Arial"/>
                <a:sym typeface="Arial"/>
              </a:rPr>
              <a:t>=</a:t>
            </a:r>
            <a:endParaRPr/>
          </a:p>
        </p:txBody>
      </p:sp>
      <p:cxnSp>
        <p:nvCxnSpPr>
          <p:cNvPr id="239" name="Google Shape;239;p16"/>
          <p:cNvCxnSpPr/>
          <p:nvPr/>
        </p:nvCxnSpPr>
        <p:spPr>
          <a:xfrm>
            <a:off x="1270000" y="4933950"/>
            <a:ext cx="1974850" cy="0"/>
          </a:xfrm>
          <a:prstGeom prst="straightConnector1">
            <a:avLst/>
          </a:prstGeom>
          <a:noFill/>
          <a:ln cap="flat" cmpd="sng" w="25400">
            <a:solidFill>
              <a:schemeClr val="dk1"/>
            </a:solidFill>
            <a:prstDash val="solid"/>
            <a:round/>
            <a:headEnd len="med" w="med" type="none"/>
            <a:tailEnd len="med" w="med" type="none"/>
          </a:ln>
        </p:spPr>
      </p:cxnSp>
      <p:sp>
        <p:nvSpPr>
          <p:cNvPr id="240" name="Google Shape;240;p16"/>
          <p:cNvSpPr txBox="1"/>
          <p:nvPr/>
        </p:nvSpPr>
        <p:spPr>
          <a:xfrm>
            <a:off x="1517650" y="4414838"/>
            <a:ext cx="1762125" cy="523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Arial"/>
                <a:ea typeface="Arial"/>
                <a:cs typeface="Arial"/>
                <a:sym typeface="Arial"/>
              </a:rPr>
              <a:t>45,456 kg</a:t>
            </a:r>
            <a:endParaRPr/>
          </a:p>
        </p:txBody>
      </p:sp>
      <p:cxnSp>
        <p:nvCxnSpPr>
          <p:cNvPr id="241" name="Google Shape;241;p16"/>
          <p:cNvCxnSpPr/>
          <p:nvPr/>
        </p:nvCxnSpPr>
        <p:spPr>
          <a:xfrm>
            <a:off x="1720764" y="2882900"/>
            <a:ext cx="536575" cy="490538"/>
          </a:xfrm>
          <a:prstGeom prst="straightConnector1">
            <a:avLst/>
          </a:prstGeom>
          <a:noFill/>
          <a:ln cap="flat" cmpd="sng" w="25400">
            <a:solidFill>
              <a:srgbClr val="7A81FF"/>
            </a:solidFill>
            <a:prstDash val="solid"/>
            <a:round/>
            <a:headEnd len="med" w="med" type="none"/>
            <a:tailEnd len="med" w="med" type="stealth"/>
          </a:ln>
          <a:effectLst>
            <a:outerShdw blurRad="40000" rotWithShape="0" dir="5400000" dist="20000">
              <a:srgbClr val="000000">
                <a:alpha val="37647"/>
              </a:srgbClr>
            </a:outerShdw>
          </a:effectLst>
        </p:spPr>
      </p:cxnSp>
      <p:cxnSp>
        <p:nvCxnSpPr>
          <p:cNvPr id="242" name="Google Shape;242;p16"/>
          <p:cNvCxnSpPr/>
          <p:nvPr/>
        </p:nvCxnSpPr>
        <p:spPr>
          <a:xfrm>
            <a:off x="3962314" y="3454400"/>
            <a:ext cx="346247" cy="503494"/>
          </a:xfrm>
          <a:prstGeom prst="straightConnector1">
            <a:avLst/>
          </a:prstGeom>
          <a:noFill/>
          <a:ln cap="flat" cmpd="sng" w="25400">
            <a:solidFill>
              <a:srgbClr val="7A81FF"/>
            </a:solidFill>
            <a:prstDash val="solid"/>
            <a:round/>
            <a:headEnd len="med" w="med" type="none"/>
            <a:tailEnd len="med" w="med" type="stealth"/>
          </a:ln>
          <a:effectLst>
            <a:outerShdw blurRad="40000" rotWithShape="0" dir="5400000" dist="20000">
              <a:srgbClr val="000000">
                <a:alpha val="37647"/>
              </a:srgbClr>
            </a:outerShdw>
          </a:effectLst>
        </p:spPr>
      </p:cxnSp>
      <p:cxnSp>
        <p:nvCxnSpPr>
          <p:cNvPr id="243" name="Google Shape;243;p16"/>
          <p:cNvCxnSpPr/>
          <p:nvPr/>
        </p:nvCxnSpPr>
        <p:spPr>
          <a:xfrm>
            <a:off x="3600364" y="2932113"/>
            <a:ext cx="506413" cy="522287"/>
          </a:xfrm>
          <a:prstGeom prst="straightConnector1">
            <a:avLst/>
          </a:prstGeom>
          <a:noFill/>
          <a:ln cap="flat" cmpd="sng" w="25400">
            <a:solidFill>
              <a:srgbClr val="7A81FF"/>
            </a:solidFill>
            <a:prstDash val="solid"/>
            <a:round/>
            <a:headEnd len="med" w="med" type="none"/>
            <a:tailEnd len="med" w="med" type="stealth"/>
          </a:ln>
          <a:effectLst>
            <a:outerShdw blurRad="40000" rotWithShape="0" dir="5400000" dist="20000">
              <a:srgbClr val="000000">
                <a:alpha val="37647"/>
              </a:srgbClr>
            </a:outerShdw>
          </a:effectLst>
        </p:spPr>
      </p:cxnSp>
      <p:cxnSp>
        <p:nvCxnSpPr>
          <p:cNvPr id="244" name="Google Shape;244;p16"/>
          <p:cNvCxnSpPr/>
          <p:nvPr/>
        </p:nvCxnSpPr>
        <p:spPr>
          <a:xfrm>
            <a:off x="5862552" y="3405188"/>
            <a:ext cx="404812" cy="488950"/>
          </a:xfrm>
          <a:prstGeom prst="straightConnector1">
            <a:avLst/>
          </a:prstGeom>
          <a:noFill/>
          <a:ln cap="flat" cmpd="sng" w="25400">
            <a:solidFill>
              <a:srgbClr val="7A81FF"/>
            </a:solidFill>
            <a:prstDash val="solid"/>
            <a:round/>
            <a:headEnd len="med" w="med" type="none"/>
            <a:tailEnd len="med" w="med" type="stealth"/>
          </a:ln>
          <a:effectLst>
            <a:outerShdw blurRad="40000" rotWithShape="0" dir="5400000" dist="20000">
              <a:srgbClr val="000000">
                <a:alpha val="37647"/>
              </a:srgbClr>
            </a:outerShdw>
          </a:effectLst>
        </p:spPr>
      </p:cxnSp>
      <p:sp>
        <p:nvSpPr>
          <p:cNvPr id="245" name="Google Shape;245;p16"/>
          <p:cNvSpPr txBox="1"/>
          <p:nvPr/>
        </p:nvSpPr>
        <p:spPr>
          <a:xfrm>
            <a:off x="1428750" y="4967288"/>
            <a:ext cx="1782763" cy="523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Arial"/>
                <a:ea typeface="Arial"/>
                <a:cs typeface="Arial"/>
                <a:sym typeface="Arial"/>
              </a:rPr>
              <a:t>1,000,000</a:t>
            </a:r>
            <a:endParaRPr/>
          </a:p>
        </p:txBody>
      </p:sp>
      <p:sp>
        <p:nvSpPr>
          <p:cNvPr id="246" name="Google Shape;246;p16"/>
          <p:cNvSpPr txBox="1"/>
          <p:nvPr/>
        </p:nvSpPr>
        <p:spPr>
          <a:xfrm>
            <a:off x="3741738" y="4675188"/>
            <a:ext cx="393700" cy="523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Arial"/>
                <a:ea typeface="Arial"/>
                <a:cs typeface="Arial"/>
                <a:sym typeface="Arial"/>
              </a:rPr>
              <a:t>=</a:t>
            </a:r>
            <a:endParaRPr/>
          </a:p>
        </p:txBody>
      </p:sp>
      <p:sp>
        <p:nvSpPr>
          <p:cNvPr id="247" name="Google Shape;247;p16"/>
          <p:cNvSpPr txBox="1"/>
          <p:nvPr/>
        </p:nvSpPr>
        <p:spPr>
          <a:xfrm>
            <a:off x="4662488" y="4673600"/>
            <a:ext cx="2894012" cy="584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3200">
                <a:solidFill>
                  <a:schemeClr val="dk1"/>
                </a:solidFill>
                <a:latin typeface="Arial"/>
                <a:ea typeface="Arial"/>
                <a:cs typeface="Arial"/>
                <a:sym typeface="Arial"/>
              </a:rPr>
              <a:t>.045456 kg</a:t>
            </a:r>
            <a:endParaRPr/>
          </a:p>
        </p:txBody>
      </p:sp>
      <p:sp>
        <p:nvSpPr>
          <p:cNvPr id="248" name="Google Shape;248;p16"/>
          <p:cNvSpPr txBox="1"/>
          <p:nvPr/>
        </p:nvSpPr>
        <p:spPr>
          <a:xfrm>
            <a:off x="457200" y="98856"/>
            <a:ext cx="8229600" cy="1000897"/>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rgbClr val="00B0F0"/>
              </a:buClr>
              <a:buSzPts val="5400"/>
              <a:buFont typeface="Arial"/>
              <a:buNone/>
            </a:pPr>
            <a:r>
              <a:rPr b="1" lang="en-US" sz="5400">
                <a:solidFill>
                  <a:srgbClr val="00B0F0"/>
                </a:solidFill>
                <a:latin typeface="Arial"/>
                <a:ea typeface="Arial"/>
                <a:cs typeface="Arial"/>
                <a:sym typeface="Arial"/>
              </a:rPr>
              <a:t>Metric Conversions</a:t>
            </a:r>
            <a:endParaRPr b="1" sz="5400">
              <a:solidFill>
                <a:srgbClr val="00B0F0"/>
              </a:solidFill>
              <a:latin typeface="Arial"/>
              <a:ea typeface="Arial"/>
              <a:cs typeface="Arial"/>
              <a:sym typeface="Arial"/>
            </a:endParaRPr>
          </a:p>
        </p:txBody>
      </p:sp>
      <p:sp>
        <p:nvSpPr>
          <p:cNvPr id="249" name="Google Shape;249;p16"/>
          <p:cNvSpPr/>
          <p:nvPr/>
        </p:nvSpPr>
        <p:spPr>
          <a:xfrm>
            <a:off x="5013325" y="4694210"/>
            <a:ext cx="2190664" cy="563590"/>
          </a:xfrm>
          <a:prstGeom prst="frame">
            <a:avLst>
              <a:gd fmla="val 7332" name="adj1"/>
            </a:avLst>
          </a:prstGeom>
          <a:solidFill>
            <a:srgbClr val="7A81FF"/>
          </a:solidFill>
          <a:ln cap="flat" cmpd="sng" w="9525">
            <a:solidFill>
              <a:srgbClr val="7A81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4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17"/>
          <p:cNvSpPr txBox="1"/>
          <p:nvPr>
            <p:ph type="title"/>
          </p:nvPr>
        </p:nvSpPr>
        <p:spPr>
          <a:xfrm>
            <a:off x="457200" y="108434"/>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00B0F0"/>
              </a:buClr>
              <a:buSzPts val="5400"/>
              <a:buFont typeface="Arial"/>
              <a:buNone/>
            </a:pPr>
            <a:r>
              <a:rPr b="1" lang="en-US" sz="5400">
                <a:solidFill>
                  <a:srgbClr val="00B0F0"/>
                </a:solidFill>
                <a:latin typeface="Arial"/>
                <a:ea typeface="Arial"/>
                <a:cs typeface="Arial"/>
                <a:sym typeface="Arial"/>
              </a:rPr>
              <a:t>Practice Time!</a:t>
            </a:r>
            <a:endParaRPr/>
          </a:p>
        </p:txBody>
      </p:sp>
      <p:sp>
        <p:nvSpPr>
          <p:cNvPr id="256" name="Google Shape;256;p17"/>
          <p:cNvSpPr txBox="1"/>
          <p:nvPr>
            <p:ph idx="1" type="body"/>
          </p:nvPr>
        </p:nvSpPr>
        <p:spPr>
          <a:xfrm>
            <a:off x="223043" y="1510932"/>
            <a:ext cx="8229600" cy="4525963"/>
          </a:xfrm>
          <a:prstGeom prst="rect">
            <a:avLst/>
          </a:prstGeom>
          <a:noFill/>
          <a:ln>
            <a:noFill/>
          </a:ln>
        </p:spPr>
        <p:txBody>
          <a:bodyPr anchorCtr="0" anchor="t" bIns="45700" lIns="91425" spcFirstLastPara="1" rIns="91425" wrap="square" tIns="45700">
            <a:normAutofit/>
          </a:bodyPr>
          <a:lstStyle/>
          <a:p>
            <a:pPr indent="-914400" lvl="0" marL="914400" rtl="0" algn="l">
              <a:lnSpc>
                <a:spcPct val="90000"/>
              </a:lnSpc>
              <a:spcBef>
                <a:spcPts val="0"/>
              </a:spcBef>
              <a:spcAft>
                <a:spcPts val="0"/>
              </a:spcAft>
              <a:buClr>
                <a:schemeClr val="dk1"/>
              </a:buClr>
              <a:buSzPts val="4400"/>
              <a:buFont typeface="Calibri"/>
              <a:buAutoNum type="arabicPeriod"/>
            </a:pPr>
            <a:r>
              <a:rPr lang="en-US" sz="4400">
                <a:latin typeface="Arial"/>
                <a:ea typeface="Arial"/>
                <a:cs typeface="Arial"/>
                <a:sym typeface="Arial"/>
              </a:rPr>
              <a:t>Convert 6.1 ks to s.</a:t>
            </a:r>
            <a:endParaRPr sz="4400">
              <a:latin typeface="Arial"/>
              <a:ea typeface="Arial"/>
              <a:cs typeface="Arial"/>
              <a:sym typeface="Arial"/>
            </a:endParaRPr>
          </a:p>
          <a:p>
            <a:pPr indent="-635000" lvl="0" marL="914400" rtl="0" algn="l">
              <a:lnSpc>
                <a:spcPct val="90000"/>
              </a:lnSpc>
              <a:spcBef>
                <a:spcPts val="880"/>
              </a:spcBef>
              <a:spcAft>
                <a:spcPts val="0"/>
              </a:spcAft>
              <a:buClr>
                <a:schemeClr val="dk1"/>
              </a:buClr>
              <a:buSzPts val="4400"/>
              <a:buFont typeface="Calibri"/>
              <a:buNone/>
            </a:pPr>
            <a:r>
              <a:t/>
            </a:r>
            <a:endParaRPr sz="4400">
              <a:latin typeface="Arial"/>
              <a:ea typeface="Arial"/>
              <a:cs typeface="Arial"/>
              <a:sym typeface="Arial"/>
            </a:endParaRPr>
          </a:p>
          <a:p>
            <a:pPr indent="-914400" lvl="0" marL="914400" rtl="0" algn="l">
              <a:lnSpc>
                <a:spcPct val="90000"/>
              </a:lnSpc>
              <a:spcBef>
                <a:spcPts val="880"/>
              </a:spcBef>
              <a:spcAft>
                <a:spcPts val="0"/>
              </a:spcAft>
              <a:buClr>
                <a:schemeClr val="dk1"/>
              </a:buClr>
              <a:buSzPts val="4400"/>
              <a:buFont typeface="Calibri"/>
              <a:buAutoNum type="arabicPeriod"/>
            </a:pPr>
            <a:r>
              <a:rPr lang="en-US" sz="4400">
                <a:latin typeface="Arial"/>
                <a:ea typeface="Arial"/>
                <a:cs typeface="Arial"/>
                <a:sym typeface="Arial"/>
              </a:rPr>
              <a:t>Convert 0.859 mg to cg.</a:t>
            </a:r>
            <a:endParaRPr sz="4400">
              <a:latin typeface="Arial"/>
              <a:ea typeface="Arial"/>
              <a:cs typeface="Arial"/>
              <a:sym typeface="Arial"/>
            </a:endParaRPr>
          </a:p>
          <a:p>
            <a:pPr indent="-635000" lvl="0" marL="914400" rtl="0" algn="l">
              <a:lnSpc>
                <a:spcPct val="90000"/>
              </a:lnSpc>
              <a:spcBef>
                <a:spcPts val="880"/>
              </a:spcBef>
              <a:spcAft>
                <a:spcPts val="0"/>
              </a:spcAft>
              <a:buClr>
                <a:schemeClr val="dk1"/>
              </a:buClr>
              <a:buSzPts val="4400"/>
              <a:buFont typeface="Calibri"/>
              <a:buNone/>
            </a:pPr>
            <a:r>
              <a:t/>
            </a:r>
            <a:endParaRPr sz="4400">
              <a:latin typeface="Arial"/>
              <a:ea typeface="Arial"/>
              <a:cs typeface="Arial"/>
              <a:sym typeface="Arial"/>
            </a:endParaRPr>
          </a:p>
          <a:p>
            <a:pPr indent="-914400" lvl="0" marL="914400" rtl="0" algn="l">
              <a:lnSpc>
                <a:spcPct val="90000"/>
              </a:lnSpc>
              <a:spcBef>
                <a:spcPts val="880"/>
              </a:spcBef>
              <a:spcAft>
                <a:spcPts val="0"/>
              </a:spcAft>
              <a:buClr>
                <a:schemeClr val="dk1"/>
              </a:buClr>
              <a:buSzPts val="4400"/>
              <a:buFont typeface="Calibri"/>
              <a:buAutoNum type="arabicPeriod"/>
            </a:pPr>
            <a:r>
              <a:rPr lang="en-US" sz="4400">
                <a:latin typeface="Arial"/>
                <a:ea typeface="Arial"/>
                <a:cs typeface="Arial"/>
                <a:sym typeface="Arial"/>
              </a:rPr>
              <a:t>Convert 65.4 m to mm.</a:t>
            </a:r>
            <a:endParaRPr sz="4400">
              <a:latin typeface="Arial"/>
              <a:ea typeface="Arial"/>
              <a:cs typeface="Arial"/>
              <a:sym typeface="Arial"/>
            </a:endParaRPr>
          </a:p>
          <a:p>
            <a:pPr indent="-234950" lvl="0" marL="514350" rtl="0" algn="l">
              <a:spcBef>
                <a:spcPts val="880"/>
              </a:spcBef>
              <a:spcAft>
                <a:spcPts val="0"/>
              </a:spcAft>
              <a:buClr>
                <a:schemeClr val="dk1"/>
              </a:buClr>
              <a:buSzPts val="4400"/>
              <a:buFont typeface="Calibri"/>
              <a:buNone/>
            </a:pPr>
            <a:r>
              <a:t/>
            </a:r>
            <a:endParaRPr sz="4400">
              <a:latin typeface="Arial"/>
              <a:ea typeface="Arial"/>
              <a:cs typeface="Arial"/>
              <a:sym typeface="Arial"/>
            </a:endParaRPr>
          </a:p>
        </p:txBody>
      </p:sp>
      <p:sp>
        <p:nvSpPr>
          <p:cNvPr id="257" name="Google Shape;257;p17"/>
          <p:cNvSpPr txBox="1"/>
          <p:nvPr/>
        </p:nvSpPr>
        <p:spPr>
          <a:xfrm>
            <a:off x="3148253" y="2158805"/>
            <a:ext cx="2379177" cy="83099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4800">
                <a:solidFill>
                  <a:srgbClr val="8000FF"/>
                </a:solidFill>
                <a:latin typeface="Arial"/>
                <a:ea typeface="Arial"/>
                <a:cs typeface="Arial"/>
                <a:sym typeface="Arial"/>
              </a:rPr>
              <a:t>6,100 </a:t>
            </a:r>
            <a:r>
              <a:rPr lang="en-US" sz="4800">
                <a:solidFill>
                  <a:srgbClr val="8000FF"/>
                </a:solidFill>
                <a:latin typeface="Arial"/>
                <a:ea typeface="Arial"/>
                <a:cs typeface="Arial"/>
                <a:sym typeface="Arial"/>
              </a:rPr>
              <a:t>s </a:t>
            </a:r>
            <a:endParaRPr b="1" sz="4800">
              <a:solidFill>
                <a:srgbClr val="8000FF"/>
              </a:solidFill>
              <a:latin typeface="Arial"/>
              <a:ea typeface="Arial"/>
              <a:cs typeface="Arial"/>
              <a:sym typeface="Arial"/>
            </a:endParaRPr>
          </a:p>
        </p:txBody>
      </p:sp>
      <p:sp>
        <p:nvSpPr>
          <p:cNvPr id="258" name="Google Shape;258;p17"/>
          <p:cNvSpPr txBox="1"/>
          <p:nvPr/>
        </p:nvSpPr>
        <p:spPr>
          <a:xfrm>
            <a:off x="2805209" y="3654820"/>
            <a:ext cx="3065263" cy="83099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4800">
                <a:solidFill>
                  <a:srgbClr val="8000FF"/>
                </a:solidFill>
                <a:latin typeface="Arial"/>
                <a:ea typeface="Arial"/>
                <a:cs typeface="Arial"/>
                <a:sym typeface="Arial"/>
              </a:rPr>
              <a:t>0.0859 </a:t>
            </a:r>
            <a:r>
              <a:rPr lang="en-US" sz="4800">
                <a:solidFill>
                  <a:srgbClr val="8000FF"/>
                </a:solidFill>
                <a:latin typeface="Arial"/>
                <a:ea typeface="Arial"/>
                <a:cs typeface="Arial"/>
                <a:sym typeface="Arial"/>
              </a:rPr>
              <a:t>cg </a:t>
            </a:r>
            <a:endParaRPr b="1" sz="4800">
              <a:solidFill>
                <a:srgbClr val="8000FF"/>
              </a:solidFill>
              <a:latin typeface="Arial"/>
              <a:ea typeface="Arial"/>
              <a:cs typeface="Arial"/>
              <a:sym typeface="Arial"/>
            </a:endParaRPr>
          </a:p>
        </p:txBody>
      </p:sp>
      <p:sp>
        <p:nvSpPr>
          <p:cNvPr id="259" name="Google Shape;259;p17"/>
          <p:cNvSpPr txBox="1"/>
          <p:nvPr/>
        </p:nvSpPr>
        <p:spPr>
          <a:xfrm>
            <a:off x="2703418" y="5122909"/>
            <a:ext cx="3268844" cy="83099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4800">
                <a:solidFill>
                  <a:srgbClr val="8000FF"/>
                </a:solidFill>
                <a:latin typeface="Arial"/>
                <a:ea typeface="Arial"/>
                <a:cs typeface="Arial"/>
                <a:sym typeface="Arial"/>
              </a:rPr>
              <a:t>65,400 </a:t>
            </a:r>
            <a:r>
              <a:rPr lang="en-US" sz="4800">
                <a:solidFill>
                  <a:srgbClr val="8000FF"/>
                </a:solidFill>
                <a:latin typeface="Arial"/>
                <a:ea typeface="Arial"/>
                <a:cs typeface="Arial"/>
                <a:sym typeface="Arial"/>
              </a:rPr>
              <a:t>mm</a:t>
            </a:r>
            <a:endParaRPr b="1" sz="4800">
              <a:solidFill>
                <a:srgbClr val="8000FF"/>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63" name="Shape 263"/>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2017-04-10T13:29:41Z</dcterms:created>
  <dc:creator>Rebecca Joyner</dc:creator>
</cp:coreProperties>
</file>