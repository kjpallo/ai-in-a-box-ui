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07" r:id="rId2"/>
    <p:sldId id="379" r:id="rId3"/>
    <p:sldId id="405" r:id="rId4"/>
    <p:sldId id="406" r:id="rId5"/>
    <p:sldId id="407" r:id="rId6"/>
    <p:sldId id="409" r:id="rId7"/>
    <p:sldId id="410" r:id="rId8"/>
    <p:sldId id="411" r:id="rId9"/>
    <p:sldId id="408" r:id="rId10"/>
    <p:sldId id="412" r:id="rId11"/>
    <p:sldId id="416" r:id="rId12"/>
    <p:sldId id="417" r:id="rId13"/>
    <p:sldId id="418" r:id="rId14"/>
    <p:sldId id="419" r:id="rId15"/>
    <p:sldId id="420" r:id="rId16"/>
    <p:sldId id="42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F00"/>
    <a:srgbClr val="00DF00"/>
    <a:srgbClr val="FF9300"/>
    <a:srgbClr val="8000FF"/>
    <a:srgbClr val="CB7BF1"/>
    <a:srgbClr val="0432FF"/>
    <a:srgbClr val="FF2F92"/>
    <a:srgbClr val="FF7E79"/>
    <a:srgbClr val="73FDD6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090"/>
    <p:restoredTop sz="81944" autoAdjust="0"/>
  </p:normalViewPr>
  <p:slideViewPr>
    <p:cSldViewPr snapToGrid="0" snapToObjects="1">
      <p:cViewPr varScale="1">
        <p:scale>
          <a:sx n="82" d="100"/>
          <a:sy n="82" d="100"/>
        </p:scale>
        <p:origin x="176" y="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15B11-B62E-8E40-BF37-6CCBDEE21685}" type="datetimeFigureOut">
              <a:rPr lang="en-US" smtClean="0"/>
              <a:t>6/4/21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A59B6-B3C5-9546-90A8-DAABAC2DE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69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30765B-532B-044B-B07D-69ACA9BB21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97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99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0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76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0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64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82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13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014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33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03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25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0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29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79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A59B6-B3C5-9546-90A8-DAABAC2DEBB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76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36BF-D662-F746-8CD5-6B716F201AFF}" type="datetimeFigureOut">
              <a:rPr lang="en-US" smtClean="0"/>
              <a:t>6/4/21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C059A-B510-B74F-B6CA-4BB6532E7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92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36BF-D662-F746-8CD5-6B716F201AFF}" type="datetimeFigureOut">
              <a:rPr lang="en-US" smtClean="0"/>
              <a:t>6/4/21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C059A-B510-B74F-B6CA-4BB6532E7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2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36BF-D662-F746-8CD5-6B716F201AFF}" type="datetimeFigureOut">
              <a:rPr lang="en-US" smtClean="0"/>
              <a:t>6/4/21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C059A-B510-B74F-B6CA-4BB6532E7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25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36BF-D662-F746-8CD5-6B716F201AFF}" type="datetimeFigureOut">
              <a:rPr lang="en-US" smtClean="0"/>
              <a:t>6/4/21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C059A-B510-B74F-B6CA-4BB6532E7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0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36BF-D662-F746-8CD5-6B716F201AFF}" type="datetimeFigureOut">
              <a:rPr lang="en-US" smtClean="0"/>
              <a:t>6/4/21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C059A-B510-B74F-B6CA-4BB6532E7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2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36BF-D662-F746-8CD5-6B716F201AFF}" type="datetimeFigureOut">
              <a:rPr lang="en-US" smtClean="0"/>
              <a:t>6/4/21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C059A-B510-B74F-B6CA-4BB6532E7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3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36BF-D662-F746-8CD5-6B716F201AFF}" type="datetimeFigureOut">
              <a:rPr lang="en-US" smtClean="0"/>
              <a:t>6/4/21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C059A-B510-B74F-B6CA-4BB6532E7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6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36BF-D662-F746-8CD5-6B716F201AFF}" type="datetimeFigureOut">
              <a:rPr lang="en-US" smtClean="0"/>
              <a:t>6/4/21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C059A-B510-B74F-B6CA-4BB6532E7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03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36BF-D662-F746-8CD5-6B716F201AFF}" type="datetimeFigureOut">
              <a:rPr lang="en-US" smtClean="0"/>
              <a:t>6/4/21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C059A-B510-B74F-B6CA-4BB6532E7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5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36BF-D662-F746-8CD5-6B716F201AFF}" type="datetimeFigureOut">
              <a:rPr lang="en-US" smtClean="0"/>
              <a:t>6/4/21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C059A-B510-B74F-B6CA-4BB6532E7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79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436BF-D662-F746-8CD5-6B716F201AFF}" type="datetimeFigureOut">
              <a:rPr lang="en-US" smtClean="0"/>
              <a:t>6/4/21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C059A-B510-B74F-B6CA-4BB6532E7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436BF-D662-F746-8CD5-6B716F201AFF}" type="datetimeFigureOut">
              <a:rPr lang="en-US" smtClean="0"/>
              <a:t>6/4/21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C059A-B510-B74F-B6CA-4BB6532E7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07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08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Dimensional Analysis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5738" y="1026884"/>
            <a:ext cx="8801099" cy="5678715"/>
          </a:xfrm>
          <a:prstGeom prst="rect">
            <a:avLst/>
          </a:prstGeom>
        </p:spPr>
        <p:txBody>
          <a:bodyPr vert="horz" lIns="87086" tIns="43543" rIns="87086" bIns="43543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u="sng" dirty="0">
                <a:solidFill>
                  <a:srgbClr val="8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Purpose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A technique of converting numbers into different units, without changing their value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Useful when: </a:t>
            </a:r>
          </a:p>
          <a:p>
            <a:pPr lvl="2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Baking or cooking</a:t>
            </a:r>
          </a:p>
          <a:p>
            <a:pPr lvl="2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Traveling to foreign countries that use different units than us </a:t>
            </a:r>
          </a:p>
          <a:p>
            <a:pPr lvl="2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Building or engineering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Done by multiplying given numbers by </a:t>
            </a:r>
            <a:r>
              <a:rPr lang="en-US" altLang="en-US" b="1" dirty="0">
                <a:solidFill>
                  <a:srgbClr val="FF93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conversion factors</a:t>
            </a:r>
            <a:r>
              <a:rPr lang="en-US" altLang="en-US" dirty="0">
                <a:solidFill>
                  <a:srgbClr val="FF93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order to get number into desired units</a:t>
            </a:r>
          </a:p>
        </p:txBody>
      </p:sp>
    </p:spTree>
    <p:extLst>
      <p:ext uri="{BB962C8B-B14F-4D97-AF65-F5344CB8AC3E}">
        <p14:creationId xmlns:p14="http://schemas.microsoft.com/office/powerpoint/2010/main" val="283347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Dimensional Analysis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E0A46BF-4081-4041-8EC1-6F6EC36E0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1419225"/>
            <a:ext cx="8407400" cy="421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71500" indent="-5715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314450" indent="-5715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714500" indent="-5715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171700" indent="-5715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3600" b="1" u="sng" dirty="0">
                <a:solidFill>
                  <a:srgbClr val="00CF00"/>
                </a:solidFill>
                <a:cs typeface="Arial" panose="020B0604020202020204" pitchFamily="34" charset="0"/>
              </a:rPr>
              <a:t>Conversion factors</a:t>
            </a:r>
            <a:r>
              <a:rPr lang="en-US" altLang="en-US" sz="3600" b="1" dirty="0">
                <a:cs typeface="Arial" panose="020B0604020202020204" pitchFamily="34" charset="0"/>
              </a:rPr>
              <a:t>: </a:t>
            </a:r>
            <a:r>
              <a:rPr lang="en-US" altLang="en-US" sz="3600" dirty="0">
                <a:cs typeface="Arial" panose="020B0604020202020204" pitchFamily="34" charset="0"/>
              </a:rPr>
              <a:t>ratios of equivalent values (meaning they equal 1) </a:t>
            </a:r>
          </a:p>
          <a:p>
            <a:pPr lvl="1" eaLnBrk="1" hangingPunct="1">
              <a:buFont typeface="Lucida Grande" panose="020B0600040502020204" pitchFamily="34" charset="0"/>
              <a:buChar char="-"/>
            </a:pPr>
            <a:r>
              <a:rPr lang="en-US" altLang="en-US" sz="3200" dirty="0">
                <a:cs typeface="Arial" panose="020B0604020202020204" pitchFamily="34" charset="0"/>
              </a:rPr>
              <a:t>Used in dimensional analysis to alter the number without changing its value</a:t>
            </a:r>
          </a:p>
          <a:p>
            <a:pPr lvl="1" eaLnBrk="1" hangingPunct="1">
              <a:buFont typeface="Lucida Grande" panose="020B0600040502020204" pitchFamily="34" charset="0"/>
              <a:buChar char="-"/>
            </a:pPr>
            <a:r>
              <a:rPr lang="en-US" altLang="en-US" sz="3200" b="1" dirty="0">
                <a:solidFill>
                  <a:srgbClr val="FF9300"/>
                </a:solidFill>
                <a:cs typeface="Arial" panose="020B0604020202020204" pitchFamily="34" charset="0"/>
              </a:rPr>
              <a:t>Example #1</a:t>
            </a:r>
            <a:r>
              <a:rPr lang="en-US" altLang="en-US" sz="3200" dirty="0">
                <a:cs typeface="Arial" panose="020B0604020202020204" pitchFamily="34" charset="0"/>
              </a:rPr>
              <a:t>: </a:t>
            </a:r>
          </a:p>
          <a:p>
            <a:pPr lvl="2" eaLnBrk="1" hangingPunct="1">
              <a:buFont typeface="Wingdings" pitchFamily="2" charset="2"/>
              <a:buChar char="§"/>
            </a:pPr>
            <a:r>
              <a:rPr lang="en-US" altLang="en-US" sz="2800" dirty="0">
                <a:cs typeface="Arial" panose="020B0604020202020204" pitchFamily="34" charset="0"/>
              </a:rPr>
              <a:t>How many hours are in a day? 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sz="2800" dirty="0">
                <a:cs typeface="Arial" panose="020B0604020202020204" pitchFamily="34" charset="0"/>
              </a:rPr>
              <a:t>24 hours = 1 day, or…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CC8C2E9-A2E8-7846-AB5C-C0D96E6EE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5497513"/>
            <a:ext cx="15811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800" u="sng"/>
              <a:t>24 hours</a:t>
            </a:r>
          </a:p>
          <a:p>
            <a:pPr algn="ctr" eaLnBrk="1" hangingPunct="1"/>
            <a:r>
              <a:rPr lang="en-US" altLang="en-US" sz="2800"/>
              <a:t>1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48C3EB-AD1D-4340-A748-841E55C0D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25" y="5497513"/>
            <a:ext cx="15827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800" u="sng"/>
              <a:t>1 day</a:t>
            </a:r>
            <a:endParaRPr lang="en-US" altLang="en-US" sz="2800"/>
          </a:p>
          <a:p>
            <a:pPr algn="ctr" eaLnBrk="1" hangingPunct="1"/>
            <a:r>
              <a:rPr lang="en-US" altLang="en-US" sz="2800"/>
              <a:t>24 hours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7409E-B711-FA42-B553-AA0BAC7C7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0225" y="5646738"/>
            <a:ext cx="504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800"/>
              <a:t>or</a:t>
            </a:r>
          </a:p>
        </p:txBody>
      </p:sp>
      <p:sp>
        <p:nvSpPr>
          <p:cNvPr id="10" name="Frame 2">
            <a:extLst>
              <a:ext uri="{FF2B5EF4-FFF2-40B4-BE49-F238E27FC236}">
                <a16:creationId xmlns:a16="http://schemas.microsoft.com/office/drawing/2014/main" id="{558B1267-96D0-1A43-A2B1-1F9A95A52BE7}"/>
              </a:ext>
            </a:extLst>
          </p:cNvPr>
          <p:cNvSpPr>
            <a:spLocks/>
          </p:cNvSpPr>
          <p:nvPr/>
        </p:nvSpPr>
        <p:spPr bwMode="auto">
          <a:xfrm>
            <a:off x="2555875" y="5494338"/>
            <a:ext cx="1581150" cy="954087"/>
          </a:xfrm>
          <a:custGeom>
            <a:avLst/>
            <a:gdLst>
              <a:gd name="T0" fmla="*/ 0 w 1581150"/>
              <a:gd name="T1" fmla="*/ 0 h 954087"/>
              <a:gd name="T2" fmla="*/ 1581150 w 1581150"/>
              <a:gd name="T3" fmla="*/ 0 h 954087"/>
              <a:gd name="T4" fmla="*/ 1581150 w 1581150"/>
              <a:gd name="T5" fmla="*/ 954087 h 954087"/>
              <a:gd name="T6" fmla="*/ 0 w 1581150"/>
              <a:gd name="T7" fmla="*/ 954087 h 954087"/>
              <a:gd name="T8" fmla="*/ 0 w 1581150"/>
              <a:gd name="T9" fmla="*/ 0 h 954087"/>
              <a:gd name="T10" fmla="*/ 31065 w 1581150"/>
              <a:gd name="T11" fmla="*/ 31065 h 954087"/>
              <a:gd name="T12" fmla="*/ 31065 w 1581150"/>
              <a:gd name="T13" fmla="*/ 923022 h 954087"/>
              <a:gd name="T14" fmla="*/ 1550085 w 1581150"/>
              <a:gd name="T15" fmla="*/ 923022 h 954087"/>
              <a:gd name="T16" fmla="*/ 1550085 w 1581150"/>
              <a:gd name="T17" fmla="*/ 31065 h 954087"/>
              <a:gd name="T18" fmla="*/ 31065 w 1581150"/>
              <a:gd name="T19" fmla="*/ 31065 h 95408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1150" h="954087">
                <a:moveTo>
                  <a:pt x="0" y="0"/>
                </a:moveTo>
                <a:lnTo>
                  <a:pt x="1581150" y="0"/>
                </a:lnTo>
                <a:lnTo>
                  <a:pt x="1581150" y="954087"/>
                </a:lnTo>
                <a:lnTo>
                  <a:pt x="0" y="954087"/>
                </a:lnTo>
                <a:lnTo>
                  <a:pt x="0" y="0"/>
                </a:lnTo>
                <a:close/>
                <a:moveTo>
                  <a:pt x="31065" y="31065"/>
                </a:moveTo>
                <a:lnTo>
                  <a:pt x="31065" y="923022"/>
                </a:lnTo>
                <a:lnTo>
                  <a:pt x="1550085" y="923022"/>
                </a:lnTo>
                <a:lnTo>
                  <a:pt x="1550085" y="31065"/>
                </a:lnTo>
                <a:lnTo>
                  <a:pt x="31065" y="31065"/>
                </a:lnTo>
                <a:close/>
              </a:path>
            </a:pathLst>
          </a:custGeom>
          <a:solidFill>
            <a:srgbClr val="CC66FF"/>
          </a:solidFill>
          <a:ln w="9525" cap="flat" cmpd="sng">
            <a:solidFill>
              <a:srgbClr val="CC66FF"/>
            </a:solidFill>
            <a:prstDash val="solid"/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A91E858D-685E-1349-9471-7D796406569E}"/>
              </a:ext>
            </a:extLst>
          </p:cNvPr>
          <p:cNvSpPr>
            <a:spLocks/>
          </p:cNvSpPr>
          <p:nvPr/>
        </p:nvSpPr>
        <p:spPr bwMode="auto">
          <a:xfrm>
            <a:off x="5000625" y="5494338"/>
            <a:ext cx="1582738" cy="954087"/>
          </a:xfrm>
          <a:custGeom>
            <a:avLst/>
            <a:gdLst>
              <a:gd name="T0" fmla="*/ 0 w 1582738"/>
              <a:gd name="T1" fmla="*/ 0 h 954087"/>
              <a:gd name="T2" fmla="*/ 1582738 w 1582738"/>
              <a:gd name="T3" fmla="*/ 0 h 954087"/>
              <a:gd name="T4" fmla="*/ 1582738 w 1582738"/>
              <a:gd name="T5" fmla="*/ 954087 h 954087"/>
              <a:gd name="T6" fmla="*/ 0 w 1582738"/>
              <a:gd name="T7" fmla="*/ 954087 h 954087"/>
              <a:gd name="T8" fmla="*/ 0 w 1582738"/>
              <a:gd name="T9" fmla="*/ 0 h 954087"/>
              <a:gd name="T10" fmla="*/ 31065 w 1582738"/>
              <a:gd name="T11" fmla="*/ 31065 h 954087"/>
              <a:gd name="T12" fmla="*/ 31065 w 1582738"/>
              <a:gd name="T13" fmla="*/ 923022 h 954087"/>
              <a:gd name="T14" fmla="*/ 1551673 w 1582738"/>
              <a:gd name="T15" fmla="*/ 923022 h 954087"/>
              <a:gd name="T16" fmla="*/ 1551673 w 1582738"/>
              <a:gd name="T17" fmla="*/ 31065 h 954087"/>
              <a:gd name="T18" fmla="*/ 31065 w 1582738"/>
              <a:gd name="T19" fmla="*/ 31065 h 95408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2738" h="954087">
                <a:moveTo>
                  <a:pt x="0" y="0"/>
                </a:moveTo>
                <a:lnTo>
                  <a:pt x="1582738" y="0"/>
                </a:lnTo>
                <a:lnTo>
                  <a:pt x="1582738" y="954087"/>
                </a:lnTo>
                <a:lnTo>
                  <a:pt x="0" y="954087"/>
                </a:lnTo>
                <a:lnTo>
                  <a:pt x="0" y="0"/>
                </a:lnTo>
                <a:close/>
                <a:moveTo>
                  <a:pt x="31065" y="31065"/>
                </a:moveTo>
                <a:lnTo>
                  <a:pt x="31065" y="923022"/>
                </a:lnTo>
                <a:lnTo>
                  <a:pt x="1551673" y="923022"/>
                </a:lnTo>
                <a:lnTo>
                  <a:pt x="1551673" y="31065"/>
                </a:lnTo>
                <a:lnTo>
                  <a:pt x="31065" y="31065"/>
                </a:lnTo>
                <a:close/>
              </a:path>
            </a:pathLst>
          </a:custGeom>
          <a:solidFill>
            <a:srgbClr val="CC66FF"/>
          </a:solidFill>
          <a:ln w="9525" cap="flat" cmpd="sng">
            <a:solidFill>
              <a:srgbClr val="CC66FF"/>
            </a:solidFill>
            <a:prstDash val="solid"/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216862-2EBD-8640-80C5-DB38B3A852C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37025" y="5226050"/>
            <a:ext cx="3148013" cy="307975"/>
          </a:xfrm>
          <a:prstGeom prst="straightConnector1">
            <a:avLst/>
          </a:prstGeom>
          <a:noFill/>
          <a:ln w="57150">
            <a:solidFill>
              <a:srgbClr val="CC66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C3B08DA-5EB0-BA40-A94B-93E97EA1EED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83363" y="5399881"/>
            <a:ext cx="701675" cy="149225"/>
          </a:xfrm>
          <a:prstGeom prst="straightConnector1">
            <a:avLst/>
          </a:prstGeom>
          <a:noFill/>
          <a:ln w="57150">
            <a:solidFill>
              <a:srgbClr val="CC66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Box 9">
            <a:extLst>
              <a:ext uri="{FF2B5EF4-FFF2-40B4-BE49-F238E27FC236}">
                <a16:creationId xmlns:a16="http://schemas.microsoft.com/office/drawing/2014/main" id="{4EE34AFB-AA25-DE42-B6C2-ECB160F2E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4197350"/>
            <a:ext cx="1630362" cy="2554288"/>
          </a:xfrm>
          <a:prstGeom prst="rect">
            <a:avLst/>
          </a:prstGeom>
          <a:noFill/>
          <a:ln w="57150">
            <a:solidFill>
              <a:srgbClr val="00C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/>
              <a:t>Both of these formats are useful when converting units with conversion factors</a:t>
            </a:r>
          </a:p>
        </p:txBody>
      </p:sp>
    </p:spTree>
    <p:extLst>
      <p:ext uri="{BB962C8B-B14F-4D97-AF65-F5344CB8AC3E}">
        <p14:creationId xmlns:p14="http://schemas.microsoft.com/office/powerpoint/2010/main" val="141424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Dimensional Analysis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56DE9-68DB-AC4F-B683-12047A5EC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12" y="1101611"/>
            <a:ext cx="8497455" cy="4525963"/>
          </a:xfrm>
        </p:spPr>
        <p:txBody>
          <a:bodyPr/>
          <a:lstStyle/>
          <a:p>
            <a:r>
              <a:rPr lang="en-US" altLang="en-US" b="1" dirty="0">
                <a:solidFill>
                  <a:srgbClr val="00DF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Conversion Factor </a:t>
            </a:r>
            <a:r>
              <a:rPr lang="en-US" altLang="en-US" b="1" dirty="0">
                <a:solidFill>
                  <a:srgbClr val="FF93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Ex. #2</a:t>
            </a: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12 inches = 1 foot, or…</a:t>
            </a:r>
          </a:p>
          <a:p>
            <a:pPr lvl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r>
              <a:rPr lang="en-US" altLang="en-US" i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turn!  What would be the conversion factor for days in a week?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 days = 1 week, or…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4B4EAD7A-7EF3-FC42-890C-4F4BB2844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013" y="2410504"/>
            <a:ext cx="18319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800" u="sng" dirty="0"/>
              <a:t>12 inches</a:t>
            </a:r>
          </a:p>
          <a:p>
            <a:pPr algn="ctr" eaLnBrk="1" hangingPunct="1"/>
            <a:r>
              <a:rPr lang="en-US" altLang="en-US" sz="2800" dirty="0"/>
              <a:t>1 foot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7D4A6005-3C13-D642-98DE-03F3BFA72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889" y="2410504"/>
            <a:ext cx="18319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800" u="sng" dirty="0"/>
              <a:t>1 foot</a:t>
            </a:r>
          </a:p>
          <a:p>
            <a:pPr algn="ctr" eaLnBrk="1" hangingPunct="1"/>
            <a:r>
              <a:rPr lang="en-US" altLang="en-US" sz="2800" dirty="0"/>
              <a:t>12 inches</a:t>
            </a: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4E466A66-DA8C-6748-81A3-1E4BD6D5D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1713" y="2625610"/>
            <a:ext cx="504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800" dirty="0"/>
              <a:t>or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201415F6-7B6F-0D44-8A3F-E1A942C9E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013" y="5465405"/>
            <a:ext cx="18319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800" u="sng"/>
              <a:t>7 days</a:t>
            </a:r>
            <a:endParaRPr lang="en-US" altLang="en-US" sz="2800"/>
          </a:p>
          <a:p>
            <a:pPr algn="ctr" eaLnBrk="1" hangingPunct="1"/>
            <a:r>
              <a:rPr lang="en-US" altLang="en-US" sz="2800"/>
              <a:t>1 week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06A1E149-B2DD-A246-A387-D637FE702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1713" y="5719405"/>
            <a:ext cx="504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800"/>
              <a:t>or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73134FFC-36BA-554E-B8D8-0A9C819BE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5465405"/>
            <a:ext cx="18319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800" u="sng"/>
              <a:t>1 week</a:t>
            </a:r>
            <a:endParaRPr lang="en-US" altLang="en-US" sz="2800"/>
          </a:p>
          <a:p>
            <a:pPr algn="ctr" eaLnBrk="1" hangingPunct="1"/>
            <a:r>
              <a:rPr lang="en-US" altLang="en-US" sz="2800"/>
              <a:t>7 days</a:t>
            </a:r>
          </a:p>
        </p:txBody>
      </p:sp>
    </p:spTree>
    <p:extLst>
      <p:ext uri="{BB962C8B-B14F-4D97-AF65-F5344CB8AC3E}">
        <p14:creationId xmlns:p14="http://schemas.microsoft.com/office/powerpoint/2010/main" val="348670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Dimensional Analysis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5B633F6A-C3B6-504C-BFBE-4A6CBD2ED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800225"/>
            <a:ext cx="8651875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14350" indent="-5143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 typeface="Calibri" panose="020F0502020204030204" pitchFamily="34" charset="0"/>
              <a:buAutoNum type="arabicPeriod"/>
            </a:pPr>
            <a:r>
              <a:rPr lang="en-US" altLang="en-US" sz="3200" dirty="0">
                <a:cs typeface="Arial" panose="020B0604020202020204" pitchFamily="34" charset="0"/>
              </a:rPr>
              <a:t>Write down the </a:t>
            </a:r>
            <a:r>
              <a:rPr lang="en-US" altLang="en-US" sz="3200" b="1" dirty="0">
                <a:solidFill>
                  <a:srgbClr val="00CF00"/>
                </a:solidFill>
                <a:cs typeface="Arial" panose="020B0604020202020204" pitchFamily="34" charset="0"/>
              </a:rPr>
              <a:t>given</a:t>
            </a:r>
            <a:r>
              <a:rPr lang="en-US" altLang="en-US" sz="3200" dirty="0">
                <a:cs typeface="Arial" panose="020B0604020202020204" pitchFamily="34" charset="0"/>
              </a:rPr>
              <a:t> (starting) </a:t>
            </a:r>
            <a:r>
              <a:rPr lang="en-US" altLang="en-US" sz="3200" b="1" dirty="0">
                <a:solidFill>
                  <a:srgbClr val="00CF00"/>
                </a:solidFill>
                <a:cs typeface="Arial" panose="020B0604020202020204" pitchFamily="34" charset="0"/>
              </a:rPr>
              <a:t>number</a:t>
            </a:r>
            <a:r>
              <a:rPr lang="en-US" altLang="en-US" sz="3200" dirty="0">
                <a:cs typeface="Arial" panose="020B0604020202020204" pitchFamily="34" charset="0"/>
              </a:rPr>
              <a:t> and </a:t>
            </a:r>
            <a:r>
              <a:rPr lang="en-US" altLang="en-US" sz="3200" b="1" dirty="0">
                <a:solidFill>
                  <a:srgbClr val="00CF00"/>
                </a:solidFill>
                <a:cs typeface="Arial" panose="020B0604020202020204" pitchFamily="34" charset="0"/>
              </a:rPr>
              <a:t>unit</a:t>
            </a:r>
            <a:r>
              <a:rPr lang="en-US" altLang="en-US" sz="3200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buFont typeface="Calibri" panose="020F0502020204030204" pitchFamily="34" charset="0"/>
              <a:buAutoNum type="arabicPeriod"/>
            </a:pPr>
            <a:r>
              <a:rPr lang="en-US" altLang="en-US" sz="3200" dirty="0">
                <a:cs typeface="Arial" panose="020B0604020202020204" pitchFamily="34" charset="0"/>
              </a:rPr>
              <a:t>Draw a “</a:t>
            </a:r>
            <a:r>
              <a:rPr lang="en-US" altLang="ja-JP" sz="3200" b="1" dirty="0">
                <a:solidFill>
                  <a:srgbClr val="FF9300"/>
                </a:solidFill>
                <a:cs typeface="Arial" panose="020B0604020202020204" pitchFamily="34" charset="0"/>
              </a:rPr>
              <a:t>picket fence</a:t>
            </a:r>
            <a:r>
              <a:rPr lang="en-US" altLang="ja-JP" sz="3200" dirty="0">
                <a:cs typeface="Arial" panose="020B0604020202020204" pitchFamily="34" charset="0"/>
              </a:rPr>
              <a:t>.</a:t>
            </a:r>
            <a:r>
              <a:rPr lang="en-US" altLang="en-US" sz="3200" dirty="0">
                <a:cs typeface="Arial" panose="020B0604020202020204" pitchFamily="34" charset="0"/>
              </a:rPr>
              <a:t>”</a:t>
            </a:r>
            <a:endParaRPr lang="en-US" altLang="ja-JP" sz="3200" dirty="0">
              <a:cs typeface="Arial" panose="020B0604020202020204" pitchFamily="34" charset="0"/>
            </a:endParaRPr>
          </a:p>
          <a:p>
            <a:pPr eaLnBrk="1" hangingPunct="1">
              <a:buFont typeface="Calibri" panose="020F0502020204030204" pitchFamily="34" charset="0"/>
              <a:buAutoNum type="arabicPeriod"/>
            </a:pPr>
            <a:r>
              <a:rPr lang="en-US" altLang="en-US" sz="3200" dirty="0">
                <a:cs typeface="Arial" panose="020B0604020202020204" pitchFamily="34" charset="0"/>
              </a:rPr>
              <a:t>Use chart to fill in appropriate conversion factors, making sure matching units are on </a:t>
            </a:r>
            <a:r>
              <a:rPr lang="en-US" altLang="en-US" sz="3200" b="1" dirty="0">
                <a:solidFill>
                  <a:srgbClr val="8000FF"/>
                </a:solidFill>
                <a:cs typeface="Arial" panose="020B0604020202020204" pitchFamily="34" charset="0"/>
              </a:rPr>
              <a:t>opposite sides </a:t>
            </a:r>
            <a:r>
              <a:rPr lang="en-US" altLang="en-US" sz="3200" dirty="0">
                <a:cs typeface="Arial" panose="020B0604020202020204" pitchFamily="34" charset="0"/>
              </a:rPr>
              <a:t>of fence to cancel out.</a:t>
            </a:r>
          </a:p>
          <a:p>
            <a:pPr eaLnBrk="1" hangingPunct="1">
              <a:buFont typeface="Calibri" panose="020F0502020204030204" pitchFamily="34" charset="0"/>
              <a:buAutoNum type="arabicPeriod"/>
            </a:pPr>
            <a:r>
              <a:rPr lang="en-US" altLang="en-US" sz="3200" b="1" dirty="0">
                <a:solidFill>
                  <a:srgbClr val="00CF00"/>
                </a:solidFill>
                <a:cs typeface="Arial" panose="020B0604020202020204" pitchFamily="34" charset="0"/>
              </a:rPr>
              <a:t>Multiply</a:t>
            </a:r>
            <a:r>
              <a:rPr lang="en-US" altLang="en-US" sz="3200" dirty="0">
                <a:cs typeface="Arial" panose="020B0604020202020204" pitchFamily="34" charset="0"/>
              </a:rPr>
              <a:t> the top line across and the bottom line across. </a:t>
            </a:r>
          </a:p>
          <a:p>
            <a:pPr eaLnBrk="1" hangingPunct="1">
              <a:buFont typeface="Calibri" panose="020F0502020204030204" pitchFamily="34" charset="0"/>
              <a:buAutoNum type="arabicPeriod"/>
            </a:pPr>
            <a:r>
              <a:rPr lang="en-US" altLang="en-US" sz="3200" b="1" dirty="0">
                <a:solidFill>
                  <a:srgbClr val="FF9300"/>
                </a:solidFill>
                <a:cs typeface="Arial" panose="020B0604020202020204" pitchFamily="34" charset="0"/>
              </a:rPr>
              <a:t>Divide</a:t>
            </a:r>
            <a:r>
              <a:rPr lang="en-US" altLang="en-US" sz="3200" dirty="0">
                <a:cs typeface="Arial" panose="020B0604020202020204" pitchFamily="34" charset="0"/>
              </a:rPr>
              <a:t> the top by the bottom.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D13ECB-357C-2B41-92C3-D66845CA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6886"/>
            <a:ext cx="8229600" cy="390752"/>
          </a:xfrm>
        </p:spPr>
        <p:txBody>
          <a:bodyPr>
            <a:normAutofit fontScale="90000"/>
          </a:bodyPr>
          <a:lstStyle/>
          <a:p>
            <a:r>
              <a:rPr lang="en-US" altLang="en-US" sz="2800" b="1" dirty="0">
                <a:solidFill>
                  <a:srgbClr val="8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Steps to apply this method in a real problem:</a:t>
            </a:r>
            <a:endParaRPr lang="en-US" altLang="en-US" sz="6600" b="1" dirty="0">
              <a:solidFill>
                <a:srgbClr val="8000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79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Dimensional Analysis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D13ECB-357C-2B41-92C3-D66845CA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6886"/>
            <a:ext cx="8229600" cy="390752"/>
          </a:xfrm>
        </p:spPr>
        <p:txBody>
          <a:bodyPr>
            <a:normAutofit fontScale="90000"/>
          </a:bodyPr>
          <a:lstStyle/>
          <a:p>
            <a:r>
              <a:rPr lang="en-US" altLang="en-US" sz="2800" b="1" dirty="0">
                <a:solidFill>
                  <a:srgbClr val="8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Putting it into Practice:</a:t>
            </a:r>
            <a:endParaRPr lang="en-US" altLang="en-US" sz="6600" b="1" dirty="0">
              <a:solidFill>
                <a:srgbClr val="8000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FBD68-B532-8F45-A43A-77D539989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3392488"/>
            <a:ext cx="1044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1 year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55242D-CEC8-6540-BEF9-DD04053048D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3250" y="3890963"/>
            <a:ext cx="76977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A811C8-3045-CC4B-BCC6-AAB11672D31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7825" y="3429000"/>
            <a:ext cx="0" cy="10271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512A5B-701F-E947-8E98-4A363F7FE6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06750" y="3376613"/>
            <a:ext cx="0" cy="10271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69AA07-B3DE-244E-8D79-D8EA44F745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94238" y="3429000"/>
            <a:ext cx="0" cy="10271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8DC03B-70C5-154B-825F-610819AAA77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91288" y="3429000"/>
            <a:ext cx="0" cy="10271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61FADB3-6803-ED4E-8475-47DF9946C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4038" y="3983038"/>
            <a:ext cx="10429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1 year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3542BD-AE2C-A144-89D7-F866F0008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788" y="3387725"/>
            <a:ext cx="14335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365 days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17BD016-ABD3-C444-A087-BB6DF8F0BCA5}"/>
              </a:ext>
            </a:extLst>
          </p:cNvPr>
          <p:cNvCxnSpPr>
            <a:cxnSpLocks noChangeShapeType="1"/>
            <a:stCxn id="8" idx="0"/>
          </p:cNvCxnSpPr>
          <p:nvPr/>
        </p:nvCxnSpPr>
        <p:spPr bwMode="auto">
          <a:xfrm>
            <a:off x="1125538" y="3392488"/>
            <a:ext cx="331787" cy="382587"/>
          </a:xfrm>
          <a:prstGeom prst="straightConnector1">
            <a:avLst/>
          </a:prstGeom>
          <a:noFill/>
          <a:ln w="25400">
            <a:solidFill>
              <a:srgbClr val="00C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9EAFC0-9923-144D-AD9A-E4343377CE1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65350" y="3983038"/>
            <a:ext cx="577850" cy="420687"/>
          </a:xfrm>
          <a:prstGeom prst="straightConnector1">
            <a:avLst/>
          </a:prstGeom>
          <a:noFill/>
          <a:ln w="25400">
            <a:solidFill>
              <a:srgbClr val="00C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D4031AC-591C-7843-97DB-16CAB4E0F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050" y="3983038"/>
            <a:ext cx="9382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1 day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BC61A7-406F-2A4E-933F-A6351B473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838" y="3370263"/>
            <a:ext cx="13827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24 hours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44A0418-2D50-2845-878B-518524569426}"/>
              </a:ext>
            </a:extLst>
          </p:cNvPr>
          <p:cNvCxnSpPr>
            <a:cxnSpLocks noChangeShapeType="1"/>
            <a:stCxn id="16" idx="0"/>
          </p:cNvCxnSpPr>
          <p:nvPr/>
        </p:nvCxnSpPr>
        <p:spPr bwMode="auto">
          <a:xfrm>
            <a:off x="2446338" y="3387725"/>
            <a:ext cx="433387" cy="444500"/>
          </a:xfrm>
          <a:prstGeom prst="straightConnector1">
            <a:avLst/>
          </a:prstGeom>
          <a:noFill/>
          <a:ln w="25400">
            <a:solidFill>
              <a:srgbClr val="00C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DB345C-A5BC-AE47-A748-B50C9D8EF87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89350" y="3983038"/>
            <a:ext cx="571500" cy="473075"/>
          </a:xfrm>
          <a:prstGeom prst="straightConnector1">
            <a:avLst/>
          </a:prstGeom>
          <a:noFill/>
          <a:ln w="25400">
            <a:solidFill>
              <a:srgbClr val="00C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20249DF-7D0F-CB42-9C06-538ABB4DA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3967163"/>
            <a:ext cx="1057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1 hour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64AEB3-2A3C-D845-B6F2-50F4F9A48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225" y="3332163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60 min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DD23A6B-29FE-BC48-B355-10FB6F58D29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13188" y="3332163"/>
            <a:ext cx="582612" cy="461962"/>
          </a:xfrm>
          <a:prstGeom prst="straightConnector1">
            <a:avLst/>
          </a:prstGeom>
          <a:noFill/>
          <a:ln w="25400">
            <a:solidFill>
              <a:srgbClr val="00C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E2705D0-FC88-1E49-B390-F493478AD950}"/>
              </a:ext>
            </a:extLst>
          </p:cNvPr>
          <p:cNvCxnSpPr>
            <a:cxnSpLocks noChangeShapeType="1"/>
            <a:stCxn id="23" idx="0"/>
          </p:cNvCxnSpPr>
          <p:nvPr/>
        </p:nvCxnSpPr>
        <p:spPr bwMode="auto">
          <a:xfrm>
            <a:off x="5543550" y="3967163"/>
            <a:ext cx="528638" cy="406400"/>
          </a:xfrm>
          <a:prstGeom prst="straightConnector1">
            <a:avLst/>
          </a:prstGeom>
          <a:noFill/>
          <a:ln w="25400">
            <a:solidFill>
              <a:srgbClr val="00C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C5A70E9-CAED-674D-B5E8-FECBBC630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625" y="3956050"/>
            <a:ext cx="938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1 min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83AE17-860A-404D-B2C4-04C183BE1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6588" y="3367088"/>
            <a:ext cx="7667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60 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DCE99CF-EF62-F34A-B286-ACB2AC8E389C}"/>
              </a:ext>
            </a:extLst>
          </p:cNvPr>
          <p:cNvCxnSpPr>
            <a:cxnSpLocks noChangeShapeType="1"/>
            <a:stCxn id="24" idx="0"/>
          </p:cNvCxnSpPr>
          <p:nvPr/>
        </p:nvCxnSpPr>
        <p:spPr bwMode="auto">
          <a:xfrm>
            <a:off x="5529263" y="3332163"/>
            <a:ext cx="488950" cy="423862"/>
          </a:xfrm>
          <a:prstGeom prst="straightConnector1">
            <a:avLst/>
          </a:prstGeom>
          <a:noFill/>
          <a:ln w="25400">
            <a:solidFill>
              <a:srgbClr val="00C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FB3241A-E36C-E348-B9B9-7E584EFD97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12000" y="4010025"/>
            <a:ext cx="660400" cy="461963"/>
          </a:xfrm>
          <a:prstGeom prst="straightConnector1">
            <a:avLst/>
          </a:prstGeom>
          <a:noFill/>
          <a:ln w="25400">
            <a:solidFill>
              <a:srgbClr val="00C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FD7A186-D213-1347-A3DC-12275E8CF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5392738"/>
            <a:ext cx="365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=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7751900-4DEE-EB42-99F2-46EB99D0D88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7825" y="5641975"/>
            <a:ext cx="155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01ADB6D-208E-5C49-9D3E-2915B23BE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325" y="5114925"/>
            <a:ext cx="1963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31,536,000 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3E71B2-3EAD-4F47-8B8C-06CC97466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638" y="5853113"/>
            <a:ext cx="35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C35256-C610-0D43-ADCE-1271DA30C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0138" y="5346700"/>
            <a:ext cx="363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=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AB5404-FC1B-4C4A-BE46-90259472B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5346700"/>
            <a:ext cx="2809875" cy="584200"/>
          </a:xfrm>
          <a:prstGeom prst="rect">
            <a:avLst/>
          </a:prstGeom>
          <a:noFill/>
          <a:ln w="57150">
            <a:solidFill>
              <a:srgbClr val="8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200" b="1" dirty="0"/>
              <a:t>31, 536, 000 s</a:t>
            </a:r>
          </a:p>
        </p:txBody>
      </p:sp>
      <p:sp>
        <p:nvSpPr>
          <p:cNvPr id="37" name="Text Box 3">
            <a:extLst>
              <a:ext uri="{FF2B5EF4-FFF2-40B4-BE49-F238E27FC236}">
                <a16:creationId xmlns:a16="http://schemas.microsoft.com/office/drawing/2014/main" id="{198ABE68-DAD4-2C48-A21C-EB03B697C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800225"/>
            <a:ext cx="865187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514350" indent="-514350" eaLnBrk="1" hangingPunct="1">
              <a:buFont typeface="Arial"/>
              <a:buChar char="•"/>
              <a:defRPr/>
            </a:pPr>
            <a:r>
              <a:rPr lang="en-US" sz="3200" b="1" dirty="0">
                <a:solidFill>
                  <a:srgbClr val="FF9300"/>
                </a:solidFill>
                <a:cs typeface="Arial" charset="0"/>
              </a:rPr>
              <a:t>Example #3</a:t>
            </a:r>
            <a:r>
              <a:rPr lang="en-US" sz="3200" dirty="0">
                <a:cs typeface="Arial" charset="0"/>
              </a:rPr>
              <a:t>:  How many seconds are in one year?</a:t>
            </a:r>
          </a:p>
        </p:txBody>
      </p:sp>
    </p:spTree>
    <p:extLst>
      <p:ext uri="{BB962C8B-B14F-4D97-AF65-F5344CB8AC3E}">
        <p14:creationId xmlns:p14="http://schemas.microsoft.com/office/powerpoint/2010/main" val="50235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6" grpId="0"/>
      <p:bldP spid="19" grpId="0"/>
      <p:bldP spid="20" grpId="0"/>
      <p:bldP spid="23" grpId="0"/>
      <p:bldP spid="24" grpId="0"/>
      <p:bldP spid="27" grpId="0"/>
      <p:bldP spid="28" grpId="0"/>
      <p:bldP spid="31" grpId="0"/>
      <p:bldP spid="33" grpId="0"/>
      <p:bldP spid="34" grpId="0"/>
      <p:bldP spid="35" grpId="0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Dimensional Analysis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D13ECB-357C-2B41-92C3-D66845CA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6886"/>
            <a:ext cx="8229600" cy="390752"/>
          </a:xfrm>
        </p:spPr>
        <p:txBody>
          <a:bodyPr>
            <a:normAutofit fontScale="90000"/>
          </a:bodyPr>
          <a:lstStyle/>
          <a:p>
            <a:r>
              <a:rPr lang="en-US" altLang="en-US" sz="2800" b="1" dirty="0">
                <a:solidFill>
                  <a:srgbClr val="8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Putting it into Practice:</a:t>
            </a:r>
            <a:endParaRPr lang="en-US" altLang="en-US" sz="6600" b="1" dirty="0">
              <a:solidFill>
                <a:srgbClr val="8000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2EC93E-A82F-4A42-B14A-CA50A91B1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68" y="2908757"/>
            <a:ext cx="16621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/>
              <a:t>250.4 cm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52903EE-FCF9-6A41-ABDF-39F48EA993B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9768" y="3431044"/>
            <a:ext cx="63944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069FAF5-2B0E-2341-BA23-2A8B4B1E91F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18543" y="2908757"/>
            <a:ext cx="0" cy="9890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8898628-AE4A-664A-B757-132EC551EAD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87081" y="2908757"/>
            <a:ext cx="0" cy="9890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BC9907B-73F2-8C4D-A381-C3131FD48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4281" y="3561219"/>
            <a:ext cx="14620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/>
              <a:t>2.54 cm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457D58-948E-8540-952A-75F1AB754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3368" y="2799219"/>
            <a:ext cx="1143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/>
              <a:t>1 inch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FC45C93-5931-2D47-BA3C-C44FF7E8391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72431" y="2908757"/>
            <a:ext cx="500062" cy="412750"/>
          </a:xfrm>
          <a:prstGeom prst="straightConnector1">
            <a:avLst/>
          </a:prstGeom>
          <a:noFill/>
          <a:ln w="25400">
            <a:solidFill>
              <a:srgbClr val="00C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627E53D-BC66-3644-A201-7A0C28914AF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99631" y="3561219"/>
            <a:ext cx="566737" cy="522288"/>
          </a:xfrm>
          <a:prstGeom prst="straightConnector1">
            <a:avLst/>
          </a:prstGeom>
          <a:noFill/>
          <a:ln w="25400">
            <a:solidFill>
              <a:srgbClr val="00C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C328A3A-9461-274E-853D-CE7EBE1F2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9368" y="3561219"/>
            <a:ext cx="17224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/>
              <a:t>12 inches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D5E161-66A8-E746-9CBF-78D4263E0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2268" y="2796044"/>
            <a:ext cx="682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/>
              <a:t>1 ft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DD6C978-EBF9-AD42-9D68-BB276985CD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91668" y="2799219"/>
            <a:ext cx="774700" cy="522288"/>
          </a:xfrm>
          <a:prstGeom prst="straightConnector1">
            <a:avLst/>
          </a:prstGeom>
          <a:noFill/>
          <a:ln w="25400">
            <a:solidFill>
              <a:srgbClr val="00C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4EA4EB0-9475-0440-9E33-C967835DBF3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52306" y="3561219"/>
            <a:ext cx="915987" cy="522288"/>
          </a:xfrm>
          <a:prstGeom prst="straightConnector1">
            <a:avLst/>
          </a:prstGeom>
          <a:noFill/>
          <a:ln w="25400">
            <a:solidFill>
              <a:srgbClr val="00C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67DFAAA-0C2F-D24E-96BD-808DCAD93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142" y="3191666"/>
            <a:ext cx="393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/>
              <a:t>=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29E5567-54D5-2B44-B3D6-75C806D2D81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30387" y="5184775"/>
            <a:ext cx="2289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34BCFD5-B59D-8345-9C82-04A772470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1067" y="4608513"/>
            <a:ext cx="13827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dirty="0"/>
              <a:t>250.4 ft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0CC50B-3C49-E745-AF0F-F2B870A26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5" y="5228902"/>
            <a:ext cx="10826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 dirty="0"/>
              <a:t>30.48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238877-060F-C044-8937-942BC4DA4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7" y="4922838"/>
            <a:ext cx="393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800"/>
              <a:t>=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870285-9E13-AA4B-9D0F-448E36D82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1281" y="4860925"/>
            <a:ext cx="1519237" cy="647700"/>
          </a:xfrm>
          <a:prstGeom prst="rect">
            <a:avLst/>
          </a:prstGeom>
          <a:noFill/>
          <a:ln w="57150">
            <a:solidFill>
              <a:srgbClr val="8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b="1" dirty="0"/>
              <a:t>8.22 ft</a:t>
            </a:r>
          </a:p>
        </p:txBody>
      </p:sp>
      <p:sp>
        <p:nvSpPr>
          <p:cNvPr id="56" name="Text Box 3">
            <a:extLst>
              <a:ext uri="{FF2B5EF4-FFF2-40B4-BE49-F238E27FC236}">
                <a16:creationId xmlns:a16="http://schemas.microsoft.com/office/drawing/2014/main" id="{49776A37-1337-6A49-B53A-D59058868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546225"/>
            <a:ext cx="865187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514350" indent="-514350" eaLnBrk="1" hangingPunct="1">
              <a:buFont typeface="Arial"/>
              <a:buChar char="•"/>
              <a:defRPr/>
            </a:pPr>
            <a:r>
              <a:rPr lang="en-US" sz="3200" b="1" dirty="0">
                <a:solidFill>
                  <a:srgbClr val="FF9300"/>
                </a:solidFill>
                <a:cs typeface="Arial" charset="0"/>
              </a:rPr>
              <a:t>Example #4</a:t>
            </a:r>
            <a:r>
              <a:rPr lang="en-US" sz="3200" dirty="0">
                <a:cs typeface="Arial" charset="0"/>
              </a:rPr>
              <a:t>:  How many feet are in 250.4 cm?</a:t>
            </a:r>
          </a:p>
        </p:txBody>
      </p:sp>
    </p:spTree>
    <p:extLst>
      <p:ext uri="{BB962C8B-B14F-4D97-AF65-F5344CB8AC3E}">
        <p14:creationId xmlns:p14="http://schemas.microsoft.com/office/powerpoint/2010/main" val="381607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2" grpId="0"/>
      <p:bldP spid="43" grpId="0"/>
      <p:bldP spid="46" grpId="0"/>
      <p:bldP spid="47" grpId="0"/>
      <p:bldP spid="50" grpId="0"/>
      <p:bldP spid="52" grpId="0"/>
      <p:bldP spid="53" grpId="0"/>
      <p:bldP spid="54" grpId="0"/>
      <p:bldP spid="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Dimensional Analysis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D13ECB-357C-2B41-92C3-D66845CA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6886"/>
            <a:ext cx="8229600" cy="390752"/>
          </a:xfrm>
        </p:spPr>
        <p:txBody>
          <a:bodyPr>
            <a:normAutofit fontScale="90000"/>
          </a:bodyPr>
          <a:lstStyle/>
          <a:p>
            <a:r>
              <a:rPr lang="en-US" altLang="en-US" sz="2800" b="1" dirty="0">
                <a:solidFill>
                  <a:srgbClr val="8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Useful and common conversion factors:</a:t>
            </a:r>
            <a:endParaRPr lang="en-US" altLang="en-US" sz="6600" b="1" dirty="0">
              <a:solidFill>
                <a:srgbClr val="8000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85744DE-415A-7B47-83A6-2F56A9E15F6F}"/>
              </a:ext>
            </a:extLst>
          </p:cNvPr>
          <p:cNvGraphicFramePr>
            <a:graphicFrameLocks noGrp="1"/>
          </p:cNvGraphicFramePr>
          <p:nvPr/>
        </p:nvGraphicFramePr>
        <p:xfrm>
          <a:off x="779463" y="2085975"/>
          <a:ext cx="7602537" cy="3597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4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5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81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MASS</a:t>
                      </a:r>
                    </a:p>
                  </a:txBody>
                  <a:tcPr marL="91448" marR="91448" marT="45728" marB="4572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VOLUME</a:t>
                      </a:r>
                    </a:p>
                  </a:txBody>
                  <a:tcPr marL="91448" marR="91448" marT="45728" marB="4572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LENGTH</a:t>
                      </a:r>
                    </a:p>
                  </a:txBody>
                  <a:tcPr marL="91448" marR="91448" marT="45728" marB="4572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9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1000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g = 1kg</a:t>
                      </a: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 ounce = 28.35 g</a:t>
                      </a: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 kg = 2.2 lbs</a:t>
                      </a: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16 ounces (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oz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) = 1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lb</a:t>
                      </a:r>
                      <a:endParaRPr lang="en-US" sz="2000" baseline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2000 lbs = 1 ton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48" marR="91448" marT="45728" marB="4572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tsp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= 5 mL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cup = 236 mL</a:t>
                      </a: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 fluid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oz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= 29.6 mL</a:t>
                      </a: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1000 mL = 1 L</a:t>
                      </a: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tsp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= 1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Tbsp</a:t>
                      </a:r>
                      <a:endParaRPr lang="en-US" sz="2000" baseline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16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Tbsp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= 1 cup</a:t>
                      </a: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8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oz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= 1 cup</a:t>
                      </a: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 cups = 1 pint</a:t>
                      </a: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 pints = 1 quart</a:t>
                      </a: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4 quarts = 1 gallon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48" marR="91448" marT="45728" marB="4572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 inch = 2.54 cm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12 inches = 1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ft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 mile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= 5,280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ft</a:t>
                      </a:r>
                      <a:endParaRPr lang="en-US" sz="2000" baseline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ft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= 1 yard</a:t>
                      </a:r>
                      <a:endParaRPr lang="en-US" sz="20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48" marR="91448" marT="45728" marB="4572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Frame 3">
            <a:extLst>
              <a:ext uri="{FF2B5EF4-FFF2-40B4-BE49-F238E27FC236}">
                <a16:creationId xmlns:a16="http://schemas.microsoft.com/office/drawing/2014/main" id="{F0A998D2-920A-AD4F-96E8-1F114B5317AA}"/>
              </a:ext>
            </a:extLst>
          </p:cNvPr>
          <p:cNvSpPr>
            <a:spLocks/>
          </p:cNvSpPr>
          <p:nvPr/>
        </p:nvSpPr>
        <p:spPr bwMode="auto">
          <a:xfrm>
            <a:off x="725488" y="1922463"/>
            <a:ext cx="7729537" cy="3919537"/>
          </a:xfrm>
          <a:custGeom>
            <a:avLst/>
            <a:gdLst>
              <a:gd name="T0" fmla="*/ 0 w 7729537"/>
              <a:gd name="T1" fmla="*/ 0 h 3919537"/>
              <a:gd name="T2" fmla="*/ 7729537 w 7729537"/>
              <a:gd name="T3" fmla="*/ 0 h 3919537"/>
              <a:gd name="T4" fmla="*/ 7729537 w 7729537"/>
              <a:gd name="T5" fmla="*/ 3919537 h 3919537"/>
              <a:gd name="T6" fmla="*/ 0 w 7729537"/>
              <a:gd name="T7" fmla="*/ 3919537 h 3919537"/>
              <a:gd name="T8" fmla="*/ 0 w 7729537"/>
              <a:gd name="T9" fmla="*/ 0 h 3919537"/>
              <a:gd name="T10" fmla="*/ 145180 w 7729537"/>
              <a:gd name="T11" fmla="*/ 145180 h 3919537"/>
              <a:gd name="T12" fmla="*/ 145180 w 7729537"/>
              <a:gd name="T13" fmla="*/ 3774357 h 3919537"/>
              <a:gd name="T14" fmla="*/ 7584357 w 7729537"/>
              <a:gd name="T15" fmla="*/ 3774357 h 3919537"/>
              <a:gd name="T16" fmla="*/ 7584357 w 7729537"/>
              <a:gd name="T17" fmla="*/ 145180 h 3919537"/>
              <a:gd name="T18" fmla="*/ 145180 w 7729537"/>
              <a:gd name="T19" fmla="*/ 145180 h 39195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729537" h="3919537">
                <a:moveTo>
                  <a:pt x="0" y="0"/>
                </a:moveTo>
                <a:lnTo>
                  <a:pt x="7729537" y="0"/>
                </a:lnTo>
                <a:lnTo>
                  <a:pt x="7729537" y="3919537"/>
                </a:lnTo>
                <a:lnTo>
                  <a:pt x="0" y="3919537"/>
                </a:lnTo>
                <a:lnTo>
                  <a:pt x="0" y="0"/>
                </a:lnTo>
                <a:close/>
                <a:moveTo>
                  <a:pt x="145180" y="145180"/>
                </a:moveTo>
                <a:lnTo>
                  <a:pt x="145180" y="3774357"/>
                </a:lnTo>
                <a:lnTo>
                  <a:pt x="7584357" y="3774357"/>
                </a:lnTo>
                <a:lnTo>
                  <a:pt x="7584357" y="145180"/>
                </a:lnTo>
                <a:lnTo>
                  <a:pt x="145180" y="145180"/>
                </a:lnTo>
                <a:close/>
              </a:path>
            </a:pathLst>
          </a:custGeom>
          <a:solidFill>
            <a:srgbClr val="00CF00"/>
          </a:solidFill>
          <a:ln w="9525" cap="flat" cmpd="sng">
            <a:solidFill>
              <a:srgbClr val="00CF00"/>
            </a:solidFill>
            <a:prstDash val="solid"/>
            <a:round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28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20891" y="143135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Practice Time!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C2A12-DF2B-D143-953B-773389764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891" y="1146876"/>
            <a:ext cx="8497455" cy="5315918"/>
          </a:xfrm>
        </p:spPr>
        <p:txBody>
          <a:bodyPr>
            <a:normAutofit lnSpcReduction="10000"/>
          </a:bodyPr>
          <a:lstStyle/>
          <a:p>
            <a:pPr marL="914400" indent="-9144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4800" dirty="0">
                <a:latin typeface="Arial"/>
                <a:ea typeface="ＭＳ Ｐゴシック" charset="0"/>
                <a:cs typeface="Arial"/>
              </a:rPr>
              <a:t>3.6 L =_______ gallons</a:t>
            </a:r>
          </a:p>
          <a:p>
            <a:pPr marL="914400" indent="-914400" eaLnBrk="1" hangingPunct="1">
              <a:lnSpc>
                <a:spcPct val="90000"/>
              </a:lnSpc>
              <a:buFont typeface="+mj-lt"/>
              <a:buAutoNum type="arabicPeriod"/>
              <a:defRPr/>
            </a:pPr>
            <a:endParaRPr lang="en-US" sz="4000" dirty="0">
              <a:latin typeface="Arial"/>
              <a:ea typeface="ＭＳ Ｐゴシック" charset="0"/>
              <a:cs typeface="Arial"/>
            </a:endParaRPr>
          </a:p>
          <a:p>
            <a:pPr marL="914400" indent="-914400" eaLnBrk="1" hangingPunct="1">
              <a:lnSpc>
                <a:spcPct val="90000"/>
              </a:lnSpc>
              <a:buFont typeface="+mj-lt"/>
              <a:buAutoNum type="arabicPeriod"/>
              <a:defRPr/>
            </a:pPr>
            <a:endParaRPr lang="en-US" sz="4800" dirty="0">
              <a:latin typeface="Arial"/>
              <a:ea typeface="ＭＳ Ｐゴシック" charset="0"/>
              <a:cs typeface="Arial"/>
            </a:endParaRPr>
          </a:p>
          <a:p>
            <a:pPr marL="914400" indent="-9144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4800" dirty="0">
                <a:latin typeface="Arial"/>
                <a:ea typeface="ＭＳ Ｐゴシック" charset="0"/>
                <a:cs typeface="Arial"/>
              </a:rPr>
              <a:t>600 g = _______ lbs</a:t>
            </a:r>
          </a:p>
          <a:p>
            <a:pPr marL="914400" indent="-914400" eaLnBrk="1" hangingPunct="1">
              <a:lnSpc>
                <a:spcPct val="90000"/>
              </a:lnSpc>
              <a:buFont typeface="+mj-lt"/>
              <a:buAutoNum type="arabicPeriod"/>
              <a:defRPr/>
            </a:pPr>
            <a:endParaRPr lang="en-US" sz="4800" dirty="0">
              <a:latin typeface="Arial"/>
              <a:ea typeface="ＭＳ Ｐゴシック" charset="0"/>
              <a:cs typeface="Arial"/>
            </a:endParaRPr>
          </a:p>
          <a:p>
            <a:pPr marL="914400" indent="-914400" eaLnBrk="1" hangingPunct="1">
              <a:lnSpc>
                <a:spcPct val="90000"/>
              </a:lnSpc>
              <a:buFont typeface="+mj-lt"/>
              <a:buAutoNum type="arabicPeriod"/>
              <a:defRPr/>
            </a:pPr>
            <a:endParaRPr lang="en-US" sz="4800" dirty="0">
              <a:latin typeface="Arial"/>
              <a:ea typeface="ＭＳ Ｐゴシック" charset="0"/>
              <a:cs typeface="Arial"/>
            </a:endParaRPr>
          </a:p>
          <a:p>
            <a:pPr marL="914400" indent="-9144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4800" dirty="0">
                <a:latin typeface="Arial"/>
                <a:ea typeface="ＭＳ Ｐゴシック" charset="0"/>
                <a:cs typeface="Arial"/>
              </a:rPr>
              <a:t>100 cm = ________ </a:t>
            </a:r>
            <a:r>
              <a:rPr lang="en-US" sz="4800" dirty="0" err="1">
                <a:latin typeface="Arial"/>
                <a:ea typeface="ＭＳ Ｐゴシック" charset="0"/>
                <a:cs typeface="Arial"/>
              </a:rPr>
              <a:t>yds</a:t>
            </a:r>
            <a:endParaRPr lang="en-US" sz="4800" dirty="0">
              <a:latin typeface="Arial"/>
              <a:ea typeface="ＭＳ Ｐゴシック" charset="0"/>
              <a:cs typeface="Arial"/>
            </a:endParaRPr>
          </a:p>
          <a:p>
            <a:pPr marL="514350" indent="-514350">
              <a:buFont typeface="+mj-lt"/>
              <a:buAutoNum type="arabicPeriod"/>
              <a:defRPr/>
            </a:pPr>
            <a:endParaRPr lang="en-US" sz="2800" dirty="0"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43742C-C402-1B4D-B97F-B6DB81087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2715" y="990600"/>
            <a:ext cx="155683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800" b="1" dirty="0">
                <a:solidFill>
                  <a:srgbClr val="8000FF"/>
                </a:solidFill>
              </a:rPr>
              <a:t>.951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EC67F2-33D7-454E-B82F-BD49DDF7A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4414" y="3022977"/>
            <a:ext cx="13827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800" b="1" dirty="0">
                <a:solidFill>
                  <a:srgbClr val="8000FF"/>
                </a:solidFill>
              </a:rPr>
              <a:t>1.32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6E49F-CD3F-B34D-8883-25894DE7C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9618" y="5267716"/>
            <a:ext cx="13827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800" b="1" dirty="0">
                <a:solidFill>
                  <a:srgbClr val="8000FF"/>
                </a:solidFill>
              </a:rPr>
              <a:t>1.09</a:t>
            </a:r>
          </a:p>
        </p:txBody>
      </p:sp>
    </p:spTree>
    <p:extLst>
      <p:ext uri="{BB962C8B-B14F-4D97-AF65-F5344CB8AC3E}">
        <p14:creationId xmlns:p14="http://schemas.microsoft.com/office/powerpoint/2010/main" val="234991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Scientific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4BA9B-7620-774A-94D1-96D3217CB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11" y="1146875"/>
            <a:ext cx="8497455" cy="5486400"/>
          </a:xfrm>
        </p:spPr>
        <p:txBody>
          <a:bodyPr/>
          <a:lstStyle/>
          <a:p>
            <a:r>
              <a:rPr lang="en-US" altLang="en-US" b="1" u="sng" dirty="0">
                <a:solidFill>
                  <a:srgbClr val="8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Purpose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A technique used to rewrite very large or very small numbers into a format that is easier to use</a:t>
            </a:r>
          </a:p>
          <a:p>
            <a:r>
              <a:rPr lang="en-US" altLang="en-US" b="1" u="sng" dirty="0">
                <a:solidFill>
                  <a:srgbClr val="8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Format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Just the </a:t>
            </a:r>
            <a:r>
              <a:rPr lang="en-US" altLang="en-US" b="1" dirty="0">
                <a:solidFill>
                  <a:srgbClr val="00CF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digits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with a </a:t>
            </a:r>
            <a:r>
              <a:rPr lang="en-US" altLang="en-US" b="1" dirty="0">
                <a:solidFill>
                  <a:srgbClr val="FF93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decimal point</a:t>
            </a: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after the </a:t>
            </a:r>
            <a:r>
              <a:rPr lang="en-US" altLang="en-US" b="1" i="1" dirty="0">
                <a:solidFill>
                  <a:srgbClr val="00CF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first digit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followed by </a:t>
            </a:r>
            <a:r>
              <a:rPr lang="en-US" altLang="en-US" b="1" dirty="0">
                <a:solidFill>
                  <a:srgbClr val="00B0F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x 10 to the power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which represents how many places the decimal was moved</a:t>
            </a:r>
          </a:p>
          <a:p>
            <a:pPr lvl="1"/>
            <a:endParaRPr lang="en-US" altLang="en-US" sz="1200" u="sng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/>
            <a:r>
              <a:rPr lang="en-US" altLang="en-US" u="sng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50,500 = 5.05 x 10</a:t>
            </a:r>
            <a:r>
              <a:rPr lang="en-US" altLang="en-US" baseline="300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84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Scientific Notation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D13ECB-357C-2B41-92C3-D66845CA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6886"/>
            <a:ext cx="8229600" cy="390752"/>
          </a:xfrm>
        </p:spPr>
        <p:txBody>
          <a:bodyPr>
            <a:normAutofit fontScale="90000"/>
          </a:bodyPr>
          <a:lstStyle/>
          <a:p>
            <a:r>
              <a:rPr lang="en-US" altLang="en-US" sz="2800" b="1" dirty="0">
                <a:solidFill>
                  <a:srgbClr val="8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Steps to apply this method in a real problem:</a:t>
            </a:r>
            <a:endParaRPr lang="en-US" altLang="en-US" sz="6600" b="1" dirty="0">
              <a:solidFill>
                <a:srgbClr val="8000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CA328DB-C16A-B642-8F10-562E12B5B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508125"/>
            <a:ext cx="8651875" cy="514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3200" b="1" dirty="0">
                <a:solidFill>
                  <a:srgbClr val="00CF00"/>
                </a:solidFill>
                <a:cs typeface="Arial" charset="0"/>
              </a:rPr>
              <a:t>Move decimal </a:t>
            </a:r>
            <a:r>
              <a:rPr lang="en-US" sz="3200" dirty="0">
                <a:cs typeface="Arial" charset="0"/>
              </a:rPr>
              <a:t>so that there is only </a:t>
            </a:r>
            <a:r>
              <a:rPr lang="en-US" sz="3200" b="1" dirty="0">
                <a:solidFill>
                  <a:srgbClr val="00CF00"/>
                </a:solidFill>
                <a:cs typeface="Arial" charset="0"/>
              </a:rPr>
              <a:t>1 digit </a:t>
            </a:r>
            <a:r>
              <a:rPr lang="en-US" sz="3200" dirty="0">
                <a:cs typeface="Arial" charset="0"/>
              </a:rPr>
              <a:t>in front (to the left) of it. 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3200" b="1" dirty="0">
                <a:solidFill>
                  <a:srgbClr val="CB7BF1"/>
                </a:solidFill>
                <a:cs typeface="Arial" charset="0"/>
              </a:rPr>
              <a:t>Rewrite</a:t>
            </a:r>
            <a:r>
              <a:rPr lang="en-US" sz="3200" dirty="0">
                <a:cs typeface="Arial" charset="0"/>
              </a:rPr>
              <a:t> the number as </a:t>
            </a:r>
            <a:r>
              <a:rPr lang="en-US" sz="3200" b="1" dirty="0">
                <a:solidFill>
                  <a:srgbClr val="CB7BF1"/>
                </a:solidFill>
                <a:cs typeface="Arial" charset="0"/>
              </a:rPr>
              <a:t>#.</a:t>
            </a:r>
            <a:r>
              <a:rPr lang="en-US" sz="3200" b="1" u="sng" dirty="0">
                <a:solidFill>
                  <a:srgbClr val="CB7BF1"/>
                </a:solidFill>
                <a:cs typeface="Arial" charset="0"/>
              </a:rPr>
              <a:t>		</a:t>
            </a:r>
            <a:r>
              <a:rPr lang="en-US" sz="3200" b="1" dirty="0">
                <a:cs typeface="Arial" charset="0"/>
              </a:rPr>
              <a:t> </a:t>
            </a:r>
            <a:r>
              <a:rPr lang="en-US" sz="3200" dirty="0">
                <a:cs typeface="Arial" charset="0"/>
              </a:rPr>
              <a:t>with a </a:t>
            </a:r>
            <a:r>
              <a:rPr lang="en-US" sz="3200" b="1" dirty="0">
                <a:solidFill>
                  <a:srgbClr val="CB7BF1"/>
                </a:solidFill>
                <a:cs typeface="Arial" charset="0"/>
              </a:rPr>
              <a:t>x 10 </a:t>
            </a:r>
            <a:r>
              <a:rPr lang="en-US" sz="3200" dirty="0">
                <a:cs typeface="Arial" charset="0"/>
              </a:rPr>
              <a:t>after.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3200" dirty="0">
                <a:cs typeface="Arial" charset="0"/>
              </a:rPr>
              <a:t>Add an </a:t>
            </a:r>
            <a:r>
              <a:rPr lang="en-US" sz="3200" b="1" dirty="0">
                <a:solidFill>
                  <a:srgbClr val="FF9300"/>
                </a:solidFill>
                <a:cs typeface="Arial" charset="0"/>
              </a:rPr>
              <a:t>exponent</a:t>
            </a:r>
            <a:r>
              <a:rPr lang="en-US" sz="3200" dirty="0">
                <a:cs typeface="Arial" charset="0"/>
              </a:rPr>
              <a:t> to the 10 to represent the number of places you moved the decimal. 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3200" dirty="0">
                <a:cs typeface="Arial" charset="0"/>
              </a:rPr>
              <a:t>Make the exponent: </a:t>
            </a:r>
          </a:p>
          <a:p>
            <a:pPr eaLnBrk="1" hangingPunct="1">
              <a:defRPr/>
            </a:pPr>
            <a:r>
              <a:rPr lang="en-US" sz="3200" dirty="0">
                <a:cs typeface="Arial" charset="0"/>
              </a:rPr>
              <a:t>		</a:t>
            </a:r>
            <a:r>
              <a:rPr lang="en-US" sz="3600" b="1" dirty="0">
                <a:solidFill>
                  <a:srgbClr val="00B0F0"/>
                </a:solidFill>
                <a:cs typeface="Arial" charset="0"/>
              </a:rPr>
              <a:t>+</a:t>
            </a:r>
            <a:r>
              <a:rPr lang="en-US" sz="3200" dirty="0">
                <a:cs typeface="Arial" charset="0"/>
              </a:rPr>
              <a:t> if you started with a big number (</a:t>
            </a:r>
            <a:r>
              <a:rPr lang="en-US" sz="3600" b="1" dirty="0">
                <a:solidFill>
                  <a:srgbClr val="00B0F0"/>
                </a:solidFill>
                <a:cs typeface="Arial" charset="0"/>
              </a:rPr>
              <a:t>&gt; 1</a:t>
            </a:r>
            <a:r>
              <a:rPr lang="en-US" sz="3200" dirty="0">
                <a:cs typeface="Arial" charset="0"/>
              </a:rPr>
              <a:t>)</a:t>
            </a:r>
          </a:p>
          <a:p>
            <a:pPr algn="ctr" eaLnBrk="1" hangingPunct="1">
              <a:defRPr/>
            </a:pPr>
            <a:r>
              <a:rPr lang="en-US" sz="3200" dirty="0">
                <a:cs typeface="Arial" charset="0"/>
              </a:rPr>
              <a:t>or </a:t>
            </a:r>
          </a:p>
          <a:p>
            <a:pPr eaLnBrk="1" hangingPunct="1">
              <a:defRPr/>
            </a:pPr>
            <a:r>
              <a:rPr lang="en-US" sz="3200" dirty="0">
                <a:cs typeface="Arial" charset="0"/>
              </a:rPr>
              <a:t>		</a:t>
            </a:r>
            <a:r>
              <a:rPr lang="en-US" sz="3600" b="1" dirty="0">
                <a:solidFill>
                  <a:srgbClr val="FF0000"/>
                </a:solidFill>
                <a:cs typeface="Arial" charset="0"/>
              </a:rPr>
              <a:t>- </a:t>
            </a:r>
            <a:r>
              <a:rPr lang="en-US" sz="3200" dirty="0">
                <a:cs typeface="Arial" charset="0"/>
              </a:rPr>
              <a:t>if you started with a small number (</a:t>
            </a:r>
            <a:r>
              <a:rPr lang="en-US" sz="3600" b="1" dirty="0">
                <a:solidFill>
                  <a:srgbClr val="FF0000"/>
                </a:solidFill>
                <a:cs typeface="Arial" charset="0"/>
              </a:rPr>
              <a:t>&lt; 1</a:t>
            </a:r>
            <a:r>
              <a:rPr lang="en-US" sz="3200" dirty="0">
                <a:cs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6520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Scientific Notation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D13ECB-357C-2B41-92C3-D66845CA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6886"/>
            <a:ext cx="8229600" cy="390752"/>
          </a:xfrm>
        </p:spPr>
        <p:txBody>
          <a:bodyPr>
            <a:normAutofit fontScale="90000"/>
          </a:bodyPr>
          <a:lstStyle/>
          <a:p>
            <a:r>
              <a:rPr lang="en-US" altLang="en-US" sz="2800" b="1" dirty="0">
                <a:solidFill>
                  <a:srgbClr val="8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Putting it into Practice:</a:t>
            </a:r>
            <a:endParaRPr lang="en-US" altLang="en-US" sz="6600" b="1" dirty="0">
              <a:solidFill>
                <a:srgbClr val="8000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5" name="Text Box 3">
            <a:extLst>
              <a:ext uri="{FF2B5EF4-FFF2-40B4-BE49-F238E27FC236}">
                <a16:creationId xmlns:a16="http://schemas.microsoft.com/office/drawing/2014/main" id="{526CCEF4-D3FC-2748-847C-5489E89B0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901" y="1703954"/>
            <a:ext cx="8651875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514350" indent="-514350" eaLnBrk="1" hangingPunct="1">
              <a:buFont typeface="Arial"/>
              <a:buChar char="•"/>
              <a:defRPr/>
            </a:pPr>
            <a:r>
              <a:rPr lang="en-US" sz="3200" b="1" dirty="0">
                <a:solidFill>
                  <a:srgbClr val="FF9300"/>
                </a:solidFill>
                <a:cs typeface="Arial" charset="0"/>
              </a:rPr>
              <a:t>Example #5</a:t>
            </a:r>
            <a:r>
              <a:rPr lang="en-US" sz="3200" dirty="0">
                <a:cs typeface="Arial" charset="0"/>
              </a:rPr>
              <a:t>:  Convert 101,000 into scientific notation.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BE4E0C-D7D5-944F-B35D-05517AC55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0775" y="2887797"/>
            <a:ext cx="178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101,000.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548047-D114-C64D-942F-200A45893A9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103688" y="3386272"/>
            <a:ext cx="652462" cy="446088"/>
          </a:xfrm>
          <a:prstGeom prst="straightConnector1">
            <a:avLst/>
          </a:prstGeom>
          <a:noFill/>
          <a:ln w="38100">
            <a:solidFill>
              <a:srgbClr val="00F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A7A7E7D-12D9-2941-80CE-8CAFD90ED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150" y="3648210"/>
            <a:ext cx="2454275" cy="369887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/>
              <a:t>Where decimal is now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2BD61A0-CB78-8348-AD22-3321810FE18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76525" y="3316422"/>
            <a:ext cx="0" cy="331788"/>
          </a:xfrm>
          <a:prstGeom prst="straightConnector1">
            <a:avLst/>
          </a:prstGeom>
          <a:noFill/>
          <a:ln w="38100">
            <a:solidFill>
              <a:srgbClr val="00F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2341723-59FB-0949-9EC6-C77A3FB52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3675" y="3694247"/>
            <a:ext cx="2427288" cy="923925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/>
              <a:t>Where we want it to be for scientific notation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211A51-1F54-FB40-A99C-D414B0328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975" y="4892810"/>
            <a:ext cx="9842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1.01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0A5A8A-6381-FE4D-BBB4-4F9CF9B17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9188" y="4892810"/>
            <a:ext cx="9604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x 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5D00E3-FE4C-5546-BD69-C427951D5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763" y="4938847"/>
            <a:ext cx="338137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aseline="30000"/>
              <a:t>5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9F0CA9-8C06-524F-9FAB-562EC08F289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756150" y="4892810"/>
            <a:ext cx="652463" cy="139700"/>
          </a:xfrm>
          <a:prstGeom prst="straightConnector1">
            <a:avLst/>
          </a:prstGeom>
          <a:noFill/>
          <a:ln w="38100">
            <a:solidFill>
              <a:srgbClr val="CC66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91977D2-42BE-6B4F-A9BA-2EF7E17BD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8613" y="4570547"/>
            <a:ext cx="2689225" cy="646113"/>
          </a:xfrm>
          <a:prstGeom prst="rect">
            <a:avLst/>
          </a:prstGeom>
          <a:noFill/>
          <a:ln w="38100">
            <a:solidFill>
              <a:srgbClr val="CC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/>
              <a:t>5 because we moved the decimal 5 places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C99E0FD-399D-B842-8497-2471514B1D7E}"/>
              </a:ext>
            </a:extLst>
          </p:cNvPr>
          <p:cNvCxnSpPr>
            <a:cxnSpLocks noChangeShapeType="1"/>
            <a:stCxn id="37" idx="1"/>
          </p:cNvCxnSpPr>
          <p:nvPr/>
        </p:nvCxnSpPr>
        <p:spPr bwMode="auto">
          <a:xfrm flipH="1" flipV="1">
            <a:off x="4670425" y="5164272"/>
            <a:ext cx="738188" cy="585788"/>
          </a:xfrm>
          <a:prstGeom prst="straightConnector1">
            <a:avLst/>
          </a:prstGeom>
          <a:noFill/>
          <a:ln w="38100">
            <a:solidFill>
              <a:srgbClr val="CC66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5A5A60F-7DA8-FF4F-9589-B8E252638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8613" y="5410335"/>
            <a:ext cx="2689225" cy="677862"/>
          </a:xfrm>
          <a:prstGeom prst="rect">
            <a:avLst/>
          </a:prstGeom>
          <a:noFill/>
          <a:ln w="38100">
            <a:solidFill>
              <a:srgbClr val="CC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/>
              <a:t>+</a:t>
            </a:r>
            <a:r>
              <a:rPr lang="en-US" altLang="en-US" sz="1800"/>
              <a:t> because we started with a large number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568F22-8FCA-E44C-97C8-4CDCB7CC7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4788" y="5680210"/>
            <a:ext cx="2025650" cy="585787"/>
          </a:xfrm>
          <a:prstGeom prst="rect">
            <a:avLst/>
          </a:prstGeom>
          <a:noFill/>
          <a:ln w="571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1.01 x 10</a:t>
            </a:r>
            <a:r>
              <a:rPr lang="en-US" altLang="en-US" sz="3200" baseline="30000"/>
              <a:t>5</a:t>
            </a:r>
            <a:endParaRPr lang="en-US" altLang="en-US" sz="3200"/>
          </a:p>
        </p:txBody>
      </p:sp>
    </p:spTree>
    <p:extLst>
      <p:ext uri="{BB962C8B-B14F-4D97-AF65-F5344CB8AC3E}">
        <p14:creationId xmlns:p14="http://schemas.microsoft.com/office/powerpoint/2010/main" val="197842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 animBg="1"/>
      <p:bldP spid="30" grpId="0" animBg="1"/>
      <p:bldP spid="31" grpId="0"/>
      <p:bldP spid="32" grpId="0"/>
      <p:bldP spid="33" grpId="0"/>
      <p:bldP spid="35" grpId="0" animBg="1"/>
      <p:bldP spid="37" grpId="0" animBg="1"/>
      <p:bldP spid="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Scientific Notation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D13ECB-357C-2B41-92C3-D66845CA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6886"/>
            <a:ext cx="8229600" cy="390752"/>
          </a:xfrm>
        </p:spPr>
        <p:txBody>
          <a:bodyPr>
            <a:normAutofit fontScale="90000"/>
          </a:bodyPr>
          <a:lstStyle/>
          <a:p>
            <a:r>
              <a:rPr lang="en-US" altLang="en-US" sz="2800" b="1" dirty="0">
                <a:solidFill>
                  <a:srgbClr val="8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Putting it into Practice:</a:t>
            </a:r>
            <a:endParaRPr lang="en-US" altLang="en-US" sz="6600" b="1" dirty="0">
              <a:solidFill>
                <a:srgbClr val="8000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C53136E0-3DE6-BB4C-8454-E100F3F62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800225"/>
            <a:ext cx="8651875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514350" indent="-514350" eaLnBrk="1" hangingPunct="1">
              <a:buFont typeface="Arial"/>
              <a:buChar char="•"/>
              <a:defRPr/>
            </a:pPr>
            <a:r>
              <a:rPr lang="en-US" sz="3200" b="1" dirty="0">
                <a:solidFill>
                  <a:srgbClr val="FF9300"/>
                </a:solidFill>
                <a:cs typeface="Arial" charset="0"/>
              </a:rPr>
              <a:t>Example #6</a:t>
            </a:r>
            <a:r>
              <a:rPr lang="en-US" sz="3200" dirty="0">
                <a:cs typeface="Arial" charset="0"/>
              </a:rPr>
              <a:t>:  Convert 0.0098 into scientific notation.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6113F5-4598-E74A-BD72-1188C57F9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2225" y="3089275"/>
            <a:ext cx="14398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0.0098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7D577F-1F73-BD40-9D04-44C52A6D1CA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659188" y="3557588"/>
            <a:ext cx="650875" cy="446087"/>
          </a:xfrm>
          <a:prstGeom prst="straightConnector1">
            <a:avLst/>
          </a:prstGeom>
          <a:noFill/>
          <a:ln w="38100">
            <a:solidFill>
              <a:srgbClr val="00F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712A4B8-5816-0642-B8DC-A696C142F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100" y="3871913"/>
            <a:ext cx="1760538" cy="646112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/>
              <a:t>Where decimal is now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E389BC-938E-BE41-B4DC-9FD251DEE5A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35288" y="3517900"/>
            <a:ext cx="0" cy="331788"/>
          </a:xfrm>
          <a:prstGeom prst="straightConnector1">
            <a:avLst/>
          </a:prstGeom>
          <a:noFill/>
          <a:ln w="38100">
            <a:solidFill>
              <a:srgbClr val="00F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4328461-6EA3-1644-84F2-C83706F5A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3654425"/>
            <a:ext cx="2659062" cy="646113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/>
              <a:t>Where we want it to be for scientific notation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119ED2-AEE6-E246-8A99-25AD25215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5094288"/>
            <a:ext cx="7556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9.8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178300-8C1E-844E-9C7E-7A1084B18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9188" y="5094288"/>
            <a:ext cx="9604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x 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C91372-AA2D-2C4A-9995-0A7E5E752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5313" y="5140325"/>
            <a:ext cx="427037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aseline="30000"/>
              <a:t>-3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60A7A8B-59AE-734E-9589-E45D5BA580B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756150" y="5094288"/>
            <a:ext cx="652463" cy="139700"/>
          </a:xfrm>
          <a:prstGeom prst="straightConnector1">
            <a:avLst/>
          </a:prstGeom>
          <a:noFill/>
          <a:ln w="38100">
            <a:solidFill>
              <a:srgbClr val="CC66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20A00BD-F5A6-0D4D-8071-59C58A961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8613" y="4772025"/>
            <a:ext cx="2689225" cy="646113"/>
          </a:xfrm>
          <a:prstGeom prst="rect">
            <a:avLst/>
          </a:prstGeom>
          <a:noFill/>
          <a:ln w="38100">
            <a:solidFill>
              <a:srgbClr val="CC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/>
              <a:t>3 because we moved the decimal 3 places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5B71F47-F9B0-4F40-BA1F-84075F23B8EB}"/>
              </a:ext>
            </a:extLst>
          </p:cNvPr>
          <p:cNvCxnSpPr>
            <a:cxnSpLocks noChangeShapeType="1"/>
            <a:stCxn id="43" idx="1"/>
          </p:cNvCxnSpPr>
          <p:nvPr/>
        </p:nvCxnSpPr>
        <p:spPr bwMode="auto">
          <a:xfrm flipH="1" flipV="1">
            <a:off x="4670425" y="5365750"/>
            <a:ext cx="738188" cy="585788"/>
          </a:xfrm>
          <a:prstGeom prst="straightConnector1">
            <a:avLst/>
          </a:prstGeom>
          <a:noFill/>
          <a:ln w="38100">
            <a:solidFill>
              <a:srgbClr val="CC66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32DFA54-C3B9-B247-AF6D-0B9D75B38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8613" y="5611813"/>
            <a:ext cx="2689225" cy="677862"/>
          </a:xfrm>
          <a:prstGeom prst="rect">
            <a:avLst/>
          </a:prstGeom>
          <a:noFill/>
          <a:ln w="38100">
            <a:solidFill>
              <a:srgbClr val="CC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/>
              <a:t>-</a:t>
            </a:r>
            <a:r>
              <a:rPr lang="en-US" altLang="en-US" sz="1800"/>
              <a:t> because we started with a small number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B96B63-0928-CA48-BFA8-0AC2F30FE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538" y="5881688"/>
            <a:ext cx="1889125" cy="585787"/>
          </a:xfrm>
          <a:prstGeom prst="rect">
            <a:avLst/>
          </a:prstGeom>
          <a:noFill/>
          <a:ln w="571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9.8 x 10</a:t>
            </a:r>
            <a:r>
              <a:rPr lang="en-US" altLang="en-US" sz="3200" baseline="30000"/>
              <a:t>-3</a:t>
            </a:r>
            <a:endParaRPr lang="en-US" altLang="en-US" sz="3200"/>
          </a:p>
        </p:txBody>
      </p:sp>
    </p:spTree>
    <p:extLst>
      <p:ext uri="{BB962C8B-B14F-4D97-AF65-F5344CB8AC3E}">
        <p14:creationId xmlns:p14="http://schemas.microsoft.com/office/powerpoint/2010/main" val="13600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 animBg="1"/>
      <p:bldP spid="23" grpId="0" animBg="1"/>
      <p:bldP spid="24" grpId="0"/>
      <p:bldP spid="38" grpId="0"/>
      <p:bldP spid="39" grpId="0"/>
      <p:bldP spid="41" grpId="0" animBg="1"/>
      <p:bldP spid="43" grpId="0" animBg="1"/>
      <p:bldP spid="4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Scientific Notation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D13ECB-357C-2B41-92C3-D66845CA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6886"/>
            <a:ext cx="8229600" cy="390752"/>
          </a:xfrm>
        </p:spPr>
        <p:txBody>
          <a:bodyPr>
            <a:normAutofit fontScale="90000"/>
          </a:bodyPr>
          <a:lstStyle/>
          <a:p>
            <a:r>
              <a:rPr lang="en-US" altLang="en-US" sz="2800" b="1" dirty="0">
                <a:solidFill>
                  <a:srgbClr val="8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Putting it into Practice:</a:t>
            </a:r>
            <a:endParaRPr lang="en-US" altLang="en-US" sz="6600" b="1" dirty="0">
              <a:solidFill>
                <a:srgbClr val="8000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5" name="Text Box 3">
            <a:extLst>
              <a:ext uri="{FF2B5EF4-FFF2-40B4-BE49-F238E27FC236}">
                <a16:creationId xmlns:a16="http://schemas.microsoft.com/office/drawing/2014/main" id="{78681233-CD59-D045-956A-99C0909F9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714500"/>
            <a:ext cx="8651875" cy="150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514350" indent="-514350" eaLnBrk="1" hangingPunct="1">
              <a:buFont typeface="Arial"/>
              <a:buChar char="•"/>
              <a:defRPr/>
            </a:pPr>
            <a:r>
              <a:rPr lang="en-US" sz="3200" b="1" dirty="0">
                <a:solidFill>
                  <a:srgbClr val="FF9300"/>
                </a:solidFill>
                <a:cs typeface="Arial" charset="0"/>
              </a:rPr>
              <a:t>Example #7</a:t>
            </a:r>
            <a:r>
              <a:rPr lang="en-US" sz="3200" dirty="0">
                <a:cs typeface="Arial" charset="0"/>
              </a:rPr>
              <a:t>:  Convert 2.057 x 10</a:t>
            </a:r>
            <a:r>
              <a:rPr lang="en-US" sz="3200" baseline="30000" dirty="0">
                <a:cs typeface="Arial" charset="0"/>
              </a:rPr>
              <a:t>2</a:t>
            </a:r>
            <a:r>
              <a:rPr lang="en-US" sz="3200" dirty="0">
                <a:cs typeface="Arial" charset="0"/>
              </a:rPr>
              <a:t> into </a:t>
            </a:r>
            <a:r>
              <a:rPr lang="en-US" sz="3200" b="1" dirty="0">
                <a:solidFill>
                  <a:srgbClr val="00CF00"/>
                </a:solidFill>
                <a:cs typeface="Arial" charset="0"/>
              </a:rPr>
              <a:t>standard</a:t>
            </a:r>
            <a:r>
              <a:rPr lang="en-US" sz="3200" dirty="0">
                <a:cs typeface="Arial" charset="0"/>
              </a:rPr>
              <a:t> notation.  </a:t>
            </a:r>
          </a:p>
          <a:p>
            <a:pPr algn="ctr" eaLnBrk="1" hangingPunct="1">
              <a:defRPr/>
            </a:pPr>
            <a:r>
              <a:rPr lang="en-US" sz="2800" i="1" dirty="0">
                <a:cs typeface="Arial" charset="0"/>
              </a:rPr>
              <a:t>(This just means take it out of scientific notation)</a:t>
            </a:r>
            <a:endParaRPr lang="en-US" sz="2800" dirty="0">
              <a:cs typeface="Arial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95BD77-DE74-994E-9302-17A62B158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5975" y="3481388"/>
            <a:ext cx="22542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2.057 x 10</a:t>
            </a:r>
            <a:r>
              <a:rPr lang="en-US" altLang="en-US" sz="3200" baseline="30000"/>
              <a:t>2</a:t>
            </a:r>
            <a:endParaRPr lang="en-US" altLang="en-US" sz="320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976997-D8C4-AC43-8845-37285320350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40225" y="3481388"/>
            <a:ext cx="650875" cy="138112"/>
          </a:xfrm>
          <a:prstGeom prst="straightConnector1">
            <a:avLst/>
          </a:prstGeom>
          <a:noFill/>
          <a:ln w="38100">
            <a:solidFill>
              <a:srgbClr val="CC66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DB0A4E3-3DF7-7342-A2CB-3BBACE762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3222625"/>
            <a:ext cx="2690813" cy="646113"/>
          </a:xfrm>
          <a:prstGeom prst="rect">
            <a:avLst/>
          </a:prstGeom>
          <a:noFill/>
          <a:ln w="38100">
            <a:solidFill>
              <a:srgbClr val="CC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/>
              <a:t>2 means we will move the decimal 2 times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88D871-9F25-D142-8321-837ED4D7100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54500" y="3868738"/>
            <a:ext cx="736600" cy="584200"/>
          </a:xfrm>
          <a:prstGeom prst="straightConnector1">
            <a:avLst/>
          </a:prstGeom>
          <a:noFill/>
          <a:ln w="38100">
            <a:solidFill>
              <a:srgbClr val="CC66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1B8FFCD-E08F-2947-B965-826FA7AFC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4114800"/>
            <a:ext cx="2690813" cy="676275"/>
          </a:xfrm>
          <a:prstGeom prst="rect">
            <a:avLst/>
          </a:prstGeom>
          <a:noFill/>
          <a:ln w="38100">
            <a:solidFill>
              <a:srgbClr val="CC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/>
              <a:t>+</a:t>
            </a:r>
            <a:r>
              <a:rPr lang="en-US" altLang="en-US" sz="1800"/>
              <a:t> means we will make it a bigger number</a:t>
            </a:r>
          </a:p>
        </p:txBody>
      </p:sp>
      <p:sp>
        <p:nvSpPr>
          <p:cNvPr id="31" name="Curved Up Arrow 30">
            <a:extLst>
              <a:ext uri="{FF2B5EF4-FFF2-40B4-BE49-F238E27FC236}">
                <a16:creationId xmlns:a16="http://schemas.microsoft.com/office/drawing/2014/main" id="{E6724B01-A8F2-7548-9797-682A21E8E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350" y="3971925"/>
            <a:ext cx="395288" cy="420688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00CF00"/>
          </a:solidFill>
          <a:ln w="9525">
            <a:solidFill>
              <a:srgbClr val="00D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32" name="Curved Up Arrow 31">
            <a:extLst>
              <a:ext uri="{FF2B5EF4-FFF2-40B4-BE49-F238E27FC236}">
                <a16:creationId xmlns:a16="http://schemas.microsoft.com/office/drawing/2014/main" id="{CD88CE7C-51CF-4F48-8BFA-09A39AB59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3971925"/>
            <a:ext cx="395287" cy="420688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00CF00"/>
          </a:solidFill>
          <a:ln w="9525">
            <a:solidFill>
              <a:srgbClr val="00D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F3A6D2-5873-4142-9E4E-231D01A85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5376863"/>
            <a:ext cx="1211263" cy="584200"/>
          </a:xfrm>
          <a:prstGeom prst="rect">
            <a:avLst/>
          </a:prstGeom>
          <a:noFill/>
          <a:ln w="571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205.7</a:t>
            </a:r>
          </a:p>
        </p:txBody>
      </p:sp>
    </p:spTree>
    <p:extLst>
      <p:ext uri="{BB962C8B-B14F-4D97-AF65-F5344CB8AC3E}">
        <p14:creationId xmlns:p14="http://schemas.microsoft.com/office/powerpoint/2010/main" val="129548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Scientific Notation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D13ECB-357C-2B41-92C3-D66845CA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6886"/>
            <a:ext cx="8229600" cy="390752"/>
          </a:xfrm>
        </p:spPr>
        <p:txBody>
          <a:bodyPr>
            <a:normAutofit fontScale="90000"/>
          </a:bodyPr>
          <a:lstStyle/>
          <a:p>
            <a:r>
              <a:rPr lang="en-US" altLang="en-US" sz="2800" b="1" dirty="0">
                <a:solidFill>
                  <a:srgbClr val="CC66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Putting it into Practice:</a:t>
            </a:r>
            <a:endParaRPr lang="en-US" altLang="en-US" sz="6600" b="1" dirty="0">
              <a:solidFill>
                <a:srgbClr val="66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38F25C5A-E8AE-F74B-837D-4FC22EA04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714500"/>
            <a:ext cx="8651875" cy="150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514350" indent="-514350" eaLnBrk="1" hangingPunct="1">
              <a:buFont typeface="Arial"/>
              <a:buChar char="•"/>
              <a:defRPr/>
            </a:pPr>
            <a:r>
              <a:rPr lang="en-US" sz="3200" b="1" dirty="0">
                <a:solidFill>
                  <a:srgbClr val="FF9300"/>
                </a:solidFill>
                <a:cs typeface="Arial" charset="0"/>
              </a:rPr>
              <a:t>Example #8</a:t>
            </a:r>
            <a:r>
              <a:rPr lang="en-US" sz="3200" dirty="0">
                <a:cs typeface="Arial" charset="0"/>
              </a:rPr>
              <a:t>:  Convert 3.1 x 10</a:t>
            </a:r>
            <a:r>
              <a:rPr lang="en-US" sz="3200" baseline="30000" dirty="0">
                <a:cs typeface="Arial" charset="0"/>
              </a:rPr>
              <a:t>-4</a:t>
            </a:r>
            <a:r>
              <a:rPr lang="en-US" sz="3200" dirty="0">
                <a:cs typeface="Arial" charset="0"/>
              </a:rPr>
              <a:t> into </a:t>
            </a:r>
            <a:r>
              <a:rPr lang="en-US" sz="3200" b="1" dirty="0">
                <a:solidFill>
                  <a:srgbClr val="00CF00"/>
                </a:solidFill>
                <a:cs typeface="Arial" charset="0"/>
              </a:rPr>
              <a:t>standard</a:t>
            </a:r>
            <a:r>
              <a:rPr lang="en-US" sz="3200" dirty="0">
                <a:cs typeface="Arial" charset="0"/>
              </a:rPr>
              <a:t> notation.  </a:t>
            </a:r>
          </a:p>
          <a:p>
            <a:pPr algn="ctr" eaLnBrk="1" hangingPunct="1">
              <a:defRPr/>
            </a:pPr>
            <a:r>
              <a:rPr lang="en-US" sz="2800" i="1" dirty="0">
                <a:cs typeface="Arial" charset="0"/>
              </a:rPr>
              <a:t>(This just means take it out of scientific notation)</a:t>
            </a:r>
            <a:endParaRPr lang="en-US" sz="2800" dirty="0">
              <a:cs typeface="Arial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4B46E0-32CD-D045-8FA9-6A85B6AE2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3479800"/>
            <a:ext cx="1889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3.1 x 10</a:t>
            </a:r>
            <a:r>
              <a:rPr lang="en-US" altLang="en-US" sz="3200" baseline="30000"/>
              <a:t>-4</a:t>
            </a:r>
            <a:endParaRPr lang="en-US" altLang="en-US" sz="32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B70734-2F47-3943-A9F6-E06A4BBC030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40225" y="3481388"/>
            <a:ext cx="650875" cy="138112"/>
          </a:xfrm>
          <a:prstGeom prst="straightConnector1">
            <a:avLst/>
          </a:prstGeom>
          <a:noFill/>
          <a:ln w="38100">
            <a:solidFill>
              <a:srgbClr val="CC66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723F739-208E-894A-A5BD-4486E7834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3222625"/>
            <a:ext cx="2690813" cy="646113"/>
          </a:xfrm>
          <a:prstGeom prst="rect">
            <a:avLst/>
          </a:prstGeom>
          <a:noFill/>
          <a:ln w="38100">
            <a:solidFill>
              <a:srgbClr val="CC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/>
              <a:t>4 means we will move the decimal 4 times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FBF7EE-2D23-4145-951C-B003676040E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54500" y="3868738"/>
            <a:ext cx="736600" cy="584200"/>
          </a:xfrm>
          <a:prstGeom prst="straightConnector1">
            <a:avLst/>
          </a:prstGeom>
          <a:noFill/>
          <a:ln w="38100">
            <a:solidFill>
              <a:srgbClr val="CC66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3CC1716-9990-8542-9DE8-A7E8746AF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4114800"/>
            <a:ext cx="2690813" cy="676275"/>
          </a:xfrm>
          <a:prstGeom prst="rect">
            <a:avLst/>
          </a:prstGeom>
          <a:noFill/>
          <a:ln w="38100">
            <a:solidFill>
              <a:srgbClr val="CC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b="1"/>
              <a:t>-</a:t>
            </a:r>
            <a:r>
              <a:rPr lang="en-US" altLang="en-US" sz="1800"/>
              <a:t> means we will make it a smaller number</a:t>
            </a:r>
          </a:p>
        </p:txBody>
      </p:sp>
      <p:sp>
        <p:nvSpPr>
          <p:cNvPr id="19" name="Curved Up Arrow 18">
            <a:extLst>
              <a:ext uri="{FF2B5EF4-FFF2-40B4-BE49-F238E27FC236}">
                <a16:creationId xmlns:a16="http://schemas.microsoft.com/office/drawing/2014/main" id="{8C5F6B97-4704-004D-98D9-BAEC83B77D8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86000" y="3924300"/>
            <a:ext cx="400050" cy="422275"/>
          </a:xfrm>
          <a:prstGeom prst="curvedUpArrow">
            <a:avLst>
              <a:gd name="adj1" fmla="val 25005"/>
              <a:gd name="adj2" fmla="val 33579"/>
              <a:gd name="adj3" fmla="val 25001"/>
            </a:avLst>
          </a:prstGeom>
          <a:solidFill>
            <a:srgbClr val="00CF00"/>
          </a:solidFill>
          <a:ln w="9525">
            <a:solidFill>
              <a:srgbClr val="00D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CA2742-E330-9542-BFCE-AC633EA3D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5699125"/>
            <a:ext cx="1597025" cy="646113"/>
          </a:xfrm>
          <a:prstGeom prst="rect">
            <a:avLst/>
          </a:prstGeom>
          <a:noFill/>
          <a:ln w="571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/>
              <a:t>.00031</a:t>
            </a:r>
          </a:p>
        </p:txBody>
      </p:sp>
      <p:sp>
        <p:nvSpPr>
          <p:cNvPr id="21" name="Curved Up Arrow 20">
            <a:extLst>
              <a:ext uri="{FF2B5EF4-FFF2-40B4-BE49-F238E27FC236}">
                <a16:creationId xmlns:a16="http://schemas.microsoft.com/office/drawing/2014/main" id="{08F32F3A-3427-0C4E-87BC-90153BE54EC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885950" y="3933825"/>
            <a:ext cx="400050" cy="420688"/>
          </a:xfrm>
          <a:prstGeom prst="curvedUpArrow">
            <a:avLst>
              <a:gd name="adj1" fmla="val 25005"/>
              <a:gd name="adj2" fmla="val 33579"/>
              <a:gd name="adj3" fmla="val 25000"/>
            </a:avLst>
          </a:prstGeom>
          <a:solidFill>
            <a:srgbClr val="00CF00"/>
          </a:solidFill>
          <a:ln w="9525">
            <a:solidFill>
              <a:srgbClr val="00D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2" name="Curved Up Arrow 21">
            <a:extLst>
              <a:ext uri="{FF2B5EF4-FFF2-40B4-BE49-F238E27FC236}">
                <a16:creationId xmlns:a16="http://schemas.microsoft.com/office/drawing/2014/main" id="{15372EB2-7F4D-174F-9AD7-37F712FE6B3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485900" y="3952875"/>
            <a:ext cx="400050" cy="420688"/>
          </a:xfrm>
          <a:prstGeom prst="curvedUpArrow">
            <a:avLst>
              <a:gd name="adj1" fmla="val 25005"/>
              <a:gd name="adj2" fmla="val 33579"/>
              <a:gd name="adj3" fmla="val 25000"/>
            </a:avLst>
          </a:prstGeom>
          <a:solidFill>
            <a:srgbClr val="00CF00"/>
          </a:solidFill>
          <a:ln w="9525">
            <a:solidFill>
              <a:srgbClr val="00D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3" name="Curved Up Arrow 22">
            <a:extLst>
              <a:ext uri="{FF2B5EF4-FFF2-40B4-BE49-F238E27FC236}">
                <a16:creationId xmlns:a16="http://schemas.microsoft.com/office/drawing/2014/main" id="{7E9ED19A-67BB-754D-938D-FBC2A9F2D55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85850" y="3960813"/>
            <a:ext cx="400050" cy="422275"/>
          </a:xfrm>
          <a:prstGeom prst="curvedUpArrow">
            <a:avLst>
              <a:gd name="adj1" fmla="val 25005"/>
              <a:gd name="adj2" fmla="val 33579"/>
              <a:gd name="adj3" fmla="val 25001"/>
            </a:avLst>
          </a:prstGeom>
          <a:solidFill>
            <a:srgbClr val="00CF00"/>
          </a:solidFill>
          <a:ln w="9525">
            <a:solidFill>
              <a:srgbClr val="00D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79BB6D-F99E-A842-89F1-5CDAF5986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3530600"/>
            <a:ext cx="2984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/>
              <a:t>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ED08763-8C37-5644-9A84-900C892D5038}"/>
              </a:ext>
            </a:extLst>
          </p:cNvPr>
          <p:cNvCxnSpPr>
            <a:cxnSpLocks noChangeShapeType="1"/>
            <a:endCxn id="24" idx="2"/>
          </p:cNvCxnSpPr>
          <p:nvPr/>
        </p:nvCxnSpPr>
        <p:spPr bwMode="auto">
          <a:xfrm flipV="1">
            <a:off x="425450" y="4116388"/>
            <a:ext cx="560388" cy="654050"/>
          </a:xfrm>
          <a:prstGeom prst="straightConnector1">
            <a:avLst/>
          </a:prstGeom>
          <a:noFill/>
          <a:ln w="38100">
            <a:solidFill>
              <a:srgbClr val="00FF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6C0540D-627C-3C4E-A272-C803CC07E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4791075"/>
            <a:ext cx="1630363" cy="6477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/>
              <a:t>Fill in zeros in empty spaces</a:t>
            </a:r>
            <a:endParaRPr lang="en-US" altLang="en-US" sz="1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2B358D-A56B-2044-888E-8D714EFE4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738" y="3498850"/>
            <a:ext cx="412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473440-4644-EE43-884C-18EC5FCC2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363" y="3498850"/>
            <a:ext cx="412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EC0C9D-DA5C-DA44-B116-3A29B88E2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3495675"/>
            <a:ext cx="4127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6999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35" grpId="0" animBg="1"/>
      <p:bldP spid="36" grpId="0"/>
      <p:bldP spid="37" grpId="0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19112" y="179421"/>
            <a:ext cx="8497455" cy="847465"/>
          </a:xfrm>
          <a:prstGeom prst="rect">
            <a:avLst/>
          </a:prstGeom>
        </p:spPr>
        <p:txBody>
          <a:bodyPr vert="horz" lIns="87086" tIns="43543" rIns="87086" bIns="43543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43" b="1" dirty="0">
                <a:solidFill>
                  <a:srgbClr val="0432FF"/>
                </a:solidFill>
                <a:latin typeface="Arial"/>
                <a:cs typeface="Arial"/>
              </a:rPr>
              <a:t>Practice Time!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126447-882F-A04A-B149-11C405C66E22}"/>
              </a:ext>
            </a:extLst>
          </p:cNvPr>
          <p:cNvSpPr txBox="1">
            <a:spLocks/>
          </p:cNvSpPr>
          <p:nvPr/>
        </p:nvSpPr>
        <p:spPr>
          <a:xfrm>
            <a:off x="233363" y="1760538"/>
            <a:ext cx="8453437" cy="5097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914400">
              <a:lnSpc>
                <a:spcPct val="90000"/>
              </a:lnSpc>
              <a:buFont typeface="Calibri" panose="020F0502020204030204" pitchFamily="34" charset="0"/>
              <a:buAutoNum type="arabicPeriod"/>
            </a:pPr>
            <a:r>
              <a:rPr lang="en-US" altLang="en-US" sz="44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354,000,000 = </a:t>
            </a:r>
            <a:r>
              <a:rPr lang="en-US" altLang="en-US" sz="4400" u="sng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								</a:t>
            </a:r>
            <a:endParaRPr lang="en-US" altLang="en-US" sz="44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914400" indent="-914400">
              <a:lnSpc>
                <a:spcPct val="90000"/>
              </a:lnSpc>
              <a:buFont typeface="Calibri" panose="020F0502020204030204" pitchFamily="34" charset="0"/>
              <a:buAutoNum type="arabicPeriod"/>
            </a:pPr>
            <a:r>
              <a:rPr lang="en-US" altLang="en-US" sz="44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0.000096 = </a:t>
            </a:r>
            <a:r>
              <a:rPr lang="en-US" altLang="en-US" sz="4400" u="sng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										</a:t>
            </a:r>
          </a:p>
          <a:p>
            <a:pPr marL="914400" indent="-914400">
              <a:lnSpc>
                <a:spcPct val="90000"/>
              </a:lnSpc>
              <a:buFont typeface="Calibri" panose="020F0502020204030204" pitchFamily="34" charset="0"/>
              <a:buAutoNum type="arabicPeriod"/>
            </a:pPr>
            <a:endParaRPr lang="en-US" altLang="en-US" sz="44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914400" indent="-914400">
              <a:lnSpc>
                <a:spcPct val="90000"/>
              </a:lnSpc>
              <a:buFont typeface="Calibri" panose="020F0502020204030204" pitchFamily="34" charset="0"/>
              <a:buAutoNum type="arabicPeriod"/>
            </a:pPr>
            <a:endParaRPr lang="en-US" altLang="en-US" sz="44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914400" indent="-914400">
              <a:lnSpc>
                <a:spcPct val="90000"/>
              </a:lnSpc>
              <a:buFont typeface="Calibri" panose="020F0502020204030204" pitchFamily="34" charset="0"/>
              <a:buAutoNum type="arabicPeriod"/>
            </a:pPr>
            <a:r>
              <a:rPr lang="en-US" altLang="en-US" sz="44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2.76 x 10</a:t>
            </a:r>
            <a:r>
              <a:rPr lang="en-US" altLang="en-US" sz="4400" baseline="300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-3</a:t>
            </a:r>
            <a:r>
              <a:rPr lang="en-US" altLang="en-US" sz="44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= </a:t>
            </a:r>
            <a:r>
              <a:rPr lang="en-US" altLang="en-US" sz="4400" u="sng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									</a:t>
            </a:r>
            <a:endParaRPr lang="en-US" altLang="en-US" sz="44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914400" indent="-914400">
              <a:lnSpc>
                <a:spcPct val="90000"/>
              </a:lnSpc>
              <a:buFont typeface="Calibri" panose="020F0502020204030204" pitchFamily="34" charset="0"/>
              <a:buAutoNum type="arabicPeriod"/>
            </a:pPr>
            <a:r>
              <a:rPr lang="en-US" altLang="en-US" sz="44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4.011 x 10</a:t>
            </a:r>
            <a:r>
              <a:rPr lang="en-US" altLang="en-US" sz="4800" baseline="300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</a:t>
            </a:r>
            <a:r>
              <a:rPr lang="en-US" altLang="en-US" sz="48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= </a:t>
            </a:r>
            <a:r>
              <a:rPr lang="en-US" altLang="en-US" sz="4800" u="sng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									</a:t>
            </a:r>
            <a:r>
              <a:rPr lang="en-US" altLang="en-US" sz="44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	</a:t>
            </a:r>
            <a:endParaRPr lang="en-US" altLang="en-US" sz="24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485B45-37DB-2949-BE2C-B3BCD8A43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6688" y="1622425"/>
            <a:ext cx="2981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800" b="1" dirty="0">
                <a:solidFill>
                  <a:srgbClr val="FF9300"/>
                </a:solidFill>
              </a:rPr>
              <a:t>3.54 x 10</a:t>
            </a:r>
            <a:r>
              <a:rPr lang="en-US" altLang="en-US" sz="4800" b="1" baseline="30000" dirty="0">
                <a:solidFill>
                  <a:srgbClr val="FF9300"/>
                </a:solidFill>
              </a:rPr>
              <a:t>8</a:t>
            </a:r>
            <a:endParaRPr lang="en-US" altLang="en-US" sz="4800" b="1" dirty="0">
              <a:solidFill>
                <a:srgbClr val="FF9300"/>
              </a:solidFill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C2AE1E2A-7622-7344-859A-CCC71B004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638" y="1060450"/>
            <a:ext cx="60928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8000FF"/>
                </a:solidFill>
              </a:rPr>
              <a:t>Place in </a:t>
            </a:r>
            <a:r>
              <a:rPr lang="en-US" altLang="en-US" sz="3200" b="1" dirty="0">
                <a:solidFill>
                  <a:srgbClr val="FF9300"/>
                </a:solidFill>
              </a:rPr>
              <a:t>scientific notation</a:t>
            </a:r>
            <a:r>
              <a:rPr lang="en-US" altLang="en-US" sz="3200" b="1" dirty="0">
                <a:solidFill>
                  <a:srgbClr val="8000FF"/>
                </a:solidFill>
              </a:rPr>
              <a:t>. 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3A6AB5D2-96E7-854C-875F-D2440950E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638" y="3796304"/>
            <a:ext cx="60928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8000FF"/>
                </a:solidFill>
              </a:rPr>
              <a:t>Place in </a:t>
            </a:r>
            <a:r>
              <a:rPr lang="en-US" altLang="en-US" sz="3200" b="1" dirty="0">
                <a:solidFill>
                  <a:srgbClr val="00CF00"/>
                </a:solidFill>
              </a:rPr>
              <a:t>standard notation</a:t>
            </a:r>
            <a:r>
              <a:rPr lang="en-US" altLang="en-US" sz="3200" b="1" dirty="0">
                <a:solidFill>
                  <a:srgbClr val="8000FF"/>
                </a:solidFill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E480CC-AEEF-0146-96FD-E943C202F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513" y="2346325"/>
            <a:ext cx="27749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800" b="1">
                <a:solidFill>
                  <a:srgbClr val="FF9300"/>
                </a:solidFill>
              </a:rPr>
              <a:t>9.6 x 10</a:t>
            </a:r>
            <a:r>
              <a:rPr lang="en-US" altLang="en-US" sz="4800" b="1" baseline="30000">
                <a:solidFill>
                  <a:srgbClr val="FF9300"/>
                </a:solidFill>
              </a:rPr>
              <a:t>-5</a:t>
            </a:r>
            <a:endParaRPr lang="en-US" altLang="en-US" sz="4800" b="1">
              <a:solidFill>
                <a:srgbClr val="FF9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8C92A-BD99-FA48-B113-83873A7F3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1950" y="4520204"/>
            <a:ext cx="20685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800" b="1" dirty="0">
                <a:solidFill>
                  <a:srgbClr val="00CF00"/>
                </a:solidFill>
              </a:rPr>
              <a:t>.00276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5FA600-9BAE-004B-A0C2-86EC2B211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75" y="5352054"/>
            <a:ext cx="20335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800" b="1" dirty="0">
                <a:solidFill>
                  <a:srgbClr val="00CF00"/>
                </a:solidFill>
              </a:rPr>
              <a:t>40,110</a:t>
            </a:r>
          </a:p>
        </p:txBody>
      </p:sp>
    </p:spTree>
    <p:extLst>
      <p:ext uri="{BB962C8B-B14F-4D97-AF65-F5344CB8AC3E}">
        <p14:creationId xmlns:p14="http://schemas.microsoft.com/office/powerpoint/2010/main" val="176005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38441</TotalTime>
  <Words>927</Words>
  <Application>Microsoft Macintosh PowerPoint</Application>
  <PresentationFormat>On-screen Show (4:3)</PresentationFormat>
  <Paragraphs>197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ＭＳ Ｐゴシック</vt:lpstr>
      <vt:lpstr>Arial</vt:lpstr>
      <vt:lpstr>Calibri</vt:lpstr>
      <vt:lpstr>Lucida Grande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Steps to apply this method in a real problem:</vt:lpstr>
      <vt:lpstr>Putting it into Practice:</vt:lpstr>
      <vt:lpstr>Putting it into Practice:</vt:lpstr>
      <vt:lpstr>Useful and common conversion factors:</vt:lpstr>
      <vt:lpstr>PowerPoint Presentation</vt:lpstr>
      <vt:lpstr>PowerPoint Presentation</vt:lpstr>
      <vt:lpstr>Steps to apply this method in a real problem:</vt:lpstr>
      <vt:lpstr>Putting it into Practice:</vt:lpstr>
      <vt:lpstr>Putting it into Practice:</vt:lpstr>
      <vt:lpstr>Putting it into Practice:</vt:lpstr>
      <vt:lpstr>Putting it into Practice: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Balancing Reactions</dc:title>
  <dc:creator>Rebecca Joyner</dc:creator>
  <cp:lastModifiedBy>Rebecca Joyner</cp:lastModifiedBy>
  <cp:revision>389</cp:revision>
  <dcterms:created xsi:type="dcterms:W3CDTF">2017-04-10T13:29:41Z</dcterms:created>
  <dcterms:modified xsi:type="dcterms:W3CDTF">2021-06-04T18:56:28Z</dcterms:modified>
</cp:coreProperties>
</file>